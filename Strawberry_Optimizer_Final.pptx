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62" r:id="rId4"/>
    <p:sldId id="258" r:id="rId5"/>
    <p:sldId id="259" r:id="rId6"/>
    <p:sldId id="260" r:id="rId7"/>
    <p:sldId id="261" r:id="rId8"/>
    <p:sldId id="263" r:id="rId9"/>
    <p:sldId id="265" r:id="rId10"/>
    <p:sldId id="266" r:id="rId11"/>
    <p:sldId id="267" r:id="rId12"/>
    <p:sldId id="268" r:id="rId13"/>
    <p:sldId id="269" r:id="rId14"/>
    <p:sldId id="270" r:id="rId15"/>
    <p:sldId id="271" r:id="rId16"/>
    <p:sldId id="280" r:id="rId17"/>
    <p:sldId id="272" r:id="rId18"/>
    <p:sldId id="281" r:id="rId19"/>
    <p:sldId id="273" r:id="rId20"/>
    <p:sldId id="275" r:id="rId21"/>
    <p:sldId id="278" r:id="rId22"/>
    <p:sldId id="279" r:id="rId23"/>
    <p:sldId id="276" r:id="rId24"/>
    <p:sldId id="277" r:id="rId25"/>
    <p:sldId id="282" r:id="rId26"/>
    <p:sldId id="274" r:id="rId27"/>
    <p:sldId id="283" r:id="rId28"/>
    <p:sldId id="284" r:id="rId29"/>
    <p:sldId id="26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303B"/>
    <a:srgbClr val="F0E256"/>
    <a:srgbClr val="58B5E6"/>
    <a:srgbClr val="119E75"/>
    <a:srgbClr val="E89F27"/>
    <a:srgbClr val="9195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860" autoAdjust="0"/>
  </p:normalViewPr>
  <p:slideViewPr>
    <p:cSldViewPr snapToGrid="0" snapToObjects="1">
      <p:cViewPr varScale="1">
        <p:scale>
          <a:sx n="89" d="100"/>
          <a:sy n="89" d="100"/>
        </p:scale>
        <p:origin x="13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barChart>
        <c:barDir val="col"/>
        <c:grouping val="clustered"/>
        <c:varyColors val="1"/>
        <c:ser>
          <c:idx val="0"/>
          <c:order val="0"/>
          <c:tx>
            <c:strRef>
              <c:f>Sheet1!$B$1</c:f>
              <c:strCache>
                <c:ptCount val="1"/>
                <c:pt idx="0">
                  <c:v>SGD</c:v>
                </c:pt>
              </c:strCache>
            </c:strRef>
          </c:tx>
          <c:spPr>
            <a:solidFill>
              <a:srgbClr val="F0E256"/>
            </a:solidFill>
          </c:spPr>
          <c:invertIfNegative val="1"/>
          <c:cat>
            <c:strRef>
              <c:f>Sheet1!$A$2:$A$4</c:f>
              <c:strCache>
                <c:ptCount val="3"/>
                <c:pt idx="0">
                  <c:v>Angular leaf spot (각반병)</c:v>
                </c:pt>
                <c:pt idx="1">
                  <c:v>Leaf spot (점무늬병)</c:v>
                </c:pt>
                <c:pt idx="2">
                  <c:v>Powdery mildew (흰가루병)</c:v>
                </c:pt>
              </c:strCache>
            </c:strRef>
          </c:cat>
          <c:val>
            <c:numRef>
              <c:f>Sheet1!$B$2:$B$4</c:f>
              <c:numCache>
                <c:formatCode>General</c:formatCode>
                <c:ptCount val="3"/>
                <c:pt idx="0">
                  <c:v>0.67100000000000004</c:v>
                </c:pt>
                <c:pt idx="1">
                  <c:v>0.79900000000000004</c:v>
                </c:pt>
                <c:pt idx="2">
                  <c:v>0.94099999999999995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3E7-407A-B816-8DAF0B2F157A}"/>
            </c:ext>
          </c:extLst>
        </c:ser>
        <c:ser>
          <c:idx val="1"/>
          <c:order val="1"/>
          <c:tx>
            <c:strRef>
              <c:f>Sheet1!$C$1</c:f>
              <c:strCache>
                <c:ptCount val="1"/>
                <c:pt idx="0">
                  <c:v>Adagrad</c:v>
                </c:pt>
              </c:strCache>
            </c:strRef>
          </c:tx>
          <c:spPr>
            <a:solidFill>
              <a:srgbClr val="58B5E6"/>
            </a:solidFill>
          </c:spPr>
          <c:invertIfNegative val="1"/>
          <c:cat>
            <c:strRef>
              <c:f>Sheet1!$A$2:$A$4</c:f>
              <c:strCache>
                <c:ptCount val="3"/>
                <c:pt idx="0">
                  <c:v>Angular leaf spot (각반병)</c:v>
                </c:pt>
                <c:pt idx="1">
                  <c:v>Leaf spot (점무늬병)</c:v>
                </c:pt>
                <c:pt idx="2">
                  <c:v>Powdery mildew (흰가루병)</c:v>
                </c:pt>
              </c:strCache>
            </c:strRef>
          </c:cat>
          <c:val>
            <c:numRef>
              <c:f>Sheet1!$C$2:$C$4</c:f>
              <c:numCache>
                <c:formatCode>General</c:formatCode>
                <c:ptCount val="3"/>
                <c:pt idx="0">
                  <c:v>0.79600000000000004</c:v>
                </c:pt>
                <c:pt idx="1">
                  <c:v>0.90900000000000003</c:v>
                </c:pt>
                <c:pt idx="2">
                  <c:v>0.97599999999999998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3E7-407A-B816-8DAF0B2F157A}"/>
            </c:ext>
          </c:extLst>
        </c:ser>
        <c:ser>
          <c:idx val="2"/>
          <c:order val="2"/>
          <c:tx>
            <c:strRef>
              <c:f>Sheet1!$D$1</c:f>
              <c:strCache>
                <c:ptCount val="1"/>
                <c:pt idx="0">
                  <c:v>RMSprop</c:v>
                </c:pt>
              </c:strCache>
            </c:strRef>
          </c:tx>
          <c:spPr>
            <a:solidFill>
              <a:srgbClr val="119E75"/>
            </a:solidFill>
          </c:spPr>
          <c:invertIfNegative val="1"/>
          <c:cat>
            <c:strRef>
              <c:f>Sheet1!$A$2:$A$4</c:f>
              <c:strCache>
                <c:ptCount val="3"/>
                <c:pt idx="0">
                  <c:v>Angular leaf spot (각반병)</c:v>
                </c:pt>
                <c:pt idx="1">
                  <c:v>Leaf spot (점무늬병)</c:v>
                </c:pt>
                <c:pt idx="2">
                  <c:v>Powdery mildew (흰가루병)</c:v>
                </c:pt>
              </c:strCache>
            </c:strRef>
          </c:cat>
          <c:val>
            <c:numRef>
              <c:f>Sheet1!$D$2:$D$4</c:f>
              <c:numCache>
                <c:formatCode>General</c:formatCode>
                <c:ptCount val="3"/>
                <c:pt idx="0">
                  <c:v>0.79</c:v>
                </c:pt>
                <c:pt idx="1">
                  <c:v>0.90100000000000002</c:v>
                </c:pt>
                <c:pt idx="2">
                  <c:v>0.97399999999999998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3E7-407A-B816-8DAF0B2F157A}"/>
            </c:ext>
          </c:extLst>
        </c:ser>
        <c:ser>
          <c:idx val="3"/>
          <c:order val="3"/>
          <c:tx>
            <c:strRef>
              <c:f>Sheet1!$E$1</c:f>
              <c:strCache>
                <c:ptCount val="1"/>
                <c:pt idx="0">
                  <c:v>Adam</c:v>
                </c:pt>
              </c:strCache>
            </c:strRef>
          </c:tx>
          <c:spPr>
            <a:solidFill>
              <a:srgbClr val="E89F27"/>
            </a:solidFill>
          </c:spPr>
          <c:invertIfNegative val="1"/>
          <c:cat>
            <c:strRef>
              <c:f>Sheet1!$A$2:$A$4</c:f>
              <c:strCache>
                <c:ptCount val="3"/>
                <c:pt idx="0">
                  <c:v>Angular leaf spot (각반병)</c:v>
                </c:pt>
                <c:pt idx="1">
                  <c:v>Leaf spot (점무늬병)</c:v>
                </c:pt>
                <c:pt idx="2">
                  <c:v>Powdery mildew (흰가루병)</c:v>
                </c:pt>
              </c:strCache>
            </c:strRef>
          </c:cat>
          <c:val>
            <c:numRef>
              <c:f>Sheet1!$E$2:$E$4</c:f>
              <c:numCache>
                <c:formatCode>General</c:formatCode>
                <c:ptCount val="3"/>
                <c:pt idx="0">
                  <c:v>0.79300000000000004</c:v>
                </c:pt>
                <c:pt idx="1">
                  <c:v>0.89</c:v>
                </c:pt>
                <c:pt idx="2">
                  <c:v>0.96899999999999997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73E7-407A-B816-8DAF0B2F157A}"/>
            </c:ext>
          </c:extLst>
        </c:ser>
        <c:dLbls>
          <c:showLegendKey val="0"/>
          <c:showVal val="0"/>
          <c:showCatName val="0"/>
          <c:showSerName val="0"/>
          <c:showPercent val="0"/>
          <c:showBubbleSize val="0"/>
        </c:dLbls>
        <c:gapWidth val="70"/>
        <c:overlap val="-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9BFAD"/>
            </a:solidFill>
          </a:ln>
        </c:spPr>
        <c:crossAx val="-2113994440"/>
        <c:crosses val="autoZero"/>
        <c:auto val="1"/>
        <c:lblAlgn val="ctr"/>
        <c:lblOffset val="100"/>
        <c:noMultiLvlLbl val="0"/>
      </c:catAx>
      <c:valAx>
        <c:axId val="-2113994440"/>
        <c:scaling>
          <c:orientation val="minMax"/>
          <c:max val="1"/>
          <c:min val="0.5"/>
        </c:scaling>
        <c:delete val="0"/>
        <c:axPos val="l"/>
        <c:majorGridlines>
          <c:spPr>
            <a:ln>
              <a:solidFill>
                <a:srgbClr val="E1E4D9"/>
              </a:solidFill>
            </a:ln>
          </c:spPr>
        </c:majorGridlines>
        <c:numFmt formatCode="0.0" sourceLinked="0"/>
        <c:majorTickMark val="out"/>
        <c:minorTickMark val="none"/>
        <c:tickLblPos val="nextTo"/>
        <c:spPr>
          <a:ln>
            <a:noFill/>
          </a:ln>
        </c:spPr>
        <c:crossAx val="-2068027336"/>
        <c:crosses val="autoZero"/>
        <c:crossBetween val="between"/>
        <c:majorUnit val="0.1"/>
      </c:valAx>
    </c:plotArea>
    <c:legend>
      <c:legendPos val="t"/>
      <c:legendEntry>
        <c:idx val="0"/>
        <c:txPr>
          <a:bodyPr/>
          <a:lstStyle/>
          <a:p>
            <a:pPr>
              <a:defRPr u="sng" baseline="0">
                <a:solidFill>
                  <a:srgbClr val="FF0000"/>
                </a:solidFill>
              </a:defRPr>
            </a:pPr>
            <a:endParaRPr lang="ko-KR"/>
          </a:p>
        </c:txPr>
      </c:legendEntry>
      <c:overlay val="0"/>
    </c:legend>
    <c:plotVisOnly val="1"/>
    <c:dispBlanksAs val="gap"/>
    <c:showDLblsOverMax val="1"/>
  </c:chart>
  <c:txPr>
    <a:bodyPr/>
    <a:lstStyle/>
    <a:p>
      <a:pPr>
        <a:defRPr sz="1100">
          <a:solidFill>
            <a:srgbClr val="5A6B4D"/>
          </a:solidFill>
          <a:latin typeface="Calibri"/>
        </a:defRPr>
      </a:pPr>
      <a:endParaRPr lang="ko-K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6022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today I'm presenting my project on comparing four optimizers, SGD, Adagrad, RMSprop and Adam, for classifying three strawberry leaf diseases with a CNN.</a:t>
            </a:r>
          </a:p>
          <a:p>
            <a:r>
              <a:t>At the end, I also compare my small CNN with a pretrained ResNet-18, to see if a stronger model changes which optimizer is best.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research question is how the four optimizers affect one fixed CNN in three ways.</a:t>
            </a:r>
          </a:p>
          <a:p>
            <a:r>
              <a:t>First, accuracy: which optimizer classifies the three diseases most correctly.</a:t>
            </a:r>
          </a:p>
          <a:p>
            <a:r>
              <a:t>Second, convergence: which one reaches useful performance in the fewest epochs.</a:t>
            </a:r>
          </a:p>
          <a:p>
            <a:r>
              <a:t>Third, training time: which one is cheapest to train on a laptop.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target of the project was to find which optimizer best suits a small strawberry leaf classifier.</a:t>
            </a:r>
          </a:p>
          <a:p>
            <a:r>
              <a:t>I planned three outputs: speed and accuracy numbers for each optimizer, training curves and confusion matrices, and precision, recall and F1 for each disease.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used the Strawberry Disease Detection Dataset from Roboflow Universe.</a:t>
            </a:r>
          </a:p>
          <a:p>
            <a:r>
              <a:t>It has 4,918 images in YOLOv8 format, resized to 280 by 280, with no augmentation, under a CC BY 4.0 license.</a:t>
            </a:r>
          </a:p>
          <a:p>
            <a:r>
              <a:t>The split numbers here cover all seven original classes; the three-class numbers come from my cleaning step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Out of the seven classes, I kept the three leaf diseases: leaf spot, angular leaf spot and powdery mildew on the leaf.</a:t>
            </a:r>
          </a:p>
          <a:p>
            <a:r>
              <a:t>The cleaning script scanned 4,898 images, removed photos without these classes and duplicate photos, and kept 1,247 unique photos.</a:t>
            </a:r>
          </a:p>
          <a:p>
            <a:r>
              <a:t>From those I cropped 3,429 leaves. I split 70/15/15 by photo, so crops from the same photo never end up in different splits.</a:t>
            </a:r>
          </a:p>
          <a:p>
            <a:r>
              <a:t>Angular leaf spot is only about 11% of the data, so it is the rare class.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has four steps: clean and crop, a fixed split, a small CNN, and then tuning and training.</a:t>
            </a:r>
          </a:p>
          <a:p>
            <a:r>
              <a:t>The CNN has four convolution blocks with 16, 32, 64 and 128 filters, global average pooling, a dense layer of 64 and a 3-class output.</a:t>
            </a:r>
          </a:p>
          <a:p>
            <a:r>
              <a:t>Everything except the optimizer and its learning rate is held fixed in every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optimizers.</a:t>
            </a:r>
          </a:p>
          <a:p>
            <a:r>
              <a:t>SGD is the simple baseline. Adagrad adapts the step size for each parameter, but its steps get smaller over time.</a:t>
            </a:r>
          </a:p>
          <a:p>
            <a:r>
              <a:t>RMSprop uses a moving average of squared gradients to scale its steps, and Adam combines momentum with RMSprop.</a:t>
            </a:r>
          </a:p>
          <a:p>
            <a:r>
              <a:t>Every optimizer gets the same learning-rate search.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pilot was conducted using default learning rates and no tuning. As you can see </a:t>
            </a:r>
            <a:r>
              <a:rPr dirty="0"/>
              <a:t>SGD performed worst.</a:t>
            </a:r>
          </a:p>
          <a:p>
            <a:r>
              <a:rPr dirty="0"/>
              <a:t>The three adaptive optimizers did better than SGD, but there was no significant difference among them (p = 0.93).</a:t>
            </a:r>
          </a:p>
          <a:p>
            <a:r>
              <a:rPr lang="en-US" dirty="0"/>
              <a:t>Because t</a:t>
            </a:r>
            <a:r>
              <a:rPr dirty="0"/>
              <a:t>he pilot used library-default learning rates, I revised the experiment design to give a fairer comparison and try to distinguish between </a:t>
            </a:r>
            <a:r>
              <a:rPr dirty="0" err="1"/>
              <a:t>Adagrad</a:t>
            </a:r>
            <a:r>
              <a:rPr dirty="0"/>
              <a:t>, RMSprop and Adam.</a:t>
            </a:r>
          </a:p>
          <a:p>
            <a:r>
              <a:rPr dirty="0"/>
              <a:t>I use macro-F1 so that the rarer, harder class (angular leaf spot) counts as much as the common 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56474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dirty="0"/>
              <a:t>Instead of using library-default learning rates, I tuned each optimizer over the same 6 learning rates, so every optimizer is compared at its best setting.</a:t>
            </a:r>
          </a:p>
          <a:p>
            <a:r>
              <a:rPr dirty="0"/>
              <a:t>I increased from 3 to 5 random seeds, paired across optimizers, so every optimizer starts from exactly the same initial weights and sees the batches in the same order.</a:t>
            </a:r>
          </a:p>
          <a:p>
            <a:r>
              <a:rPr dirty="0"/>
              <a:t>I tuned the learning rate strictly on the validation set, to stay unbiased</a:t>
            </a:r>
            <a:r>
              <a:rPr lang="en-US" dirty="0"/>
              <a:t> and not expose the test data.</a:t>
            </a:r>
            <a:endParaRPr dirty="0"/>
          </a:p>
          <a:p>
            <a:r>
              <a:rPr dirty="0"/>
              <a:t>One more difference: the pilot also used dropout and a class-weighted loss, and the final runs used neither. So differences between the pilot and the final results don't come from tuning alone.</a:t>
            </a:r>
          </a:p>
        </p:txBody>
      </p:sp>
    </p:spTree>
    <p:extLst>
      <p:ext uri="{BB962C8B-B14F-4D97-AF65-F5344CB8AC3E}">
        <p14:creationId xmlns:p14="http://schemas.microsoft.com/office/powerpoint/2010/main" val="3219747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Before looking at the final results, I fixed the rule for choosing the best optimizer.</a:t>
            </a:r>
          </a:p>
          <a:p>
            <a:r>
              <a:t>First, accuracy: the winner has to be significantly better than all the others.</a:t>
            </a:r>
          </a:p>
          <a:p>
            <a:r>
              <a:t>If there is a tie, I look at convergence: the fewest epochs to reach validation macro-F1 of 0.85.</a:t>
            </a:r>
          </a:p>
          <a:p>
            <a:r>
              <a:t>If it is still tied, training time decides. If all three are tied, I report the optimizers as equivalent.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dirty="0"/>
              <a:t>Each optimizer was trained once at each of the six learning rates (seed 100, validation data only).</a:t>
            </a:r>
          </a:p>
          <a:p>
            <a:r>
              <a:rPr dirty="0"/>
              <a:t>The sweep picked</a:t>
            </a:r>
            <a:r>
              <a:rPr lang="en-US" dirty="0"/>
              <a:t> the relevant learning rates for the 4 optimizers. </a:t>
            </a:r>
          </a:p>
          <a:p>
            <a:r>
              <a:rPr dirty="0"/>
              <a:t>Too-high rates broke training: Adam at 0.1 and 0.03 diverged and predicted only powdery mildew (0.224).</a:t>
            </a:r>
          </a:p>
          <a:p>
            <a:r>
              <a:rPr dirty="0"/>
              <a:t>Too-low rates left SGD barely trained (0.24 to 0.45).</a:t>
            </a:r>
          </a:p>
          <a:p>
            <a:r>
              <a:rPr dirty="0"/>
              <a:t>Adam's best two values were almost tied (0.922 at 0.003 vs 0.920 at 0.0003).</a:t>
            </a:r>
          </a:p>
          <a:p>
            <a:r>
              <a:rPr dirty="0"/>
              <a:t>SGD's best value is the largest one tested, so an even larger rate might have done better. Because each rate was tried with one seed only, the choices carry some noise.</a:t>
            </a:r>
          </a:p>
        </p:txBody>
      </p:sp>
    </p:spTree>
    <p:extLst>
      <p:ext uri="{BB962C8B-B14F-4D97-AF65-F5344CB8AC3E}">
        <p14:creationId xmlns:p14="http://schemas.microsoft.com/office/powerpoint/2010/main" val="1886915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dirty="0"/>
              <a:t>Panels a and b show the loss, c and d show the accuracy and validation macro-F1.</a:t>
            </a:r>
          </a:p>
          <a:p>
            <a:r>
              <a:rPr dirty="0"/>
              <a:t>All three adaptive optimizers reduce the loss much faster than SGD.</a:t>
            </a:r>
          </a:p>
          <a:p>
            <a:r>
              <a:rPr dirty="0"/>
              <a:t>SGD needs a high learning rate (0.1) to learn at all, and that makes its validation curves jumpy.</a:t>
            </a:r>
          </a:p>
          <a:p>
            <a:r>
              <a:rPr dirty="0"/>
              <a:t>For the adaptive optimizers, validation loss flattens after roughly 15 epochs.</a:t>
            </a:r>
          </a:p>
          <a:p>
            <a:r>
              <a:rPr dirty="0"/>
              <a:t>Training accuracy approaches 0.98 to 0.99, a sign of mild overfitting; early stopping keeps the epoch with the best validation score.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dirty="0"/>
              <a:t>The ranking by mean test macro-F1 is Adam 0.907, RMSprop 0.898, </a:t>
            </a:r>
            <a:r>
              <a:rPr dirty="0" err="1"/>
              <a:t>Adagrad</a:t>
            </a:r>
            <a:r>
              <a:rPr dirty="0"/>
              <a:t> 0.883 and SGD 0.858. SGD is clearly last: all five SGD runs score below every Adam run.</a:t>
            </a:r>
          </a:p>
          <a:p>
            <a:r>
              <a:rPr dirty="0"/>
              <a:t>The gap between Adam and RMSprop is small (0.009) compared with how much each one varies between seeds (SD 0.023 to 0.025), and their runs overlap: both have a best run of 0.934.</a:t>
            </a:r>
          </a:p>
          <a:p>
            <a:r>
              <a:rPr dirty="0"/>
              <a:t>The heatmap shows where the optimizers differ. Powdery mildew is near-perfect for all four (0.97 to 0.98), while angular leaf spot separates them, from 0.711 for SGD to 0.822 for Adam.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t>Mean epochs to reach validation macro-F1 0.85: Adam 6.0, RMSprop 6.2, Adagrad 10.4 and SGD 17.4.</a:t>
            </a:r>
          </a:p>
          <a:p>
            <a:r>
              <a:t>Mean time to reach it: about 103 s for Adam, 112 s for RMSprop, 172 s for Adagrad and 292 s for SGD.</a:t>
            </a:r>
          </a:p>
          <a:p>
            <a:r>
              <a:t>Seconds per epoch barely differ (median 15.7 to 17.5 s), so the time differences come from the number of epochs.</a:t>
            </a:r>
          </a:p>
          <a:p>
            <a:r>
              <a:t>SGD is in theory the cheapest per step, so its slightly slower epochs reflect load on the laptop, not the optimizer.</a:t>
            </a:r>
          </a:p>
        </p:txBody>
      </p:sp>
    </p:spTree>
    <p:extLst>
      <p:ext uri="{BB962C8B-B14F-4D97-AF65-F5344CB8AC3E}">
        <p14:creationId xmlns:p14="http://schemas.microsoft.com/office/powerpoint/2010/main" val="3055016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Almost all mistakes are angular leaf spot and leaf spot confused with each other; both are spot diseases and look similar.</a:t>
            </a:r>
          </a:p>
          <a:p>
            <a:r>
              <a:t>Powdery mildew is rarely misclassified (1 to 5% of its images, mostly as leaf spot).</a:t>
            </a:r>
          </a:p>
          <a:p>
            <a:r>
              <a:t>SGD labels 31% of angular leaf spot as leaf spot. RMSprop and Adam recognise far more angular leaf spot (95% and 91%), but in return they label more leaf spot as angular leaf spot (12% and 9%).</a:t>
            </a:r>
          </a:p>
          <a:p>
            <a:r>
              <a:t>Each matrix is a single run, and the test set has only 58 angular leaf spot images, so each image moves that row by about 1.7%.</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This table shows precision, recall and F1 for each disease, averaged over the five seeds.</a:t>
            </a:r>
          </a:p>
          <a:p>
            <a:r>
              <a:t>Powdery mildew is easy for every optimizer.</a:t>
            </a:r>
          </a:p>
          <a:p>
            <a:r>
              <a:t>For angular leaf spot, the main difference is recall: SGD only finds 68% of the angular leaf spot images, while Adam finds 87%.</a:t>
            </a:r>
          </a:p>
          <a:p>
            <a:r>
              <a:t>Precision stays around 0.74 to 0.79, so the adaptive optimizers mostly find more angular leaf spot instead of being more precise.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Accuracy drops from training to test for every adaptive optimizer, by about 2.4 to 3.5 points, and Adam's drop is the largest.</a:t>
            </a:r>
          </a:p>
          <a:p>
            <a:r>
              <a:t>SGD's training accuracy looks lower than its validation accuracy because training accuracy is averaged while the weights are still changing, and SGD takes large, noisy steps.</a:t>
            </a:r>
          </a:p>
          <a:p>
            <a:r>
              <a:t>Validation and test macro-F1 agree only moderately (r = 0.61), and most runs sit below the diagonal. So the model looks a bit better on validation than on the test set, which is expected because the best epoch was chosen on validation data.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This is the summary table for the final small-CNN runs.</a:t>
            </a:r>
          </a:p>
          <a:p>
            <a:r>
              <a:t>Adam has the best mean on accuracy, epochs to target and time to target, and RMSprop is very close behind.</a:t>
            </a:r>
          </a:p>
          <a:p>
            <a:r>
              <a:t>Time per epoch is about the same for all four, so the time differences come from the number of epochs needed.</a:t>
            </a:r>
          </a:p>
          <a:p>
            <a:r>
              <a:t>I used the median for seconds per epoch, because three runs had one very long epoch when the laptop paused. That happened after they had already reached the target, so the time-to-target numbers aren't affected.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Applying the selection rule that I fixed before the final run:</a:t>
            </a:r>
          </a:p>
          <a:p>
            <a:r>
              <a:t>On accuracy, Adam has the highest mean macro-F1, but it is not significantly better than RMSprop or Adagrad, so those three stay tied. Only SGD is significantly worse.</a:t>
            </a:r>
          </a:p>
          <a:p>
            <a:r>
              <a:t>On convergence and on training time, Adam again has the best mean, but the differences among the tied optimizers are not significant either. Adam vs Adagrad on epochs was borderline (p = 0.03 before correction, 0.06 after), so I'd call it a trend.</a:t>
            </a:r>
          </a:p>
          <a:p>
            <a:r>
              <a:t>So under my rule there is no single best optimizer. In practice, Adam has the best average on every criterion, so it is a reasonable default, with RMSprop an equally valid choice.</a:t>
            </a:r>
          </a:p>
          <a:p>
            <a:r>
              <a:t>Not significant doesn't mean identical: with five seeds the test can only detect fairly large differences. The Friedman p = 0.0136 says the four optimizers are not all equal, which is mainly because of SGD.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To check if a stronger model could separate Adam from RMSprop, I repeated the same experiment with a pretrained ResNet-18.</a:t>
            </a:r>
          </a:p>
          <a:p>
            <a:r>
              <a:t>The project is about optimizers, so ResNet-18 is a test condition, not a competitor.</a:t>
            </a:r>
          </a:p>
          <a:p>
            <a:r>
              <a:t>Both are convolutional networks, so the comparison stays easy to interpret. It is pretrained on ImageNet, so it suits a small dataset like mine.</a:t>
            </a:r>
          </a:p>
          <a:p>
            <a:r>
              <a:t>It's the smallest standard ResNet, so it fit on my 2 GB GPU and I could run all 44 runs. And it is widely used as a reference model, including in plant-disease studies.</a:t>
            </a:r>
          </a:p>
          <a:p>
            <a:r>
              <a:t>I used exactly the same procedure as before: a learning-rate sweep first, then 5 paired seeds, on the same test images.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Here is the comparison on the same 538 test images.</a:t>
            </a:r>
          </a:p>
          <a:p>
            <a:r>
              <a:t>ResNet-18 is much better with every optimizer: about 0.99 macro-F1 instead of 0.86 to 0.91.</a:t>
            </a:r>
          </a:p>
          <a:p>
            <a:r>
              <a:t>Every ResNet-18 run scored higher than every small-CNN run.</a:t>
            </a:r>
          </a:p>
          <a:p>
            <a:r>
              <a:t>It also makes about 90% fewer mistakes: around 4 to 6 wrong images instead of 33 to 47.</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This slide shows every single run.</a:t>
            </a:r>
          </a:p>
          <a:p>
            <a:r>
              <a:t>Even the worst ResNet-18 run, 0.983, is above the best small-CNN run, 0.934.</a:t>
            </a:r>
          </a:p>
          <a:p>
            <a:r>
              <a:t>So the improvement isn't luck from one seed; it shows up in every run.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This table has all the details.</a:t>
            </a:r>
          </a:p>
          <a:p>
            <a:r>
              <a:t>The biggest gain is on angular leaf spot, which goes from 0.71 to 0.82 with the small CNN to about 0.98 to 0.99 with ResNet-18.</a:t>
            </a:r>
          </a:p>
          <a:p>
            <a:r>
              <a:t>ResNet-18 also finds its best epoch much earlier, around epoch 7 to 16 instead of 24 to 28.</a:t>
            </a:r>
          </a:p>
          <a:p>
            <a:r>
              <a:t>Training times are not compared here, because the small CNN ran on a laptop CPU and ResNet-18 on a GPU.</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figure shows the same thing visually.</a:t>
            </a:r>
          </a:p>
          <a:p>
            <a:r>
              <a:t>The small-CNN points are spread out and differ between optimizers, while the ResNet-18 points are all packed together near 0.99.</a:t>
            </a:r>
          </a:p>
          <a:p>
            <a:r>
              <a:t>With ResNet-18, the optimizer means are only 0.005 apart, compared with 0.049 for the small CNN.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So, can ResNet-18 separate Adam from RMSprop? No.</a:t>
            </a:r>
          </a:p>
          <a:p>
            <a:r>
              <a:t>On accuracy, none of the differences are significant; Adam vs RMSprop is p = 0.55.</a:t>
            </a:r>
          </a:p>
          <a:p>
            <a:r>
              <a:t>For convergence, every run reached the 0.80 target in its very first epoch, so this criterion couldn't tell them apart.</a:t>
            </a:r>
          </a:p>
          <a:p>
            <a:r>
              <a:t>If I applied the rule mechanically, SGD would win on time, but only because one SGD epoch is about 0.2 seconds faster; SGD has the simplest update. That doesn't mean SGD learns better, so I don't treat it as a real win.</a:t>
            </a:r>
          </a:p>
          <a:p>
            <a:r>
              <a:t>The honest answer is that with a strong pretrained model, the choice of optimizer barely matters.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For the small CNN, the adaptive optimizers clearly beat plain SGD, both in accuracy and in how quickly they reach useful performance.</a:t>
            </a:r>
          </a:p>
          <a:p>
            <a:r>
              <a:t>The differences between optimizers are largest on the rare, hard class, angular leaf spot; the easy class, powdery mildew, is near-perfect for all.</a:t>
            </a:r>
          </a:p>
          <a:p>
            <a:r>
              <a:t>Because the main confusion is between the two spot diseases for every optimizer, more angular leaf spot data or augmentation is likely to help more than changing optimizer.</a:t>
            </a:r>
          </a:p>
          <a:p>
            <a:r>
              <a:t>With ResNet-18, every optimizer reached about 0.99, and the gap between optimizers became ten times smaller. SGD was last with both models.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There are some limitations.</a:t>
            </a:r>
          </a:p>
          <a:p>
            <a:r>
              <a:t>I only had 5 seeds per optimizer, which is not enough to prove a difference between Adam and RMSprop.</a:t>
            </a:r>
          </a:p>
          <a:p>
            <a:r>
              <a:t>Learning rates were chosen from a single sweep run each, on a coarse grid, and SGD's best rate sat on the edge of the grid, so its true best rate may be outside the range I tested.</a:t>
            </a:r>
          </a:p>
          <a:p>
            <a:r>
              <a:t>Only the learning rate was tuned. Momentum, Adam's beta values and weight decay stayed at library defaults, and SGD had no momentum, which may have made it look worse than it would normally.</a:t>
            </a:r>
          </a:p>
          <a:p>
            <a:r>
              <a:t>No learning-rate schedules and no data augmentation were used, so the results show each optimizer in a deliberately simple setting.</a:t>
            </a:r>
          </a:p>
          <a:p>
            <a:r>
              <a:t>On the data side, there is one dataset with one split, and only 58 angular leaf spot test images.</a:t>
            </a:r>
          </a:p>
          <a:p>
            <a:r>
              <a:t>Training times can only be compared within each model, because the small CNN ran on a CPU and ResNet-18 on a GPU.</a:t>
            </a:r>
          </a:p>
          <a:p>
            <a:r>
              <a:t>And ResNet-18 was close to perfect, so there was almost no room left to see optimizer differences.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To conclude, my target was to find which optimizer best suits a small strawberry leaf classifier.</a:t>
            </a:r>
          </a:p>
          <a:p>
            <a:r>
              <a:t>First, the adaptive optimizers beat plain SGD: they were more accurate and reached useful performance two to three times faster.</a:t>
            </a:r>
          </a:p>
          <a:p>
            <a:r>
              <a:t>Second, there was no single significant winner. Adam had the best average on all three criteria, so I would use it as the default, but RMSprop is just as good.</a:t>
            </a:r>
          </a:p>
          <a:p>
            <a:r>
              <a:t>Third, the model mattered much more than the optimizer. A pretrained ResNet-18 reached about 0.99 with every optimizer, and the differences between optimizers almost disappeared.</a:t>
            </a:r>
          </a:p>
          <a:p>
            <a:r>
              <a:t>So my answer is: use an adaptive optimizer like Adam, but if you want a better classifier, a pretrained model helps far more than switching optimizer.</a:t>
            </a:r>
          </a:p>
          <a:p>
            <a:r>
              <a:t>Next, I would like to try more seeds, SGD with momentum, data augmentation, and a second disease task with the AI Hub blight and wilt data.</a:t>
            </a:r>
          </a:p>
          <a:p>
            <a:r>
              <a:t>Thank you.</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This is the full pilot table for reference.</a:t>
            </a:r>
          </a:p>
          <a:p>
            <a:r>
              <a:t>The pilot used library-default learning rates, 3 seeds, dropout and a class-weighted loss, so it is not directly comparable with the final runs.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10881360" y="-914400"/>
            <a:ext cx="2377440" cy="2377440"/>
          </a:xfrm>
          <a:prstGeom prst="ellipse">
            <a:avLst/>
          </a:prstGeom>
          <a:solidFill>
            <a:srgbClr val="6B8E3D"/>
          </a:solidFill>
          <a:ln/>
        </p:spPr>
        <p:txBody>
          <a:bodyPr/>
          <a:lstStyle/>
          <a:p>
            <a:endParaRPr/>
          </a:p>
        </p:txBody>
      </p:sp>
      <p:sp>
        <p:nvSpPr>
          <p:cNvPr id="3" name="Shape 1"/>
          <p:cNvSpPr/>
          <p:nvPr/>
        </p:nvSpPr>
        <p:spPr>
          <a:xfrm>
            <a:off x="11795760" y="685800"/>
            <a:ext cx="1280160" cy="1280160"/>
          </a:xfrm>
          <a:prstGeom prst="ellipse">
            <a:avLst/>
          </a:prstGeom>
          <a:solidFill>
            <a:srgbClr val="97BC62"/>
          </a:solidFill>
          <a:ln/>
        </p:spPr>
        <p:txBody>
          <a:bodyPr/>
          <a:lstStyle/>
          <a:p>
            <a:endParaRPr/>
          </a:p>
        </p:txBody>
      </p:sp>
      <p:sp>
        <p:nvSpPr>
          <p:cNvPr id="4" name="Shape 2"/>
          <p:cNvSpPr/>
          <p:nvPr/>
        </p:nvSpPr>
        <p:spPr>
          <a:xfrm>
            <a:off x="11475720" y="-137160"/>
            <a:ext cx="640080" cy="640080"/>
          </a:xfrm>
          <a:prstGeom prst="ellipse">
            <a:avLst/>
          </a:prstGeom>
          <a:solidFill>
            <a:srgbClr val="B5303B"/>
          </a:solidFill>
          <a:ln/>
        </p:spPr>
        <p:txBody>
          <a:bodyPr/>
          <a:lstStyle/>
          <a:p>
            <a:endParaRPr/>
          </a:p>
        </p:txBody>
      </p:sp>
      <p:sp>
        <p:nvSpPr>
          <p:cNvPr id="5" name="Text 3"/>
          <p:cNvSpPr txBox="1"/>
          <p:nvPr/>
        </p:nvSpPr>
        <p:spPr>
          <a:xfrm>
            <a:off x="822960" y="1051560"/>
            <a:ext cx="7315200" cy="292608"/>
          </a:xfrm>
          <a:prstGeom prst="rect">
            <a:avLst/>
          </a:prstGeom>
          <a:noFill/>
          <a:ln/>
        </p:spPr>
        <p:txBody>
          <a:bodyPr wrap="square" lIns="0" tIns="0" rIns="0" bIns="0" rtlCol="0" anchor="ctr"/>
          <a:lstStyle/>
          <a:p>
            <a:pPr marL="0" indent="0" algn="l">
              <a:buNone/>
            </a:pPr>
            <a:r>
              <a:rPr lang="en-US" altLang="ko-KR" sz="1200" b="1" kern="0" spc="300" dirty="0">
                <a:solidFill>
                  <a:srgbClr val="97BC62"/>
                </a:solidFill>
                <a:latin typeface="Calibri" pitchFamily="34" charset="0"/>
                <a:ea typeface="Malgun Gothic"/>
                <a:cs typeface="Calibri" pitchFamily="34" charset="-120"/>
              </a:rPr>
              <a:t>AI APPLICATION  ·  FINAL PROJECT  (최종 발표)</a:t>
            </a:r>
            <a:endParaRPr lang="en-US" sz="1200" dirty="0"/>
          </a:p>
        </p:txBody>
      </p:sp>
      <p:sp>
        <p:nvSpPr>
          <p:cNvPr id="6" name="Text 4"/>
          <p:cNvSpPr txBox="1"/>
          <p:nvPr/>
        </p:nvSpPr>
        <p:spPr>
          <a:xfrm>
            <a:off x="822960" y="1554480"/>
            <a:ext cx="10241280" cy="1920240"/>
          </a:xfrm>
          <a:prstGeom prst="rect">
            <a:avLst/>
          </a:prstGeom>
          <a:noFill/>
          <a:ln/>
        </p:spPr>
        <p:txBody>
          <a:bodyPr wrap="square" lIns="0" tIns="0" rIns="0" bIns="0" rtlCol="0" anchor="t"/>
          <a:lstStyle/>
          <a:p>
            <a:pPr marL="0" indent="0" algn="l">
              <a:lnSpc>
                <a:spcPct val="102000"/>
              </a:lnSpc>
              <a:buNone/>
            </a:pPr>
            <a:r>
              <a:rPr lang="en-US" sz="3800" b="1" dirty="0">
                <a:solidFill>
                  <a:srgbClr val="FFFFFF"/>
                </a:solidFill>
                <a:latin typeface="Cambria" pitchFamily="34" charset="0"/>
                <a:ea typeface="Cambria" pitchFamily="34" charset="-122"/>
                <a:cs typeface="Cambria" pitchFamily="34" charset="-120"/>
              </a:rPr>
              <a:t>Comparison of Four Optimizers for CNN-Based</a:t>
            </a:r>
            <a:endParaRPr lang="en-US" sz="3800" dirty="0"/>
          </a:p>
          <a:p>
            <a:pPr marL="0" indent="0" algn="l">
              <a:lnSpc>
                <a:spcPct val="102000"/>
              </a:lnSpc>
              <a:buNone/>
            </a:pPr>
            <a:r>
              <a:rPr lang="en-US" sz="3800" b="1" dirty="0">
                <a:solidFill>
                  <a:srgbClr val="FFFFFF"/>
                </a:solidFill>
                <a:latin typeface="Cambria" pitchFamily="34" charset="0"/>
                <a:ea typeface="Cambria" pitchFamily="34" charset="-122"/>
                <a:cs typeface="Cambria" pitchFamily="34" charset="-120"/>
              </a:rPr>
              <a:t>Classification of Strawberry Leaf Diseases</a:t>
            </a:r>
            <a:endParaRPr lang="en-US" sz="3800" dirty="0"/>
          </a:p>
        </p:txBody>
      </p:sp>
      <p:sp>
        <p:nvSpPr>
          <p:cNvPr id="7" name="Text 5"/>
          <p:cNvSpPr txBox="1"/>
          <p:nvPr/>
        </p:nvSpPr>
        <p:spPr>
          <a:xfrm>
            <a:off x="822960" y="3429000"/>
            <a:ext cx="10058400" cy="457200"/>
          </a:xfrm>
          <a:prstGeom prst="rect">
            <a:avLst/>
          </a:prstGeom>
          <a:noFill/>
          <a:ln/>
        </p:spPr>
        <p:txBody>
          <a:bodyPr wrap="square" lIns="0" tIns="0" rIns="0" bIns="0" rtlCol="0" anchor="ctr"/>
          <a:lstStyle/>
          <a:p>
            <a:pPr marL="0" indent="0">
              <a:buNone/>
            </a:pPr>
            <a:r>
              <a:rPr lang="en-US" altLang="ko-KR" sz="1700" dirty="0">
                <a:solidFill>
                  <a:srgbClr val="D9E4CF"/>
                </a:solidFill>
                <a:latin typeface="Calibri" pitchFamily="34" charset="0"/>
                <a:ea typeface="Malgun Gothic"/>
                <a:cs typeface="Calibri" pitchFamily="34" charset="-120"/>
              </a:rPr>
              <a:t>CNN 기반 딸기 잎 질병 분류를 위한 4가지 최적화 알고리즘 비교</a:t>
            </a:r>
            <a:endParaRPr lang="en-US" sz="1700" dirty="0"/>
          </a:p>
        </p:txBody>
      </p:sp>
      <p:sp>
        <p:nvSpPr>
          <p:cNvPr id="8" name="Shape 6"/>
          <p:cNvSpPr/>
          <p:nvPr/>
        </p:nvSpPr>
        <p:spPr>
          <a:xfrm>
            <a:off x="868680" y="4160520"/>
            <a:ext cx="3108960" cy="0"/>
          </a:xfrm>
          <a:prstGeom prst="line">
            <a:avLst/>
          </a:prstGeom>
          <a:noFill/>
          <a:ln w="19050">
            <a:solidFill>
              <a:srgbClr val="97BC62"/>
            </a:solidFill>
            <a:prstDash val="solid"/>
          </a:ln>
        </p:spPr>
        <p:txBody>
          <a:bodyPr/>
          <a:lstStyle/>
          <a:p>
            <a:endParaRPr/>
          </a:p>
        </p:txBody>
      </p:sp>
      <p:sp>
        <p:nvSpPr>
          <p:cNvPr id="9" name="Text 7"/>
          <p:cNvSpPr txBox="1"/>
          <p:nvPr/>
        </p:nvSpPr>
        <p:spPr>
          <a:xfrm>
            <a:off x="822960" y="4343400"/>
            <a:ext cx="10058400" cy="914400"/>
          </a:xfrm>
          <a:prstGeom prst="rect">
            <a:avLst/>
          </a:prstGeom>
          <a:noFill/>
          <a:ln/>
        </p:spPr>
        <p:txBody>
          <a:bodyPr wrap="square" lIns="0" tIns="0" rIns="0" bIns="0" rtlCol="0" anchor="ctr"/>
          <a:lstStyle/>
          <a:p>
            <a:pPr marL="0" indent="0">
              <a:lnSpc>
                <a:spcPct val="105000"/>
              </a:lnSpc>
              <a:buNone/>
            </a:pPr>
            <a:r>
              <a:rPr lang="en-US" sz="1400" dirty="0">
                <a:solidFill>
                  <a:srgbClr val="C7D6B4"/>
                </a:solidFill>
                <a:latin typeface="Calibri" pitchFamily="34" charset="0"/>
                <a:ea typeface="Calibri" pitchFamily="34" charset="-122"/>
                <a:cs typeface="Calibri" pitchFamily="34" charset="-120"/>
              </a:rPr>
              <a:t>Using RGB images, three strawberry leaf-disease classes
</a:t>
            </a:r>
            <a:endParaRPr lang="en-US" sz="1400" dirty="0"/>
          </a:p>
          <a:p>
            <a:pPr marL="0" indent="0">
              <a:lnSpc>
                <a:spcPct val="105000"/>
              </a:lnSpc>
              <a:buNone/>
            </a:pPr>
            <a:r>
              <a:rPr lang="en-US" altLang="ko-KR" sz="1300" i="1" dirty="0">
                <a:solidFill>
                  <a:srgbClr val="97BC62"/>
                </a:solidFill>
                <a:latin typeface="Calibri" pitchFamily="34" charset="0"/>
                <a:ea typeface="Malgun Gothic"/>
                <a:cs typeface="Calibri" pitchFamily="34" charset="-120"/>
              </a:rPr>
              <a:t>RGB 이미지를 사용한 딸기 잎 질병 3종 분류</a:t>
            </a:r>
            <a:endParaRPr lang="en-US" sz="1400" dirty="0"/>
          </a:p>
        </p:txBody>
      </p:sp>
      <p:sp>
        <p:nvSpPr>
          <p:cNvPr id="10" name="Text 8"/>
          <p:cNvSpPr txBox="1"/>
          <p:nvPr/>
        </p:nvSpPr>
        <p:spPr>
          <a:xfrm>
            <a:off x="822960" y="5943600"/>
            <a:ext cx="100584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SGD  ·  Adagrad  ·  RMSprop  ·  Adam   |   Small CNN vs ResNet-18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OVERVIEW  (개요)</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Research question</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연구 질문</a:t>
            </a:r>
            <a:endParaRPr lang="en-US" sz="3000" dirty="0"/>
          </a:p>
        </p:txBody>
      </p:sp>
      <p:sp>
        <p:nvSpPr>
          <p:cNvPr id="4" name="Shape 2"/>
          <p:cNvSpPr/>
          <p:nvPr/>
        </p:nvSpPr>
        <p:spPr>
          <a:xfrm>
            <a:off x="822960" y="1965960"/>
            <a:ext cx="10515600" cy="1691640"/>
          </a:xfrm>
          <a:prstGeom prst="roundRect">
            <a:avLst>
              <a:gd name="adj" fmla="val 6486"/>
            </a:avLst>
          </a:prstGeom>
          <a:solidFill>
            <a:srgbClr val="2C5F2D"/>
          </a:solidFill>
          <a:ln/>
        </p:spPr>
      </p:sp>
      <p:sp>
        <p:nvSpPr>
          <p:cNvPr id="5" name="Text 3"/>
          <p:cNvSpPr txBox="1"/>
          <p:nvPr/>
        </p:nvSpPr>
        <p:spPr>
          <a:xfrm>
            <a:off x="1143000" y="2194560"/>
            <a:ext cx="9875520" cy="1280160"/>
          </a:xfrm>
          <a:prstGeom prst="rect">
            <a:avLst/>
          </a:prstGeom>
          <a:noFill/>
          <a:ln/>
        </p:spPr>
        <p:txBody>
          <a:bodyPr wrap="square" lIns="0" tIns="0" rIns="0" bIns="0" rtlCol="0" anchor="ctr"/>
          <a:lstStyle/>
          <a:p>
            <a:pPr marL="0" indent="0">
              <a:lnSpc>
                <a:spcPct val="105000"/>
              </a:lnSpc>
              <a:buNone/>
            </a:pPr>
            <a:r>
              <a:rPr lang="en-US" sz="2000" b="1" dirty="0">
                <a:solidFill>
                  <a:srgbClr val="FFFFFF"/>
                </a:solidFill>
                <a:latin typeface="Cambria" pitchFamily="34" charset="0"/>
                <a:ea typeface="Cambria" pitchFamily="34" charset="-122"/>
                <a:cs typeface="Cambria" pitchFamily="34" charset="-120"/>
              </a:rPr>
              <a:t>How do SGD, Adagrad, RMSprop, and Adam affect classification accuracy,
convergence speed, and training time for one fixed CNN?
</a:t>
            </a:r>
            <a:endParaRPr lang="en-US" sz="2000" dirty="0"/>
          </a:p>
          <a:p>
            <a:pPr marL="0" indent="0">
              <a:lnSpc>
                <a:spcPct val="105000"/>
              </a:lnSpc>
              <a:buNone/>
            </a:pPr>
            <a:r>
              <a:rPr lang="en-US" altLang="ko-KR" sz="1400" dirty="0">
                <a:solidFill>
                  <a:srgbClr val="D9E4CF"/>
                </a:solidFill>
                <a:latin typeface="Calibri" pitchFamily="34" charset="0"/>
                <a:ea typeface="Malgun Gothic"/>
                <a:cs typeface="Calibri" pitchFamily="34" charset="-120"/>
              </a:rPr>
              <a:t>고정된 CNN 하나에서 SGD, Adagrad, RMSprop, Adam이 분류 정확도·수렴 속도·학습 시간에 어떤 영향을 주는가?</a:t>
            </a:r>
            <a:endParaRPr lang="en-US" sz="2000" dirty="0"/>
          </a:p>
        </p:txBody>
      </p:sp>
      <p:sp>
        <p:nvSpPr>
          <p:cNvPr id="6" name="Shape 4"/>
          <p:cNvSpPr/>
          <p:nvPr/>
        </p:nvSpPr>
        <p:spPr>
          <a:xfrm>
            <a:off x="822960" y="3977640"/>
            <a:ext cx="3383280" cy="2194560"/>
          </a:xfrm>
          <a:prstGeom prst="roundRect">
            <a:avLst>
              <a:gd name="adj" fmla="val 4167"/>
            </a:avLst>
          </a:prstGeom>
          <a:solidFill>
            <a:srgbClr val="FFFFFF"/>
          </a:solidFill>
          <a:ln w="12700">
            <a:solidFill>
              <a:srgbClr val="97BC62"/>
            </a:solidFill>
            <a:prstDash val="solid"/>
          </a:ln>
        </p:spPr>
      </p:sp>
      <p:sp>
        <p:nvSpPr>
          <p:cNvPr id="7" name="Shape 5"/>
          <p:cNvSpPr/>
          <p:nvPr/>
        </p:nvSpPr>
        <p:spPr>
          <a:xfrm>
            <a:off x="1143000" y="4297680"/>
            <a:ext cx="502920" cy="502920"/>
          </a:xfrm>
          <a:prstGeom prst="ellipse">
            <a:avLst/>
          </a:prstGeom>
          <a:solidFill>
            <a:srgbClr val="2C5F2D"/>
          </a:solidFill>
          <a:ln/>
        </p:spPr>
      </p:sp>
      <p:sp>
        <p:nvSpPr>
          <p:cNvPr id="8" name="Text 6"/>
          <p:cNvSpPr txBox="1"/>
          <p:nvPr/>
        </p:nvSpPr>
        <p:spPr>
          <a:xfrm>
            <a:off x="1143000" y="4297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783080" y="4279392"/>
            <a:ext cx="2286000" cy="77724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Best accuracy
</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최고 정확도</a:t>
            </a:r>
            <a:endParaRPr lang="en-US" sz="1600" dirty="0"/>
          </a:p>
        </p:txBody>
      </p:sp>
      <p:sp>
        <p:nvSpPr>
          <p:cNvPr id="10" name="Text 8"/>
          <p:cNvSpPr txBox="1"/>
          <p:nvPr/>
        </p:nvSpPr>
        <p:spPr>
          <a:xfrm>
            <a:off x="1143000" y="5120640"/>
            <a:ext cx="2788920" cy="914400"/>
          </a:xfrm>
          <a:prstGeom prst="rect">
            <a:avLst/>
          </a:prstGeom>
          <a:noFill/>
          <a:ln/>
        </p:spPr>
        <p:txBody>
          <a:bodyPr wrap="square" lIns="0" tIns="0" rIns="0" bIns="0" rtlCol="0" anchor="t"/>
          <a:lstStyle/>
          <a:p>
            <a:pPr marL="0" indent="0">
              <a:buNone/>
            </a:pPr>
            <a:r>
              <a:rPr lang="en-US" sz="1250" dirty="0">
                <a:solidFill>
                  <a:srgbClr val="5A6B4D"/>
                </a:solidFill>
                <a:latin typeface="Calibri" pitchFamily="34" charset="0"/>
                <a:ea typeface="Calibri" pitchFamily="34" charset="-122"/>
                <a:cs typeface="Calibri" pitchFamily="34" charset="-120"/>
              </a:rPr>
              <a:t>Which optimizer classifies the three diseases most correctly.</a:t>
            </a:r>
            <a:endParaRPr lang="en-US" sz="1250" dirty="0"/>
          </a:p>
        </p:txBody>
      </p:sp>
      <p:sp>
        <p:nvSpPr>
          <p:cNvPr id="11" name="Shape 9"/>
          <p:cNvSpPr/>
          <p:nvPr/>
        </p:nvSpPr>
        <p:spPr>
          <a:xfrm>
            <a:off x="4389120" y="3977640"/>
            <a:ext cx="3383280" cy="2194560"/>
          </a:xfrm>
          <a:prstGeom prst="roundRect">
            <a:avLst>
              <a:gd name="adj" fmla="val 4167"/>
            </a:avLst>
          </a:prstGeom>
          <a:solidFill>
            <a:srgbClr val="FFFFFF"/>
          </a:solidFill>
          <a:ln w="12700">
            <a:solidFill>
              <a:srgbClr val="97BC62"/>
            </a:solidFill>
            <a:prstDash val="solid"/>
          </a:ln>
        </p:spPr>
      </p:sp>
      <p:sp>
        <p:nvSpPr>
          <p:cNvPr id="12" name="Shape 10"/>
          <p:cNvSpPr/>
          <p:nvPr/>
        </p:nvSpPr>
        <p:spPr>
          <a:xfrm>
            <a:off x="4709160" y="4297680"/>
            <a:ext cx="502920" cy="502920"/>
          </a:xfrm>
          <a:prstGeom prst="ellipse">
            <a:avLst/>
          </a:prstGeom>
          <a:solidFill>
            <a:srgbClr val="6B8E3D"/>
          </a:solidFill>
          <a:ln/>
        </p:spPr>
      </p:sp>
      <p:sp>
        <p:nvSpPr>
          <p:cNvPr id="13" name="Text 11"/>
          <p:cNvSpPr txBox="1"/>
          <p:nvPr/>
        </p:nvSpPr>
        <p:spPr>
          <a:xfrm>
            <a:off x="4709160" y="4297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5349240" y="4279392"/>
            <a:ext cx="2286000" cy="77724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Fastest convergence
</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가장 빠른 수렴</a:t>
            </a:r>
            <a:endParaRPr lang="en-US" sz="1600" dirty="0"/>
          </a:p>
        </p:txBody>
      </p:sp>
      <p:sp>
        <p:nvSpPr>
          <p:cNvPr id="15" name="Text 13"/>
          <p:cNvSpPr txBox="1"/>
          <p:nvPr/>
        </p:nvSpPr>
        <p:spPr>
          <a:xfrm>
            <a:off x="4709160" y="5120640"/>
            <a:ext cx="2788920" cy="914400"/>
          </a:xfrm>
          <a:prstGeom prst="rect">
            <a:avLst/>
          </a:prstGeom>
          <a:noFill/>
          <a:ln/>
        </p:spPr>
        <p:txBody>
          <a:bodyPr wrap="square" lIns="0" tIns="0" rIns="0" bIns="0" rtlCol="0" anchor="t"/>
          <a:lstStyle/>
          <a:p>
            <a:pPr marL="0" indent="0">
              <a:buNone/>
            </a:pPr>
            <a:r>
              <a:rPr lang="en-US" sz="1250" dirty="0">
                <a:solidFill>
                  <a:srgbClr val="5A6B4D"/>
                </a:solidFill>
                <a:latin typeface="Calibri" pitchFamily="34" charset="0"/>
                <a:ea typeface="Calibri" pitchFamily="34" charset="-122"/>
                <a:cs typeface="Calibri" pitchFamily="34" charset="-120"/>
              </a:rPr>
              <a:t>Which reaches useful performance in the fewest epochs.</a:t>
            </a:r>
            <a:endParaRPr lang="en-US" sz="1250" dirty="0"/>
          </a:p>
        </p:txBody>
      </p:sp>
      <p:sp>
        <p:nvSpPr>
          <p:cNvPr id="16" name="Shape 14"/>
          <p:cNvSpPr/>
          <p:nvPr/>
        </p:nvSpPr>
        <p:spPr>
          <a:xfrm>
            <a:off x="7955280" y="3977640"/>
            <a:ext cx="3383280" cy="2194560"/>
          </a:xfrm>
          <a:prstGeom prst="roundRect">
            <a:avLst>
              <a:gd name="adj" fmla="val 4167"/>
            </a:avLst>
          </a:prstGeom>
          <a:solidFill>
            <a:srgbClr val="FFFFFF"/>
          </a:solidFill>
          <a:ln w="12700">
            <a:solidFill>
              <a:srgbClr val="97BC62"/>
            </a:solidFill>
            <a:prstDash val="solid"/>
          </a:ln>
        </p:spPr>
      </p:sp>
      <p:sp>
        <p:nvSpPr>
          <p:cNvPr id="17" name="Shape 15"/>
          <p:cNvSpPr/>
          <p:nvPr/>
        </p:nvSpPr>
        <p:spPr>
          <a:xfrm>
            <a:off x="8275320" y="4297680"/>
            <a:ext cx="502920" cy="502920"/>
          </a:xfrm>
          <a:prstGeom prst="ellipse">
            <a:avLst/>
          </a:prstGeom>
          <a:solidFill>
            <a:srgbClr val="B5303B"/>
          </a:solidFill>
          <a:ln/>
        </p:spPr>
      </p:sp>
      <p:sp>
        <p:nvSpPr>
          <p:cNvPr id="18" name="Text 16"/>
          <p:cNvSpPr txBox="1"/>
          <p:nvPr/>
        </p:nvSpPr>
        <p:spPr>
          <a:xfrm>
            <a:off x="8275320" y="4297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915400" y="4279392"/>
            <a:ext cx="2286000" cy="77724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Lowest training time
</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최단 학습 시간</a:t>
            </a:r>
            <a:endParaRPr lang="en-US" sz="1600" dirty="0"/>
          </a:p>
        </p:txBody>
      </p:sp>
      <p:sp>
        <p:nvSpPr>
          <p:cNvPr id="20" name="Text 18"/>
          <p:cNvSpPr txBox="1"/>
          <p:nvPr/>
        </p:nvSpPr>
        <p:spPr>
          <a:xfrm>
            <a:off x="8275320" y="5120640"/>
            <a:ext cx="2788920" cy="914400"/>
          </a:xfrm>
          <a:prstGeom prst="rect">
            <a:avLst/>
          </a:prstGeom>
          <a:noFill/>
          <a:ln/>
        </p:spPr>
        <p:txBody>
          <a:bodyPr wrap="square" lIns="0" tIns="0" rIns="0" bIns="0" rtlCol="0" anchor="t"/>
          <a:lstStyle/>
          <a:p>
            <a:pPr marL="0" indent="0">
              <a:buNone/>
            </a:pPr>
            <a:r>
              <a:rPr lang="en-US" sz="1250" dirty="0">
                <a:solidFill>
                  <a:srgbClr val="5A6B4D"/>
                </a:solidFill>
                <a:latin typeface="Calibri" pitchFamily="34" charset="0"/>
                <a:ea typeface="Calibri" pitchFamily="34" charset="-122"/>
                <a:cs typeface="Calibri" pitchFamily="34" charset="-120"/>
              </a:rPr>
              <a:t>Which is cheapest to train on a laptop.</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EXPECTED OUTPUTS  (예상 결과물)</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What the project delivers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프로젝트 산출물</a:t>
            </a:r>
            <a:endParaRPr lang="en-US" sz="3000" dirty="0"/>
          </a:p>
        </p:txBody>
      </p:sp>
      <p:sp>
        <p:nvSpPr>
          <p:cNvPr id="19" name="Shape 17"/>
          <p:cNvSpPr/>
          <p:nvPr/>
        </p:nvSpPr>
        <p:spPr>
          <a:xfrm>
            <a:off x="822960" y="1650990"/>
            <a:ext cx="10515600" cy="1051560"/>
          </a:xfrm>
          <a:prstGeom prst="roundRect">
            <a:avLst>
              <a:gd name="adj" fmla="val 8696"/>
            </a:avLst>
          </a:prstGeom>
          <a:solidFill>
            <a:srgbClr val="B5303B"/>
          </a:solidFill>
          <a:ln/>
        </p:spPr>
      </p:sp>
      <p:sp>
        <p:nvSpPr>
          <p:cNvPr id="20" name="Text 18"/>
          <p:cNvSpPr txBox="1"/>
          <p:nvPr/>
        </p:nvSpPr>
        <p:spPr>
          <a:xfrm>
            <a:off x="1143000" y="1788150"/>
            <a:ext cx="9875520" cy="822960"/>
          </a:xfrm>
          <a:prstGeom prst="rect">
            <a:avLst/>
          </a:prstGeom>
          <a:noFill/>
          <a:ln/>
        </p:spPr>
        <p:txBody>
          <a:bodyPr wrap="square" lIns="0" tIns="0" rIns="0" bIns="0" rtlCol="0" anchor="ctr"/>
          <a:lstStyle/>
          <a:p>
            <a:pPr marL="0" indent="0">
              <a:lnSpc>
                <a:spcPct val="105000"/>
              </a:lnSpc>
              <a:buNone/>
            </a:pPr>
            <a:r>
              <a:rPr lang="en-US" sz="1600" b="1" dirty="0">
                <a:solidFill>
                  <a:srgbClr val="FFFFFF"/>
                </a:solidFill>
                <a:latin typeface="Cambria" pitchFamily="34" charset="0"/>
                <a:ea typeface="Cambria" pitchFamily="34" charset="-122"/>
                <a:cs typeface="Cambria" pitchFamily="34" charset="-120"/>
              </a:rPr>
              <a:t>Target:  Which optimizer best suits a small strawberry leaf classifier?
</a:t>
            </a:r>
            <a:endParaRPr lang="en-US" sz="1600" dirty="0"/>
          </a:p>
          <a:p>
            <a:pPr marL="0" indent="0">
              <a:lnSpc>
                <a:spcPct val="105000"/>
              </a:lnSpc>
              <a:buNone/>
            </a:pPr>
            <a:r>
              <a:rPr lang="en-US" altLang="ko-KR" sz="1300" dirty="0">
                <a:solidFill>
                  <a:srgbClr val="FBE5E7"/>
                </a:solidFill>
                <a:latin typeface="Calibri" pitchFamily="34" charset="0"/>
                <a:ea typeface="Malgun Gothic"/>
                <a:cs typeface="Calibri" pitchFamily="34" charset="-120"/>
              </a:rPr>
              <a:t>목표: 소형 딸기 잎 분류기에 가장 적합한 최적화 알고리즘은 무엇인가?</a:t>
            </a:r>
            <a:endParaRPr lang="en-US" sz="1600" dirty="0"/>
          </a:p>
        </p:txBody>
      </p:sp>
      <p:sp>
        <p:nvSpPr>
          <p:cNvPr id="21" name="Shape 2">
            <a:extLst>
              <a:ext uri="{FF2B5EF4-FFF2-40B4-BE49-F238E27FC236}">
                <a16:creationId xmlns:a16="http://schemas.microsoft.com/office/drawing/2014/main" id="{D68862E0-8209-4383-94F4-FCE3C7741DF9}"/>
              </a:ext>
            </a:extLst>
          </p:cNvPr>
          <p:cNvSpPr/>
          <p:nvPr/>
        </p:nvSpPr>
        <p:spPr>
          <a:xfrm>
            <a:off x="765048" y="3063240"/>
            <a:ext cx="3456432" cy="3017520"/>
          </a:xfrm>
          <a:prstGeom prst="roundRect">
            <a:avLst>
              <a:gd name="adj" fmla="val 3030"/>
            </a:avLst>
          </a:prstGeom>
          <a:solidFill>
            <a:srgbClr val="FFFFFF"/>
          </a:solidFill>
          <a:ln w="12700">
            <a:solidFill>
              <a:srgbClr val="97BC62"/>
            </a:solidFill>
            <a:prstDash val="solid"/>
          </a:ln>
        </p:spPr>
      </p:sp>
      <p:sp>
        <p:nvSpPr>
          <p:cNvPr id="22" name="Shape 3">
            <a:extLst>
              <a:ext uri="{FF2B5EF4-FFF2-40B4-BE49-F238E27FC236}">
                <a16:creationId xmlns:a16="http://schemas.microsoft.com/office/drawing/2014/main" id="{1FA34250-1A30-4D09-B553-7125DFA7ED88}"/>
              </a:ext>
            </a:extLst>
          </p:cNvPr>
          <p:cNvSpPr/>
          <p:nvPr/>
        </p:nvSpPr>
        <p:spPr>
          <a:xfrm>
            <a:off x="1085088" y="3383280"/>
            <a:ext cx="731520" cy="731520"/>
          </a:xfrm>
          <a:prstGeom prst="ellipse">
            <a:avLst/>
          </a:prstGeom>
          <a:solidFill>
            <a:srgbClr val="2C5F2D"/>
          </a:solidFill>
          <a:ln/>
        </p:spPr>
      </p:sp>
      <p:sp>
        <p:nvSpPr>
          <p:cNvPr id="23" name="Text 4">
            <a:extLst>
              <a:ext uri="{FF2B5EF4-FFF2-40B4-BE49-F238E27FC236}">
                <a16:creationId xmlns:a16="http://schemas.microsoft.com/office/drawing/2014/main" id="{BEBBAADD-49AE-45CD-B7AF-F6749D2ECA4F}"/>
              </a:ext>
            </a:extLst>
          </p:cNvPr>
          <p:cNvSpPr txBox="1"/>
          <p:nvPr/>
        </p:nvSpPr>
        <p:spPr>
          <a:xfrm>
            <a:off x="1085088" y="338328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24" name="Text 5">
            <a:extLst>
              <a:ext uri="{FF2B5EF4-FFF2-40B4-BE49-F238E27FC236}">
                <a16:creationId xmlns:a16="http://schemas.microsoft.com/office/drawing/2014/main" id="{0FCBCE14-9FBF-4386-B867-4B7546063DAC}"/>
              </a:ext>
            </a:extLst>
          </p:cNvPr>
          <p:cNvSpPr txBox="1"/>
          <p:nvPr/>
        </p:nvSpPr>
        <p:spPr>
          <a:xfrm>
            <a:off x="1085088" y="4297680"/>
            <a:ext cx="2834640" cy="868680"/>
          </a:xfrm>
          <a:prstGeom prst="rect">
            <a:avLst/>
          </a:prstGeom>
          <a:noFill/>
          <a:ln/>
        </p:spPr>
        <p:txBody>
          <a:bodyPr wrap="square" lIns="0" tIns="0" rIns="0" bIns="0" rtlCol="0" anchor="ctr"/>
          <a:lstStyle/>
          <a:p>
            <a:pPr marL="0" indent="0">
              <a:buNone/>
            </a:pPr>
            <a:r>
              <a:rPr lang="en-US" sz="1800" b="1" dirty="0">
                <a:solidFill>
                  <a:srgbClr val="23301C"/>
                </a:solidFill>
                <a:latin typeface="Cambria" pitchFamily="34" charset="0"/>
                <a:ea typeface="Cambria" pitchFamily="34" charset="-122"/>
                <a:cs typeface="Cambria" pitchFamily="34" charset="-120"/>
              </a:rPr>
              <a:t>Speed &amp; accuracy
</a:t>
            </a:r>
            <a:endParaRPr lang="en-US" sz="1800" dirty="0"/>
          </a:p>
          <a:p>
            <a:pPr marL="0" indent="0">
              <a:buNone/>
            </a:pPr>
            <a:r>
              <a:rPr lang="en-US" altLang="ko-KR" sz="1300" dirty="0">
                <a:solidFill>
                  <a:srgbClr val="B5303B"/>
                </a:solidFill>
                <a:latin typeface="Calibri" pitchFamily="34" charset="0"/>
                <a:ea typeface="Malgun Gothic"/>
                <a:cs typeface="Calibri" pitchFamily="34" charset="-120"/>
              </a:rPr>
              <a:t>속도·정확도</a:t>
            </a:r>
            <a:endParaRPr lang="en-US" sz="1800" dirty="0"/>
          </a:p>
        </p:txBody>
      </p:sp>
      <p:sp>
        <p:nvSpPr>
          <p:cNvPr id="25" name="Text 6">
            <a:extLst>
              <a:ext uri="{FF2B5EF4-FFF2-40B4-BE49-F238E27FC236}">
                <a16:creationId xmlns:a16="http://schemas.microsoft.com/office/drawing/2014/main" id="{068785AF-0AA8-4CA3-8C6B-D40E5AB60A98}"/>
              </a:ext>
            </a:extLst>
          </p:cNvPr>
          <p:cNvSpPr txBox="1"/>
          <p:nvPr/>
        </p:nvSpPr>
        <p:spPr>
          <a:xfrm>
            <a:off x="1085088" y="5166360"/>
            <a:ext cx="2834640" cy="822960"/>
          </a:xfrm>
          <a:prstGeom prst="rect">
            <a:avLst/>
          </a:prstGeom>
          <a:noFill/>
          <a:ln/>
        </p:spPr>
        <p:txBody>
          <a:bodyPr wrap="square" lIns="0" tIns="0" rIns="0" bIns="0" rtlCol="0" anchor="ctr"/>
          <a:lstStyle/>
          <a:p>
            <a:pPr marL="0" indent="0">
              <a:buNone/>
            </a:pPr>
            <a:r>
              <a:rPr lang="en-US" sz="1250" dirty="0">
                <a:solidFill>
                  <a:srgbClr val="5A6B4D"/>
                </a:solidFill>
                <a:latin typeface="Calibri" pitchFamily="34" charset="0"/>
                <a:ea typeface="Calibri" pitchFamily="34" charset="-122"/>
                <a:cs typeface="Calibri" pitchFamily="34" charset="-120"/>
              </a:rPr>
              <a:t>Time (s), epochs, s/epoch, and train / val / test accuracy per optimizer.</a:t>
            </a:r>
            <a:endParaRPr lang="en-US" sz="1250" dirty="0"/>
          </a:p>
        </p:txBody>
      </p:sp>
      <p:sp>
        <p:nvSpPr>
          <p:cNvPr id="26" name="Shape 7">
            <a:extLst>
              <a:ext uri="{FF2B5EF4-FFF2-40B4-BE49-F238E27FC236}">
                <a16:creationId xmlns:a16="http://schemas.microsoft.com/office/drawing/2014/main" id="{4CA8ADEC-36CC-40FE-A865-AB60DC6D256B}"/>
              </a:ext>
            </a:extLst>
          </p:cNvPr>
          <p:cNvSpPr/>
          <p:nvPr/>
        </p:nvSpPr>
        <p:spPr>
          <a:xfrm>
            <a:off x="4367784" y="3063240"/>
            <a:ext cx="3456432" cy="3017520"/>
          </a:xfrm>
          <a:prstGeom prst="roundRect">
            <a:avLst>
              <a:gd name="adj" fmla="val 3030"/>
            </a:avLst>
          </a:prstGeom>
          <a:solidFill>
            <a:srgbClr val="2C5F2D"/>
          </a:solidFill>
          <a:ln w="12700">
            <a:solidFill>
              <a:srgbClr val="97BC62"/>
            </a:solidFill>
            <a:prstDash val="solid"/>
          </a:ln>
        </p:spPr>
      </p:sp>
      <p:sp>
        <p:nvSpPr>
          <p:cNvPr id="27" name="Shape 8">
            <a:extLst>
              <a:ext uri="{FF2B5EF4-FFF2-40B4-BE49-F238E27FC236}">
                <a16:creationId xmlns:a16="http://schemas.microsoft.com/office/drawing/2014/main" id="{E782759D-8558-4D3C-A78D-89C12F6516C0}"/>
              </a:ext>
            </a:extLst>
          </p:cNvPr>
          <p:cNvSpPr/>
          <p:nvPr/>
        </p:nvSpPr>
        <p:spPr>
          <a:xfrm>
            <a:off x="4687824" y="3383280"/>
            <a:ext cx="731520" cy="731520"/>
          </a:xfrm>
          <a:prstGeom prst="ellipse">
            <a:avLst/>
          </a:prstGeom>
          <a:solidFill>
            <a:srgbClr val="97BC62"/>
          </a:solidFill>
          <a:ln/>
        </p:spPr>
      </p:sp>
      <p:sp>
        <p:nvSpPr>
          <p:cNvPr id="28" name="Text 9">
            <a:extLst>
              <a:ext uri="{FF2B5EF4-FFF2-40B4-BE49-F238E27FC236}">
                <a16:creationId xmlns:a16="http://schemas.microsoft.com/office/drawing/2014/main" id="{99FC57C7-EC72-432C-96F8-B260D63B68AA}"/>
              </a:ext>
            </a:extLst>
          </p:cNvPr>
          <p:cNvSpPr txBox="1"/>
          <p:nvPr/>
        </p:nvSpPr>
        <p:spPr>
          <a:xfrm>
            <a:off x="4687824" y="3383280"/>
            <a:ext cx="731520" cy="731520"/>
          </a:xfrm>
          <a:prstGeom prst="rect">
            <a:avLst/>
          </a:prstGeom>
          <a:noFill/>
          <a:ln/>
        </p:spPr>
        <p:txBody>
          <a:bodyPr wrap="square" lIns="0" tIns="0" rIns="0" bIns="0" rtlCol="0" anchor="ctr"/>
          <a:lstStyle/>
          <a:p>
            <a:pPr marL="0" indent="0" algn="ctr">
              <a:buNone/>
            </a:pPr>
            <a:r>
              <a:rPr lang="en-US" sz="2400" b="1" dirty="0">
                <a:solidFill>
                  <a:srgbClr val="2C5F2D"/>
                </a:solidFill>
                <a:latin typeface="Cambria" pitchFamily="34" charset="0"/>
                <a:ea typeface="Cambria" pitchFamily="34" charset="-122"/>
                <a:cs typeface="Cambria" pitchFamily="34" charset="-120"/>
              </a:rPr>
              <a:t>2</a:t>
            </a:r>
            <a:endParaRPr lang="en-US" sz="2400" dirty="0"/>
          </a:p>
        </p:txBody>
      </p:sp>
      <p:sp>
        <p:nvSpPr>
          <p:cNvPr id="29" name="Text 10">
            <a:extLst>
              <a:ext uri="{FF2B5EF4-FFF2-40B4-BE49-F238E27FC236}">
                <a16:creationId xmlns:a16="http://schemas.microsoft.com/office/drawing/2014/main" id="{53FAB414-9AEF-4650-80A7-132092480D07}"/>
              </a:ext>
            </a:extLst>
          </p:cNvPr>
          <p:cNvSpPr txBox="1"/>
          <p:nvPr/>
        </p:nvSpPr>
        <p:spPr>
          <a:xfrm>
            <a:off x="4687824" y="4297680"/>
            <a:ext cx="2834640" cy="86868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Curves &amp; matrices
</a:t>
            </a:r>
            <a:endParaRPr lang="en-US" sz="1800" dirty="0"/>
          </a:p>
          <a:p>
            <a:pPr marL="0" indent="0">
              <a:buNone/>
            </a:pPr>
            <a:r>
              <a:rPr lang="en-US" altLang="ko-KR" sz="1300" dirty="0">
                <a:solidFill>
                  <a:srgbClr val="D9E4CF"/>
                </a:solidFill>
                <a:latin typeface="Calibri" pitchFamily="34" charset="0"/>
                <a:ea typeface="Malgun Gothic"/>
                <a:cs typeface="Calibri" pitchFamily="34" charset="-120"/>
              </a:rPr>
              <a:t>곡선·혼동 행렬</a:t>
            </a:r>
            <a:endParaRPr lang="en-US" sz="1800" dirty="0"/>
          </a:p>
        </p:txBody>
      </p:sp>
      <p:sp>
        <p:nvSpPr>
          <p:cNvPr id="30" name="Text 11">
            <a:extLst>
              <a:ext uri="{FF2B5EF4-FFF2-40B4-BE49-F238E27FC236}">
                <a16:creationId xmlns:a16="http://schemas.microsoft.com/office/drawing/2014/main" id="{BA1D42DE-C9AD-4FE5-8A26-B740074775A8}"/>
              </a:ext>
            </a:extLst>
          </p:cNvPr>
          <p:cNvSpPr txBox="1"/>
          <p:nvPr/>
        </p:nvSpPr>
        <p:spPr>
          <a:xfrm>
            <a:off x="4687824" y="5166360"/>
            <a:ext cx="2834640" cy="822960"/>
          </a:xfrm>
          <a:prstGeom prst="rect">
            <a:avLst/>
          </a:prstGeom>
          <a:noFill/>
          <a:ln/>
        </p:spPr>
        <p:txBody>
          <a:bodyPr wrap="square" lIns="0" tIns="0" rIns="0" bIns="0" rtlCol="0" anchor="ctr"/>
          <a:lstStyle/>
          <a:p>
            <a:pPr marL="0" indent="0">
              <a:buNone/>
            </a:pPr>
            <a:r>
              <a:rPr lang="en-US" sz="1250" dirty="0">
                <a:solidFill>
                  <a:srgbClr val="EAF0E0"/>
                </a:solidFill>
                <a:latin typeface="Calibri" pitchFamily="34" charset="0"/>
                <a:ea typeface="Calibri" pitchFamily="34" charset="-122"/>
                <a:cs typeface="Calibri" pitchFamily="34" charset="-120"/>
              </a:rPr>
              <a:t>Performance</a:t>
            </a:r>
            <a:r>
              <a:rPr lang="ko-KR" altLang="en-US" sz="1250" dirty="0">
                <a:solidFill>
                  <a:srgbClr val="EAF0E0"/>
                </a:solidFill>
                <a:latin typeface="Calibri" pitchFamily="34" charset="0"/>
                <a:ea typeface="Calibri" pitchFamily="34" charset="-122"/>
                <a:cs typeface="Calibri" pitchFamily="34" charset="-120"/>
              </a:rPr>
              <a:t> </a:t>
            </a:r>
            <a:r>
              <a:rPr lang="en-US" altLang="ko-KR" sz="1250" dirty="0">
                <a:solidFill>
                  <a:srgbClr val="EAF0E0"/>
                </a:solidFill>
                <a:latin typeface="Calibri" pitchFamily="34" charset="0"/>
                <a:ea typeface="Calibri" pitchFamily="34" charset="-122"/>
                <a:cs typeface="Calibri" pitchFamily="34" charset="-120"/>
              </a:rPr>
              <a:t>graph</a:t>
            </a:r>
            <a:r>
              <a:rPr lang="en-US" sz="1250" dirty="0">
                <a:solidFill>
                  <a:srgbClr val="EAF0E0"/>
                </a:solidFill>
                <a:latin typeface="Calibri" pitchFamily="34" charset="0"/>
                <a:ea typeface="Calibri" pitchFamily="34" charset="-122"/>
                <a:cs typeface="Calibri" pitchFamily="34" charset="-120"/>
              </a:rPr>
              <a:t> and a confusion matrix for each of the four optimizers.</a:t>
            </a:r>
            <a:endParaRPr lang="en-US" sz="1250" dirty="0"/>
          </a:p>
        </p:txBody>
      </p:sp>
      <p:sp>
        <p:nvSpPr>
          <p:cNvPr id="31" name="Shape 12">
            <a:extLst>
              <a:ext uri="{FF2B5EF4-FFF2-40B4-BE49-F238E27FC236}">
                <a16:creationId xmlns:a16="http://schemas.microsoft.com/office/drawing/2014/main" id="{9640ADA8-C8FD-4957-A8AD-68261BA34C78}"/>
              </a:ext>
            </a:extLst>
          </p:cNvPr>
          <p:cNvSpPr/>
          <p:nvPr/>
        </p:nvSpPr>
        <p:spPr>
          <a:xfrm>
            <a:off x="7970520" y="3063240"/>
            <a:ext cx="3456432" cy="3017520"/>
          </a:xfrm>
          <a:prstGeom prst="roundRect">
            <a:avLst>
              <a:gd name="adj" fmla="val 3030"/>
            </a:avLst>
          </a:prstGeom>
          <a:solidFill>
            <a:srgbClr val="FFFFFF"/>
          </a:solidFill>
          <a:ln w="12700">
            <a:solidFill>
              <a:srgbClr val="97BC62"/>
            </a:solidFill>
            <a:prstDash val="solid"/>
          </a:ln>
        </p:spPr>
      </p:sp>
      <p:sp>
        <p:nvSpPr>
          <p:cNvPr id="32" name="Shape 13">
            <a:extLst>
              <a:ext uri="{FF2B5EF4-FFF2-40B4-BE49-F238E27FC236}">
                <a16:creationId xmlns:a16="http://schemas.microsoft.com/office/drawing/2014/main" id="{7AF16B2D-2E9D-445A-A128-0CC0941FEBF7}"/>
              </a:ext>
            </a:extLst>
          </p:cNvPr>
          <p:cNvSpPr/>
          <p:nvPr/>
        </p:nvSpPr>
        <p:spPr>
          <a:xfrm>
            <a:off x="8290560" y="3383280"/>
            <a:ext cx="731520" cy="731520"/>
          </a:xfrm>
          <a:prstGeom prst="ellipse">
            <a:avLst/>
          </a:prstGeom>
          <a:solidFill>
            <a:srgbClr val="B5303B"/>
          </a:solidFill>
          <a:ln/>
        </p:spPr>
      </p:sp>
      <p:sp>
        <p:nvSpPr>
          <p:cNvPr id="33" name="Text 14">
            <a:extLst>
              <a:ext uri="{FF2B5EF4-FFF2-40B4-BE49-F238E27FC236}">
                <a16:creationId xmlns:a16="http://schemas.microsoft.com/office/drawing/2014/main" id="{A324EB31-981E-45DD-9C98-82720663AF8D}"/>
              </a:ext>
            </a:extLst>
          </p:cNvPr>
          <p:cNvSpPr txBox="1"/>
          <p:nvPr/>
        </p:nvSpPr>
        <p:spPr>
          <a:xfrm>
            <a:off x="8290560" y="338328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34" name="Text 15">
            <a:extLst>
              <a:ext uri="{FF2B5EF4-FFF2-40B4-BE49-F238E27FC236}">
                <a16:creationId xmlns:a16="http://schemas.microsoft.com/office/drawing/2014/main" id="{B3011237-2848-41D6-A700-12BAF86939BC}"/>
              </a:ext>
            </a:extLst>
          </p:cNvPr>
          <p:cNvSpPr txBox="1"/>
          <p:nvPr/>
        </p:nvSpPr>
        <p:spPr>
          <a:xfrm>
            <a:off x="8290560" y="4297680"/>
            <a:ext cx="2834640" cy="868680"/>
          </a:xfrm>
          <a:prstGeom prst="rect">
            <a:avLst/>
          </a:prstGeom>
          <a:noFill/>
          <a:ln/>
        </p:spPr>
        <p:txBody>
          <a:bodyPr wrap="square" lIns="0" tIns="0" rIns="0" bIns="0" rtlCol="0" anchor="ctr"/>
          <a:lstStyle/>
          <a:p>
            <a:pPr marL="0" indent="0">
              <a:buNone/>
            </a:pPr>
            <a:r>
              <a:rPr lang="en-US" sz="1800" b="1" dirty="0">
                <a:solidFill>
                  <a:srgbClr val="23301C"/>
                </a:solidFill>
                <a:latin typeface="Cambria" pitchFamily="34" charset="0"/>
                <a:ea typeface="Cambria" pitchFamily="34" charset="-122"/>
                <a:cs typeface="Cambria" pitchFamily="34" charset="-120"/>
              </a:rPr>
              <a:t>Per-disease metrics
</a:t>
            </a:r>
            <a:endParaRPr lang="en-US" sz="1800" dirty="0"/>
          </a:p>
          <a:p>
            <a:pPr marL="0" indent="0">
              <a:buNone/>
            </a:pPr>
            <a:r>
              <a:rPr lang="en-US" altLang="ko-KR" sz="1300" dirty="0">
                <a:solidFill>
                  <a:srgbClr val="B5303B"/>
                </a:solidFill>
                <a:latin typeface="Calibri" pitchFamily="34" charset="0"/>
                <a:ea typeface="Malgun Gothic"/>
                <a:cs typeface="Calibri" pitchFamily="34" charset="-120"/>
              </a:rPr>
              <a:t>질병별 지표</a:t>
            </a:r>
            <a:endParaRPr lang="en-US" sz="1800" dirty="0"/>
          </a:p>
        </p:txBody>
      </p:sp>
      <p:sp>
        <p:nvSpPr>
          <p:cNvPr id="35" name="Text 16">
            <a:extLst>
              <a:ext uri="{FF2B5EF4-FFF2-40B4-BE49-F238E27FC236}">
                <a16:creationId xmlns:a16="http://schemas.microsoft.com/office/drawing/2014/main" id="{2CE34746-DFD3-4A8B-8CE7-C0732B24409C}"/>
              </a:ext>
            </a:extLst>
          </p:cNvPr>
          <p:cNvSpPr txBox="1"/>
          <p:nvPr/>
        </p:nvSpPr>
        <p:spPr>
          <a:xfrm>
            <a:off x="8290560" y="5166360"/>
            <a:ext cx="2834640" cy="822960"/>
          </a:xfrm>
          <a:prstGeom prst="rect">
            <a:avLst/>
          </a:prstGeom>
          <a:noFill/>
          <a:ln/>
        </p:spPr>
        <p:txBody>
          <a:bodyPr wrap="square" lIns="0" tIns="0" rIns="0" bIns="0" rtlCol="0" anchor="ctr"/>
          <a:lstStyle/>
          <a:p>
            <a:pPr marL="0" indent="0">
              <a:buNone/>
            </a:pPr>
            <a:r>
              <a:rPr lang="en-US" sz="1250" dirty="0">
                <a:solidFill>
                  <a:srgbClr val="5A6B4D"/>
                </a:solidFill>
                <a:latin typeface="Calibri" pitchFamily="34" charset="0"/>
                <a:ea typeface="Calibri" pitchFamily="34" charset="-122"/>
                <a:cs typeface="Calibri" pitchFamily="34" charset="-120"/>
              </a:rPr>
              <a:t>Precision, recall, F1 per class, with macro and weighted averages.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INPUT DATA  (입력 데이터)</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The dataset</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데이터셋  ·  Roboflow Universe 공개 데이터</a:t>
            </a:r>
            <a:endParaRPr lang="en-US" sz="3000" dirty="0"/>
          </a:p>
        </p:txBody>
      </p:sp>
      <p:sp>
        <p:nvSpPr>
          <p:cNvPr id="4" name="Shape 2"/>
          <p:cNvSpPr/>
          <p:nvPr/>
        </p:nvSpPr>
        <p:spPr>
          <a:xfrm>
            <a:off x="822960" y="2011680"/>
            <a:ext cx="5074920" cy="4206240"/>
          </a:xfrm>
          <a:prstGeom prst="roundRect">
            <a:avLst>
              <a:gd name="adj" fmla="val 2174"/>
            </a:avLst>
          </a:prstGeom>
          <a:solidFill>
            <a:srgbClr val="FFFFFF"/>
          </a:solidFill>
          <a:ln w="12700">
            <a:solidFill>
              <a:srgbClr val="97BC62"/>
            </a:solidFill>
            <a:prstDash val="solid"/>
          </a:ln>
        </p:spPr>
      </p:sp>
      <p:sp>
        <p:nvSpPr>
          <p:cNvPr id="5" name="Text 3"/>
          <p:cNvSpPr txBox="1"/>
          <p:nvPr/>
        </p:nvSpPr>
        <p:spPr>
          <a:xfrm>
            <a:off x="1097280" y="2240280"/>
            <a:ext cx="4572000" cy="365760"/>
          </a:xfrm>
          <a:prstGeom prst="rect">
            <a:avLst/>
          </a:prstGeom>
          <a:noFill/>
          <a:ln/>
        </p:spPr>
        <p:txBody>
          <a:bodyPr wrap="square" lIns="0" tIns="0" rIns="0" bIns="0"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Strawberry Disease Detection Dataset</a:t>
            </a:r>
            <a:endParaRPr lang="en-US" sz="1600" dirty="0"/>
          </a:p>
        </p:txBody>
      </p:sp>
      <p:sp>
        <p:nvSpPr>
          <p:cNvPr id="6" name="Text 4"/>
          <p:cNvSpPr txBox="1"/>
          <p:nvPr/>
        </p:nvSpPr>
        <p:spPr>
          <a:xfrm>
            <a:off x="1097280" y="2606040"/>
            <a:ext cx="4572000" cy="274320"/>
          </a:xfrm>
          <a:prstGeom prst="rect">
            <a:avLst/>
          </a:prstGeom>
          <a:noFill/>
          <a:ln/>
        </p:spPr>
        <p:txBody>
          <a:bodyPr wrap="square" lIns="0" tIns="0" rIns="0" bIns="0" rtlCol="0" anchor="ctr"/>
          <a:lstStyle/>
          <a:p>
            <a:pPr marL="0" indent="0">
              <a:buNone/>
            </a:pPr>
            <a:r>
              <a:rPr lang="en-US" sz="1150" i="1" dirty="0">
                <a:solidFill>
                  <a:srgbClr val="5A6B4D"/>
                </a:solidFill>
                <a:latin typeface="Calibri" pitchFamily="34" charset="0"/>
                <a:ea typeface="Calibri" pitchFamily="34" charset="-122"/>
                <a:cs typeface="Calibri" pitchFamily="34" charset="-120"/>
              </a:rPr>
              <a:t>Roboflow Universe  ·  strawberry-disease</a:t>
            </a:r>
            <a:endParaRPr lang="en-US" sz="1150" dirty="0"/>
          </a:p>
        </p:txBody>
      </p:sp>
      <p:sp>
        <p:nvSpPr>
          <p:cNvPr id="7" name="Text 5"/>
          <p:cNvSpPr txBox="1"/>
          <p:nvPr/>
        </p:nvSpPr>
        <p:spPr>
          <a:xfrm>
            <a:off x="1097280" y="3063240"/>
            <a:ext cx="3200400" cy="384048"/>
          </a:xfrm>
          <a:prstGeom prst="rect">
            <a:avLst/>
          </a:prstGeom>
          <a:noFill/>
          <a:ln/>
        </p:spPr>
        <p:txBody>
          <a:bodyPr wrap="square" lIns="0" tIns="0" rIns="0" bIns="0" rtlCol="0" anchor="ctr"/>
          <a:lstStyle/>
          <a:p>
            <a:pPr marL="0" indent="0">
              <a:buNone/>
            </a:pPr>
            <a:r>
              <a:rPr lang="en-US" altLang="ko-KR" sz="1300" dirty="0">
                <a:solidFill>
                  <a:srgbClr val="23301C"/>
                </a:solidFill>
                <a:latin typeface="Calibri" pitchFamily="34" charset="0"/>
                <a:ea typeface="Malgun Gothic"/>
                <a:cs typeface="Calibri" pitchFamily="34" charset="-120"/>
              </a:rPr>
              <a:t>Total images (전체 이미지)</a:t>
            </a:r>
            <a:endParaRPr lang="en-US" sz="1300" dirty="0"/>
          </a:p>
        </p:txBody>
      </p:sp>
      <p:sp>
        <p:nvSpPr>
          <p:cNvPr id="8" name="Text 6"/>
          <p:cNvSpPr txBox="1"/>
          <p:nvPr/>
        </p:nvSpPr>
        <p:spPr>
          <a:xfrm>
            <a:off x="4297680" y="3063240"/>
            <a:ext cx="1417320" cy="384048"/>
          </a:xfrm>
          <a:prstGeom prst="rect">
            <a:avLst/>
          </a:prstGeom>
          <a:noFill/>
          <a:ln/>
        </p:spPr>
        <p:txBody>
          <a:bodyPr wrap="square" lIns="0" tIns="0" rIns="0" bIns="0" rtlCol="0" anchor="ctr"/>
          <a:lstStyle/>
          <a:p>
            <a:pPr marL="0" indent="0" algn="r">
              <a:buNone/>
            </a:pPr>
            <a:r>
              <a:rPr lang="en-US" sz="1400" b="1" dirty="0">
                <a:solidFill>
                  <a:srgbClr val="B5303B"/>
                </a:solidFill>
                <a:latin typeface="Cambria" pitchFamily="34" charset="0"/>
                <a:ea typeface="Cambria" pitchFamily="34" charset="-122"/>
                <a:cs typeface="Cambria" pitchFamily="34" charset="-120"/>
              </a:rPr>
              <a:t>4,918</a:t>
            </a:r>
            <a:endParaRPr lang="en-US" sz="1400" dirty="0"/>
          </a:p>
        </p:txBody>
      </p:sp>
      <p:sp>
        <p:nvSpPr>
          <p:cNvPr id="9" name="Text 7"/>
          <p:cNvSpPr txBox="1"/>
          <p:nvPr/>
        </p:nvSpPr>
        <p:spPr>
          <a:xfrm>
            <a:off x="1097280" y="3666744"/>
            <a:ext cx="3200400" cy="384048"/>
          </a:xfrm>
          <a:prstGeom prst="rect">
            <a:avLst/>
          </a:prstGeom>
          <a:noFill/>
          <a:ln/>
        </p:spPr>
        <p:txBody>
          <a:bodyPr wrap="square" lIns="0" tIns="0" rIns="0" bIns="0" rtlCol="0" anchor="ctr"/>
          <a:lstStyle/>
          <a:p>
            <a:pPr marL="0" indent="0">
              <a:buNone/>
            </a:pPr>
            <a:r>
              <a:rPr lang="en-US" altLang="ko-KR" sz="1300" dirty="0">
                <a:solidFill>
                  <a:srgbClr val="23301C"/>
                </a:solidFill>
                <a:latin typeface="Calibri" pitchFamily="34" charset="0"/>
                <a:ea typeface="Malgun Gothic"/>
                <a:cs typeface="Calibri" pitchFamily="34" charset="-120"/>
              </a:rPr>
              <a:t>License (라이선스)</a:t>
            </a:r>
            <a:endParaRPr lang="en-US" sz="1300" dirty="0"/>
          </a:p>
        </p:txBody>
      </p:sp>
      <p:sp>
        <p:nvSpPr>
          <p:cNvPr id="10" name="Text 8"/>
          <p:cNvSpPr txBox="1"/>
          <p:nvPr/>
        </p:nvSpPr>
        <p:spPr>
          <a:xfrm>
            <a:off x="4297680" y="3666744"/>
            <a:ext cx="1417320" cy="384048"/>
          </a:xfrm>
          <a:prstGeom prst="rect">
            <a:avLst/>
          </a:prstGeom>
          <a:noFill/>
          <a:ln/>
        </p:spPr>
        <p:txBody>
          <a:bodyPr wrap="square" lIns="0" tIns="0" rIns="0" bIns="0" rtlCol="0" anchor="ctr"/>
          <a:lstStyle/>
          <a:p>
            <a:pPr marL="0" indent="0" algn="r">
              <a:buNone/>
            </a:pPr>
            <a:r>
              <a:rPr lang="en-US" sz="1400" b="1" dirty="0">
                <a:solidFill>
                  <a:srgbClr val="B5303B"/>
                </a:solidFill>
                <a:latin typeface="Cambria" pitchFamily="34" charset="0"/>
                <a:ea typeface="Cambria" pitchFamily="34" charset="-122"/>
                <a:cs typeface="Cambria" pitchFamily="34" charset="-120"/>
              </a:rPr>
              <a:t>CC BY 4.0</a:t>
            </a:r>
            <a:endParaRPr lang="en-US" sz="1400" dirty="0"/>
          </a:p>
        </p:txBody>
      </p:sp>
      <p:sp>
        <p:nvSpPr>
          <p:cNvPr id="11" name="Text 9"/>
          <p:cNvSpPr txBox="1"/>
          <p:nvPr/>
        </p:nvSpPr>
        <p:spPr>
          <a:xfrm>
            <a:off x="1097280" y="4270248"/>
            <a:ext cx="3200400" cy="384048"/>
          </a:xfrm>
          <a:prstGeom prst="rect">
            <a:avLst/>
          </a:prstGeom>
          <a:noFill/>
          <a:ln/>
        </p:spPr>
        <p:txBody>
          <a:bodyPr wrap="square" lIns="0" tIns="0" rIns="0" bIns="0" rtlCol="0" anchor="ctr"/>
          <a:lstStyle/>
          <a:p>
            <a:pPr marL="0" indent="0">
              <a:buNone/>
            </a:pPr>
            <a:r>
              <a:rPr lang="en-US" altLang="ko-KR" sz="1300" dirty="0">
                <a:solidFill>
                  <a:srgbClr val="23301C"/>
                </a:solidFill>
                <a:latin typeface="Calibri" pitchFamily="34" charset="0"/>
                <a:ea typeface="Malgun Gothic"/>
                <a:cs typeface="Calibri" pitchFamily="34" charset="-120"/>
              </a:rPr>
              <a:t>Label format (라벨 형식)</a:t>
            </a:r>
            <a:endParaRPr lang="en-US" sz="1300" dirty="0"/>
          </a:p>
        </p:txBody>
      </p:sp>
      <p:sp>
        <p:nvSpPr>
          <p:cNvPr id="12" name="Text 10"/>
          <p:cNvSpPr txBox="1"/>
          <p:nvPr/>
        </p:nvSpPr>
        <p:spPr>
          <a:xfrm>
            <a:off x="4297680" y="4270248"/>
            <a:ext cx="1417320" cy="384048"/>
          </a:xfrm>
          <a:prstGeom prst="rect">
            <a:avLst/>
          </a:prstGeom>
          <a:noFill/>
          <a:ln/>
        </p:spPr>
        <p:txBody>
          <a:bodyPr wrap="square" lIns="0" tIns="0" rIns="0" bIns="0" rtlCol="0" anchor="ctr"/>
          <a:lstStyle/>
          <a:p>
            <a:pPr marL="0" indent="0" algn="r">
              <a:buNone/>
            </a:pPr>
            <a:r>
              <a:rPr lang="en-US" sz="1400" b="1" dirty="0">
                <a:solidFill>
                  <a:srgbClr val="B5303B"/>
                </a:solidFill>
                <a:latin typeface="Cambria" pitchFamily="34" charset="0"/>
                <a:ea typeface="Cambria" pitchFamily="34" charset="-122"/>
                <a:cs typeface="Cambria" pitchFamily="34" charset="-120"/>
              </a:rPr>
              <a:t>YOLOv8</a:t>
            </a:r>
            <a:endParaRPr lang="en-US" sz="1400" dirty="0"/>
          </a:p>
        </p:txBody>
      </p:sp>
      <p:sp>
        <p:nvSpPr>
          <p:cNvPr id="13" name="Text 11"/>
          <p:cNvSpPr txBox="1"/>
          <p:nvPr/>
        </p:nvSpPr>
        <p:spPr>
          <a:xfrm>
            <a:off x="1097280" y="4873752"/>
            <a:ext cx="3200400" cy="384048"/>
          </a:xfrm>
          <a:prstGeom prst="rect">
            <a:avLst/>
          </a:prstGeom>
          <a:noFill/>
          <a:ln/>
        </p:spPr>
        <p:txBody>
          <a:bodyPr wrap="square" lIns="0" tIns="0" rIns="0" bIns="0" rtlCol="0" anchor="ctr"/>
          <a:lstStyle/>
          <a:p>
            <a:pPr marL="0" indent="0">
              <a:buNone/>
            </a:pPr>
            <a:r>
              <a:rPr lang="en-US" altLang="ko-KR" sz="1300" dirty="0">
                <a:solidFill>
                  <a:srgbClr val="23301C"/>
                </a:solidFill>
                <a:latin typeface="Calibri" pitchFamily="34" charset="0"/>
                <a:ea typeface="Malgun Gothic"/>
                <a:cs typeface="Calibri" pitchFamily="34" charset="-120"/>
              </a:rPr>
              <a:t>Resize (크기 조정)</a:t>
            </a:r>
            <a:endParaRPr lang="en-US" sz="1300" dirty="0"/>
          </a:p>
        </p:txBody>
      </p:sp>
      <p:sp>
        <p:nvSpPr>
          <p:cNvPr id="14" name="Text 12"/>
          <p:cNvSpPr txBox="1"/>
          <p:nvPr/>
        </p:nvSpPr>
        <p:spPr>
          <a:xfrm>
            <a:off x="4297680" y="4873752"/>
            <a:ext cx="1417320" cy="384048"/>
          </a:xfrm>
          <a:prstGeom prst="rect">
            <a:avLst/>
          </a:prstGeom>
          <a:noFill/>
          <a:ln/>
        </p:spPr>
        <p:txBody>
          <a:bodyPr wrap="square" lIns="0" tIns="0" rIns="0" bIns="0" rtlCol="0" anchor="ctr"/>
          <a:lstStyle/>
          <a:p>
            <a:pPr marL="0" indent="0" algn="r">
              <a:buNone/>
            </a:pPr>
            <a:r>
              <a:rPr lang="en-US" sz="1400" b="1" dirty="0">
                <a:solidFill>
                  <a:srgbClr val="B5303B"/>
                </a:solidFill>
                <a:latin typeface="Cambria" pitchFamily="34" charset="0"/>
                <a:ea typeface="Cambria" pitchFamily="34" charset="-122"/>
                <a:cs typeface="Cambria" pitchFamily="34" charset="-120"/>
              </a:rPr>
              <a:t>280 × 280</a:t>
            </a:r>
            <a:endParaRPr lang="en-US" sz="1400" dirty="0"/>
          </a:p>
        </p:txBody>
      </p:sp>
      <p:sp>
        <p:nvSpPr>
          <p:cNvPr id="15" name="Text 13"/>
          <p:cNvSpPr txBox="1"/>
          <p:nvPr/>
        </p:nvSpPr>
        <p:spPr>
          <a:xfrm>
            <a:off x="1097280" y="5477256"/>
            <a:ext cx="3200400" cy="384048"/>
          </a:xfrm>
          <a:prstGeom prst="rect">
            <a:avLst/>
          </a:prstGeom>
          <a:noFill/>
          <a:ln/>
        </p:spPr>
        <p:txBody>
          <a:bodyPr wrap="square" lIns="0" tIns="0" rIns="0" bIns="0" rtlCol="0" anchor="ctr"/>
          <a:lstStyle/>
          <a:p>
            <a:pPr marL="0" indent="0">
              <a:buNone/>
            </a:pPr>
            <a:r>
              <a:rPr lang="en-US" altLang="ko-KR" sz="1300" dirty="0">
                <a:solidFill>
                  <a:srgbClr val="23301C"/>
                </a:solidFill>
                <a:latin typeface="Calibri" pitchFamily="34" charset="0"/>
                <a:ea typeface="Malgun Gothic"/>
                <a:cs typeface="Calibri" pitchFamily="34" charset="-120"/>
              </a:rPr>
              <a:t>Augmentation (증강)</a:t>
            </a:r>
            <a:endParaRPr lang="en-US" sz="1300" dirty="0"/>
          </a:p>
        </p:txBody>
      </p:sp>
      <p:sp>
        <p:nvSpPr>
          <p:cNvPr id="16" name="Text 14"/>
          <p:cNvSpPr txBox="1"/>
          <p:nvPr/>
        </p:nvSpPr>
        <p:spPr>
          <a:xfrm>
            <a:off x="4297680" y="5477256"/>
            <a:ext cx="1417320" cy="384048"/>
          </a:xfrm>
          <a:prstGeom prst="rect">
            <a:avLst/>
          </a:prstGeom>
          <a:noFill/>
          <a:ln/>
        </p:spPr>
        <p:txBody>
          <a:bodyPr wrap="square" lIns="0" tIns="0" rIns="0" bIns="0" rtlCol="0" anchor="ctr"/>
          <a:lstStyle/>
          <a:p>
            <a:pPr marL="0" indent="0" algn="r">
              <a:buNone/>
            </a:pPr>
            <a:r>
              <a:rPr lang="en-US" sz="1400" b="1" dirty="0">
                <a:solidFill>
                  <a:srgbClr val="B5303B"/>
                </a:solidFill>
                <a:latin typeface="Cambria" pitchFamily="34" charset="0"/>
                <a:ea typeface="Cambria" pitchFamily="34" charset="-122"/>
                <a:cs typeface="Cambria" pitchFamily="34" charset="-120"/>
              </a:rPr>
              <a:t>None applied</a:t>
            </a:r>
            <a:endParaRPr lang="en-US" sz="1400" dirty="0"/>
          </a:p>
        </p:txBody>
      </p:sp>
      <p:sp>
        <p:nvSpPr>
          <p:cNvPr id="17" name="Text 15"/>
          <p:cNvSpPr txBox="1"/>
          <p:nvPr/>
        </p:nvSpPr>
        <p:spPr>
          <a:xfrm>
            <a:off x="6172200" y="2011680"/>
            <a:ext cx="5120640" cy="320040"/>
          </a:xfrm>
          <a:prstGeom prst="rect">
            <a:avLst/>
          </a:prstGeom>
          <a:noFill/>
          <a:ln/>
        </p:spPr>
        <p:txBody>
          <a:bodyPr wrap="square" lIns="0" tIns="0" rIns="0" bIns="0" rtlCol="0" anchor="ctr"/>
          <a:lstStyle/>
          <a:p>
            <a:pPr marL="0" indent="0">
              <a:buNone/>
            </a:pPr>
            <a:r>
              <a:rPr lang="en-US" altLang="ko-KR" sz="1250" b="1" dirty="0">
                <a:solidFill>
                  <a:srgbClr val="5A6B4D"/>
                </a:solidFill>
                <a:latin typeface="Calibri" pitchFamily="34" charset="0"/>
                <a:ea typeface="Malgun Gothic"/>
                <a:cs typeface="Calibri" pitchFamily="34" charset="-120"/>
              </a:rPr>
              <a:t>Original split (7 classes)  ·  원본 분할</a:t>
            </a:r>
            <a:endParaRPr lang="en-US" sz="1250" dirty="0"/>
          </a:p>
        </p:txBody>
      </p:sp>
      <p:sp>
        <p:nvSpPr>
          <p:cNvPr id="18" name="Shape 16"/>
          <p:cNvSpPr/>
          <p:nvPr/>
        </p:nvSpPr>
        <p:spPr>
          <a:xfrm>
            <a:off x="6172200" y="2468880"/>
            <a:ext cx="5120640" cy="1078992"/>
          </a:xfrm>
          <a:prstGeom prst="roundRect">
            <a:avLst>
              <a:gd name="adj" fmla="val 7627"/>
            </a:avLst>
          </a:prstGeom>
          <a:solidFill>
            <a:srgbClr val="2C5F2D"/>
          </a:solidFill>
          <a:ln/>
        </p:spPr>
      </p:sp>
      <p:sp>
        <p:nvSpPr>
          <p:cNvPr id="19" name="Text 17"/>
          <p:cNvSpPr txBox="1"/>
          <p:nvPr/>
        </p:nvSpPr>
        <p:spPr>
          <a:xfrm>
            <a:off x="6355080" y="2468880"/>
            <a:ext cx="1828800" cy="1078992"/>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3,440</a:t>
            </a:r>
            <a:endParaRPr lang="en-US" sz="4000" dirty="0"/>
          </a:p>
        </p:txBody>
      </p:sp>
      <p:sp>
        <p:nvSpPr>
          <p:cNvPr id="20" name="Text 18"/>
          <p:cNvSpPr txBox="1"/>
          <p:nvPr/>
        </p:nvSpPr>
        <p:spPr>
          <a:xfrm>
            <a:off x="8503920" y="2468880"/>
            <a:ext cx="2651760" cy="1078992"/>
          </a:xfrm>
          <a:prstGeom prst="rect">
            <a:avLst/>
          </a:prstGeom>
          <a:noFill/>
          <a:ln/>
        </p:spPr>
        <p:txBody>
          <a:bodyPr wrap="square" lIns="635" tIns="635" rIns="635" bIns="635" rtlCol="0" anchor="ctr"/>
          <a:lstStyle/>
          <a:p>
            <a:pPr marL="0" indent="0" algn="r">
              <a:buNone/>
            </a:pPr>
            <a:r>
              <a:rPr lang="en-US" sz="1700" b="1" dirty="0">
                <a:solidFill>
                  <a:srgbClr val="FFFFFF"/>
                </a:solidFill>
                <a:latin typeface="Cambria" pitchFamily="34" charset="0"/>
                <a:ea typeface="Cambria" pitchFamily="34" charset="-122"/>
                <a:cs typeface="Cambria" pitchFamily="34" charset="-120"/>
              </a:rPr>
              <a:t>Train set
</a:t>
            </a:r>
            <a:endParaRPr lang="en-US" sz="1700" dirty="0"/>
          </a:p>
          <a:p>
            <a:pPr marL="0" indent="0" algn="r">
              <a:buNone/>
            </a:pPr>
            <a:r>
              <a:rPr lang="en-US" altLang="ko-KR" sz="1300" dirty="0">
                <a:solidFill>
                  <a:srgbClr val="EAF0E0"/>
                </a:solidFill>
                <a:latin typeface="Calibri" pitchFamily="34" charset="0"/>
                <a:ea typeface="Malgun Gothic"/>
                <a:cs typeface="Calibri" pitchFamily="34" charset="-120"/>
              </a:rPr>
              <a:t>학습 세트</a:t>
            </a:r>
            <a:endParaRPr lang="en-US" sz="1700" dirty="0"/>
          </a:p>
        </p:txBody>
      </p:sp>
      <p:sp>
        <p:nvSpPr>
          <p:cNvPr id="21" name="Shape 19"/>
          <p:cNvSpPr/>
          <p:nvPr/>
        </p:nvSpPr>
        <p:spPr>
          <a:xfrm>
            <a:off x="6172200" y="3703320"/>
            <a:ext cx="5120640" cy="1078992"/>
          </a:xfrm>
          <a:prstGeom prst="roundRect">
            <a:avLst>
              <a:gd name="adj" fmla="val 7627"/>
            </a:avLst>
          </a:prstGeom>
          <a:solidFill>
            <a:srgbClr val="6B8E3D"/>
          </a:solidFill>
          <a:ln/>
        </p:spPr>
      </p:sp>
      <p:sp>
        <p:nvSpPr>
          <p:cNvPr id="22" name="Text 20"/>
          <p:cNvSpPr txBox="1"/>
          <p:nvPr/>
        </p:nvSpPr>
        <p:spPr>
          <a:xfrm>
            <a:off x="6355080" y="3703320"/>
            <a:ext cx="1828800" cy="1078992"/>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992</a:t>
            </a:r>
            <a:endParaRPr lang="en-US" sz="4000" dirty="0"/>
          </a:p>
        </p:txBody>
      </p:sp>
      <p:sp>
        <p:nvSpPr>
          <p:cNvPr id="23" name="Text 21"/>
          <p:cNvSpPr txBox="1"/>
          <p:nvPr/>
        </p:nvSpPr>
        <p:spPr>
          <a:xfrm>
            <a:off x="8503920" y="3703320"/>
            <a:ext cx="2651760" cy="1078992"/>
          </a:xfrm>
          <a:prstGeom prst="rect">
            <a:avLst/>
          </a:prstGeom>
          <a:noFill/>
          <a:ln/>
        </p:spPr>
        <p:txBody>
          <a:bodyPr wrap="square" lIns="635" tIns="635" rIns="635" bIns="635" rtlCol="0" anchor="ctr"/>
          <a:lstStyle/>
          <a:p>
            <a:pPr marL="0" indent="0" algn="r">
              <a:buNone/>
            </a:pPr>
            <a:r>
              <a:rPr lang="en-US" sz="1700" b="1" dirty="0">
                <a:solidFill>
                  <a:srgbClr val="FFFFFF"/>
                </a:solidFill>
                <a:latin typeface="Cambria" pitchFamily="34" charset="0"/>
                <a:ea typeface="Cambria" pitchFamily="34" charset="-122"/>
                <a:cs typeface="Cambria" pitchFamily="34" charset="-120"/>
              </a:rPr>
              <a:t>Valid set
</a:t>
            </a:r>
            <a:endParaRPr lang="en-US" sz="1700" dirty="0"/>
          </a:p>
          <a:p>
            <a:pPr marL="0" indent="0" algn="r">
              <a:buNone/>
            </a:pPr>
            <a:r>
              <a:rPr lang="en-US" altLang="ko-KR" sz="1300" dirty="0">
                <a:solidFill>
                  <a:srgbClr val="EAF0E0"/>
                </a:solidFill>
                <a:latin typeface="Calibri" pitchFamily="34" charset="0"/>
                <a:ea typeface="Malgun Gothic"/>
                <a:cs typeface="Calibri" pitchFamily="34" charset="-120"/>
              </a:rPr>
              <a:t>검증 세트</a:t>
            </a:r>
            <a:endParaRPr lang="en-US" sz="1700" dirty="0"/>
          </a:p>
        </p:txBody>
      </p:sp>
      <p:sp>
        <p:nvSpPr>
          <p:cNvPr id="24" name="Shape 22"/>
          <p:cNvSpPr/>
          <p:nvPr/>
        </p:nvSpPr>
        <p:spPr>
          <a:xfrm>
            <a:off x="6172200" y="4937760"/>
            <a:ext cx="5120640" cy="1078992"/>
          </a:xfrm>
          <a:prstGeom prst="roundRect">
            <a:avLst>
              <a:gd name="adj" fmla="val 7627"/>
            </a:avLst>
          </a:prstGeom>
          <a:solidFill>
            <a:srgbClr val="97BC62"/>
          </a:solidFill>
          <a:ln/>
        </p:spPr>
      </p:sp>
      <p:sp>
        <p:nvSpPr>
          <p:cNvPr id="25" name="Text 23"/>
          <p:cNvSpPr txBox="1"/>
          <p:nvPr/>
        </p:nvSpPr>
        <p:spPr>
          <a:xfrm>
            <a:off x="6355080" y="4937760"/>
            <a:ext cx="1828800" cy="1078992"/>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486</a:t>
            </a:r>
            <a:endParaRPr lang="en-US" sz="4000" dirty="0"/>
          </a:p>
        </p:txBody>
      </p:sp>
      <p:sp>
        <p:nvSpPr>
          <p:cNvPr id="26" name="Text 24"/>
          <p:cNvSpPr txBox="1"/>
          <p:nvPr/>
        </p:nvSpPr>
        <p:spPr>
          <a:xfrm>
            <a:off x="8503920" y="4937760"/>
            <a:ext cx="2651760" cy="1078992"/>
          </a:xfrm>
          <a:prstGeom prst="rect">
            <a:avLst/>
          </a:prstGeom>
          <a:noFill/>
          <a:ln/>
        </p:spPr>
        <p:txBody>
          <a:bodyPr wrap="square" lIns="635" tIns="635" rIns="635" bIns="635" rtlCol="0" anchor="ctr"/>
          <a:lstStyle/>
          <a:p>
            <a:pPr marL="0" indent="0" algn="r">
              <a:buNone/>
            </a:pPr>
            <a:r>
              <a:rPr lang="en-US" sz="1700" b="1" dirty="0">
                <a:solidFill>
                  <a:srgbClr val="FFFFFF"/>
                </a:solidFill>
                <a:latin typeface="Cambria" pitchFamily="34" charset="0"/>
                <a:ea typeface="Cambria" pitchFamily="34" charset="-122"/>
                <a:cs typeface="Cambria" pitchFamily="34" charset="-120"/>
              </a:rPr>
              <a:t>Test set
</a:t>
            </a:r>
            <a:endParaRPr lang="en-US" sz="1700" dirty="0"/>
          </a:p>
          <a:p>
            <a:pPr marL="0" indent="0" algn="r">
              <a:buNone/>
            </a:pPr>
            <a:r>
              <a:rPr lang="en-US" altLang="ko-KR" sz="1300" dirty="0">
                <a:solidFill>
                  <a:srgbClr val="EAF0E0"/>
                </a:solidFill>
                <a:latin typeface="Calibri" pitchFamily="34" charset="0"/>
                <a:ea typeface="Malgun Gothic"/>
                <a:cs typeface="Calibri" pitchFamily="34" charset="-120"/>
              </a:rPr>
              <a:t>테스트 세트</a:t>
            </a:r>
            <a:endParaRPr lang="en-US" sz="1700" dirty="0"/>
          </a:p>
        </p:txBody>
      </p:sp>
      <p:sp>
        <p:nvSpPr>
          <p:cNvPr id="27" name="Text 25"/>
          <p:cNvSpPr txBox="1"/>
          <p:nvPr/>
        </p:nvSpPr>
        <p:spPr>
          <a:xfrm>
            <a:off x="6172200" y="6144768"/>
            <a:ext cx="5120640" cy="548640"/>
          </a:xfrm>
          <a:prstGeom prst="rect">
            <a:avLst/>
          </a:prstGeom>
          <a:noFill/>
          <a:ln/>
        </p:spPr>
        <p:txBody>
          <a:bodyPr wrap="square" lIns="0" tIns="0" rIns="0" bIns="0" rtlCol="0" anchor="ctr"/>
          <a:lstStyle/>
          <a:p>
            <a:pPr marL="0" indent="0">
              <a:buNone/>
            </a:pPr>
            <a:r>
              <a:rPr lang="en-US" altLang="ko-KR" sz="1050" i="1" dirty="0">
                <a:solidFill>
                  <a:srgbClr val="5A6B4D"/>
                </a:solidFill>
                <a:latin typeface="Calibri" pitchFamily="34" charset="0"/>
                <a:ea typeface="Malgun Gothic"/>
                <a:cs typeface="Calibri" pitchFamily="34" charset="-120"/>
              </a:rPr>
              <a:t>These counts cover all 7 classes; the 3-class totals come from the cleaning step.  (이 수치는 7개 클래스 전체 기준이며, 3-클래스 합계는 정제 단계에서 산출됨)</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CLASS SELECTION  (클래스 선정)</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From 7 classes to 3 leaf diseases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7개 클래스에서 잎 질병 3종으로</a:t>
            </a:r>
            <a:endParaRPr lang="en-US" sz="3000" dirty="0"/>
          </a:p>
        </p:txBody>
      </p:sp>
      <p:sp>
        <p:nvSpPr>
          <p:cNvPr id="4" name="Text 2"/>
          <p:cNvSpPr txBox="1"/>
          <p:nvPr/>
        </p:nvSpPr>
        <p:spPr>
          <a:xfrm>
            <a:off x="822960" y="1965960"/>
            <a:ext cx="3977640" cy="320040"/>
          </a:xfrm>
          <a:prstGeom prst="rect">
            <a:avLst/>
          </a:prstGeom>
          <a:noFill/>
          <a:ln/>
        </p:spPr>
        <p:txBody>
          <a:bodyPr wrap="square" lIns="0" tIns="0" rIns="0" bIns="0" rtlCol="0" anchor="ctr"/>
          <a:lstStyle/>
          <a:p>
            <a:pPr marL="0" indent="0">
              <a:buNone/>
            </a:pPr>
            <a:r>
              <a:rPr lang="en-US" altLang="ko-KR" sz="1250" b="1" dirty="0">
                <a:solidFill>
                  <a:srgbClr val="5A6B4D"/>
                </a:solidFill>
                <a:latin typeface="Calibri" pitchFamily="34" charset="0"/>
                <a:ea typeface="Malgun Gothic"/>
                <a:cs typeface="Calibri" pitchFamily="34" charset="-120"/>
              </a:rPr>
              <a:t>7 original classes  ·  원본 7개 클래스</a:t>
            </a:r>
            <a:endParaRPr lang="en-US" sz="1250" dirty="0"/>
          </a:p>
        </p:txBody>
      </p:sp>
      <p:sp>
        <p:nvSpPr>
          <p:cNvPr id="5" name="Shape 3"/>
          <p:cNvSpPr/>
          <p:nvPr/>
        </p:nvSpPr>
        <p:spPr>
          <a:xfrm>
            <a:off x="822960" y="2377440"/>
            <a:ext cx="3977640" cy="512064"/>
          </a:xfrm>
          <a:prstGeom prst="roundRect">
            <a:avLst>
              <a:gd name="adj" fmla="val 10714"/>
            </a:avLst>
          </a:prstGeom>
          <a:solidFill>
            <a:srgbClr val="FFFFFF"/>
          </a:solidFill>
          <a:ln w="12700">
            <a:solidFill>
              <a:srgbClr val="6B8E3D"/>
            </a:solidFill>
            <a:prstDash val="solid"/>
          </a:ln>
        </p:spPr>
        <p:txBody>
          <a:bodyPr/>
          <a:lstStyle/>
          <a:p>
            <a:endParaRPr/>
          </a:p>
        </p:txBody>
      </p:sp>
      <p:sp>
        <p:nvSpPr>
          <p:cNvPr id="6" name="Shape 4"/>
          <p:cNvSpPr/>
          <p:nvPr/>
        </p:nvSpPr>
        <p:spPr>
          <a:xfrm>
            <a:off x="960120" y="2496312"/>
            <a:ext cx="229479" cy="274320"/>
          </a:xfrm>
          <a:prstGeom prst="ellipse">
            <a:avLst/>
          </a:prstGeom>
          <a:solidFill>
            <a:srgbClr val="2C5F2D"/>
          </a:solidFill>
          <a:ln/>
        </p:spPr>
        <p:txBody>
          <a:bodyPr/>
          <a:lstStyle/>
          <a:p>
            <a:endParaRPr/>
          </a:p>
        </p:txBody>
      </p:sp>
      <p:sp>
        <p:nvSpPr>
          <p:cNvPr id="7" name="Text 5"/>
          <p:cNvSpPr txBox="1"/>
          <p:nvPr/>
        </p:nvSpPr>
        <p:spPr>
          <a:xfrm>
            <a:off x="960120" y="2496312"/>
            <a:ext cx="229479"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8" name="Text 6"/>
          <p:cNvSpPr txBox="1"/>
          <p:nvPr/>
        </p:nvSpPr>
        <p:spPr>
          <a:xfrm>
            <a:off x="1371600" y="2377440"/>
            <a:ext cx="3442188" cy="512064"/>
          </a:xfrm>
          <a:prstGeom prst="rect">
            <a:avLst/>
          </a:prstGeom>
          <a:noFill/>
          <a:ln/>
        </p:spPr>
        <p:txBody>
          <a:bodyPr wrap="square" lIns="0" tIns="0" rIns="0" bIns="0" rtlCol="0" anchor="ctr"/>
          <a:lstStyle/>
          <a:p>
            <a:pPr marL="0" indent="0">
              <a:buNone/>
            </a:pPr>
            <a:r>
              <a:rPr lang="en-US" sz="1300" b="1" dirty="0">
                <a:solidFill>
                  <a:srgbClr val="23301C"/>
                </a:solidFill>
                <a:latin typeface="Calibri" pitchFamily="34" charset="0"/>
                <a:ea typeface="Calibri" pitchFamily="34" charset="-122"/>
                <a:cs typeface="Calibri" pitchFamily="34" charset="-120"/>
              </a:rPr>
              <a:t>Leaf spot  </a:t>
            </a:r>
            <a:r>
              <a:rPr lang="en-US" altLang="ko-KR" sz="1100" dirty="0">
                <a:solidFill>
                  <a:srgbClr val="5A6B4D"/>
                </a:solidFill>
                <a:latin typeface="Calibri" pitchFamily="34" charset="0"/>
                <a:ea typeface="Malgun Gothic"/>
                <a:cs typeface="Calibri" pitchFamily="34" charset="-120"/>
              </a:rPr>
              <a:t>(점무늬병)</a:t>
            </a:r>
            <a:endParaRPr lang="en-US" sz="1300" dirty="0"/>
          </a:p>
        </p:txBody>
      </p:sp>
      <p:sp>
        <p:nvSpPr>
          <p:cNvPr id="9" name="Shape 7"/>
          <p:cNvSpPr/>
          <p:nvPr/>
        </p:nvSpPr>
        <p:spPr>
          <a:xfrm>
            <a:off x="822960" y="2944368"/>
            <a:ext cx="3977640" cy="512064"/>
          </a:xfrm>
          <a:prstGeom prst="roundRect">
            <a:avLst>
              <a:gd name="adj" fmla="val 10714"/>
            </a:avLst>
          </a:prstGeom>
          <a:solidFill>
            <a:srgbClr val="FFFFFF"/>
          </a:solidFill>
          <a:ln w="12700">
            <a:solidFill>
              <a:srgbClr val="6B8E3D"/>
            </a:solidFill>
            <a:prstDash val="solid"/>
          </a:ln>
        </p:spPr>
        <p:txBody>
          <a:bodyPr/>
          <a:lstStyle/>
          <a:p>
            <a:endParaRPr/>
          </a:p>
        </p:txBody>
      </p:sp>
      <p:sp>
        <p:nvSpPr>
          <p:cNvPr id="10" name="Shape 8"/>
          <p:cNvSpPr/>
          <p:nvPr/>
        </p:nvSpPr>
        <p:spPr>
          <a:xfrm>
            <a:off x="960120" y="3063240"/>
            <a:ext cx="229479" cy="274320"/>
          </a:xfrm>
          <a:prstGeom prst="ellipse">
            <a:avLst/>
          </a:prstGeom>
          <a:solidFill>
            <a:srgbClr val="2C5F2D"/>
          </a:solidFill>
          <a:ln/>
        </p:spPr>
        <p:txBody>
          <a:bodyPr/>
          <a:lstStyle/>
          <a:p>
            <a:endParaRPr/>
          </a:p>
        </p:txBody>
      </p:sp>
      <p:sp>
        <p:nvSpPr>
          <p:cNvPr id="11" name="Text 9"/>
          <p:cNvSpPr txBox="1"/>
          <p:nvPr/>
        </p:nvSpPr>
        <p:spPr>
          <a:xfrm>
            <a:off x="960120" y="3063240"/>
            <a:ext cx="229479"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12" name="Text 10"/>
          <p:cNvSpPr txBox="1"/>
          <p:nvPr/>
        </p:nvSpPr>
        <p:spPr>
          <a:xfrm>
            <a:off x="1371600" y="2944368"/>
            <a:ext cx="3442188" cy="512064"/>
          </a:xfrm>
          <a:prstGeom prst="rect">
            <a:avLst/>
          </a:prstGeom>
          <a:noFill/>
          <a:ln/>
        </p:spPr>
        <p:txBody>
          <a:bodyPr wrap="square" lIns="0" tIns="0" rIns="0" bIns="0" rtlCol="0" anchor="ctr"/>
          <a:lstStyle/>
          <a:p>
            <a:pPr marL="0" indent="0">
              <a:buNone/>
            </a:pPr>
            <a:r>
              <a:rPr lang="en-US" sz="1300" b="1" dirty="0">
                <a:solidFill>
                  <a:srgbClr val="23301C"/>
                </a:solidFill>
                <a:latin typeface="Calibri" pitchFamily="34" charset="0"/>
                <a:ea typeface="Calibri" pitchFamily="34" charset="-122"/>
                <a:cs typeface="Calibri" pitchFamily="34" charset="-120"/>
              </a:rPr>
              <a:t>Angular leaf spot  </a:t>
            </a:r>
            <a:r>
              <a:rPr lang="en-US" altLang="ko-KR" sz="1100" dirty="0">
                <a:solidFill>
                  <a:srgbClr val="5A6B4D"/>
                </a:solidFill>
                <a:latin typeface="Calibri" pitchFamily="34" charset="0"/>
                <a:ea typeface="Malgun Gothic"/>
                <a:cs typeface="Calibri" pitchFamily="34" charset="-120"/>
              </a:rPr>
              <a:t>(각반병)</a:t>
            </a:r>
            <a:endParaRPr lang="en-US" sz="1300" dirty="0"/>
          </a:p>
        </p:txBody>
      </p:sp>
      <p:sp>
        <p:nvSpPr>
          <p:cNvPr id="13" name="Shape 11"/>
          <p:cNvSpPr/>
          <p:nvPr/>
        </p:nvSpPr>
        <p:spPr>
          <a:xfrm>
            <a:off x="822960" y="3511296"/>
            <a:ext cx="3977640" cy="512064"/>
          </a:xfrm>
          <a:prstGeom prst="roundRect">
            <a:avLst>
              <a:gd name="adj" fmla="val 10714"/>
            </a:avLst>
          </a:prstGeom>
          <a:solidFill>
            <a:srgbClr val="FFFFFF"/>
          </a:solidFill>
          <a:ln w="12700">
            <a:solidFill>
              <a:srgbClr val="6B8E3D"/>
            </a:solidFill>
            <a:prstDash val="solid"/>
          </a:ln>
        </p:spPr>
        <p:txBody>
          <a:bodyPr/>
          <a:lstStyle/>
          <a:p>
            <a:endParaRPr/>
          </a:p>
        </p:txBody>
      </p:sp>
      <p:sp>
        <p:nvSpPr>
          <p:cNvPr id="14" name="Shape 12"/>
          <p:cNvSpPr/>
          <p:nvPr/>
        </p:nvSpPr>
        <p:spPr>
          <a:xfrm>
            <a:off x="960120" y="3630168"/>
            <a:ext cx="229479" cy="274320"/>
          </a:xfrm>
          <a:prstGeom prst="ellipse">
            <a:avLst/>
          </a:prstGeom>
          <a:solidFill>
            <a:srgbClr val="2C5F2D"/>
          </a:solidFill>
          <a:ln/>
        </p:spPr>
        <p:txBody>
          <a:bodyPr/>
          <a:lstStyle/>
          <a:p>
            <a:endParaRPr/>
          </a:p>
        </p:txBody>
      </p:sp>
      <p:sp>
        <p:nvSpPr>
          <p:cNvPr id="15" name="Text 13"/>
          <p:cNvSpPr txBox="1"/>
          <p:nvPr/>
        </p:nvSpPr>
        <p:spPr>
          <a:xfrm>
            <a:off x="960120" y="3630168"/>
            <a:ext cx="229479"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16" name="Text 14"/>
          <p:cNvSpPr txBox="1"/>
          <p:nvPr/>
        </p:nvSpPr>
        <p:spPr>
          <a:xfrm>
            <a:off x="1371600" y="3511296"/>
            <a:ext cx="3442188" cy="512064"/>
          </a:xfrm>
          <a:prstGeom prst="rect">
            <a:avLst/>
          </a:prstGeom>
          <a:noFill/>
          <a:ln/>
        </p:spPr>
        <p:txBody>
          <a:bodyPr wrap="square" lIns="0" tIns="0" rIns="0" bIns="0" rtlCol="0" anchor="ctr"/>
          <a:lstStyle/>
          <a:p>
            <a:pPr marL="0" indent="0">
              <a:buNone/>
            </a:pPr>
            <a:r>
              <a:rPr lang="en-US" sz="1300" b="1" dirty="0">
                <a:solidFill>
                  <a:srgbClr val="23301C"/>
                </a:solidFill>
                <a:latin typeface="Calibri" pitchFamily="34" charset="0"/>
                <a:ea typeface="Calibri" pitchFamily="34" charset="-122"/>
                <a:cs typeface="Calibri" pitchFamily="34" charset="-120"/>
              </a:rPr>
              <a:t>Powdery mildew leaf  </a:t>
            </a:r>
            <a:r>
              <a:rPr lang="en-US" altLang="ko-KR" sz="1100" dirty="0">
                <a:solidFill>
                  <a:srgbClr val="5A6B4D"/>
                </a:solidFill>
                <a:latin typeface="Calibri" pitchFamily="34" charset="0"/>
                <a:ea typeface="Malgun Gothic"/>
                <a:cs typeface="Calibri" pitchFamily="34" charset="-120"/>
              </a:rPr>
              <a:t>(흰가루병(잎))</a:t>
            </a:r>
            <a:endParaRPr lang="en-US" sz="1300" dirty="0"/>
          </a:p>
        </p:txBody>
      </p:sp>
      <p:sp>
        <p:nvSpPr>
          <p:cNvPr id="17" name="Shape 15"/>
          <p:cNvSpPr/>
          <p:nvPr/>
        </p:nvSpPr>
        <p:spPr>
          <a:xfrm>
            <a:off x="822960" y="4078224"/>
            <a:ext cx="3977640" cy="512064"/>
          </a:xfrm>
          <a:prstGeom prst="roundRect">
            <a:avLst>
              <a:gd name="adj" fmla="val 10714"/>
            </a:avLst>
          </a:prstGeom>
          <a:solidFill>
            <a:srgbClr val="E7E9E1"/>
          </a:solidFill>
          <a:ln w="12700">
            <a:solidFill>
              <a:srgbClr val="D2D6C8"/>
            </a:solidFill>
            <a:prstDash val="solid"/>
          </a:ln>
        </p:spPr>
        <p:txBody>
          <a:bodyPr/>
          <a:lstStyle/>
          <a:p>
            <a:endParaRPr/>
          </a:p>
        </p:txBody>
      </p:sp>
      <p:sp>
        <p:nvSpPr>
          <p:cNvPr id="18" name="Shape 16"/>
          <p:cNvSpPr/>
          <p:nvPr/>
        </p:nvSpPr>
        <p:spPr>
          <a:xfrm>
            <a:off x="960120" y="4197096"/>
            <a:ext cx="229479" cy="274320"/>
          </a:xfrm>
          <a:prstGeom prst="ellipse">
            <a:avLst/>
          </a:prstGeom>
          <a:solidFill>
            <a:srgbClr val="B9BFAD"/>
          </a:solidFill>
          <a:ln/>
        </p:spPr>
        <p:txBody>
          <a:bodyPr/>
          <a:lstStyle/>
          <a:p>
            <a:endParaRPr/>
          </a:p>
        </p:txBody>
      </p:sp>
      <p:sp>
        <p:nvSpPr>
          <p:cNvPr id="19" name="Text 17"/>
          <p:cNvSpPr txBox="1"/>
          <p:nvPr/>
        </p:nvSpPr>
        <p:spPr>
          <a:xfrm>
            <a:off x="960120" y="4197096"/>
            <a:ext cx="229479" cy="274320"/>
          </a:xfrm>
          <a:prstGeom prst="rect">
            <a:avLst/>
          </a:prstGeom>
          <a:noFill/>
          <a:ln/>
        </p:spPr>
        <p:txBody>
          <a:bodyPr wrap="square" lIns="0" tIns="0" rIns="0" bIns="0" rtlCol="0" anchor="ctr"/>
          <a:lstStyle/>
          <a:p>
            <a:pPr marL="0" indent="0" algn="ctr">
              <a:buNone/>
            </a:pPr>
            <a:endParaRPr lang="en-US" sz="1200" dirty="0"/>
          </a:p>
        </p:txBody>
      </p:sp>
      <p:sp>
        <p:nvSpPr>
          <p:cNvPr id="20" name="Text 18"/>
          <p:cNvSpPr txBox="1"/>
          <p:nvPr/>
        </p:nvSpPr>
        <p:spPr>
          <a:xfrm>
            <a:off x="1371600" y="4078224"/>
            <a:ext cx="3442188" cy="512064"/>
          </a:xfrm>
          <a:prstGeom prst="rect">
            <a:avLst/>
          </a:prstGeom>
          <a:noFill/>
          <a:ln/>
        </p:spPr>
        <p:txBody>
          <a:bodyPr wrap="square" lIns="0" tIns="0" rIns="0" bIns="0" rtlCol="0" anchor="ctr"/>
          <a:lstStyle/>
          <a:p>
            <a:pPr marL="0" indent="0">
              <a:buNone/>
            </a:pPr>
            <a:r>
              <a:rPr lang="en-US" sz="1300" b="1" dirty="0">
                <a:solidFill>
                  <a:srgbClr val="9AA189"/>
                </a:solidFill>
                <a:latin typeface="Calibri" pitchFamily="34" charset="0"/>
                <a:ea typeface="Calibri" pitchFamily="34" charset="-122"/>
                <a:cs typeface="Calibri" pitchFamily="34" charset="-120"/>
              </a:rPr>
              <a:t>Anthracnose fruit rot  </a:t>
            </a:r>
            <a:r>
              <a:rPr lang="en-US" altLang="ko-KR" sz="1100" dirty="0">
                <a:solidFill>
                  <a:srgbClr val="AEB4A0"/>
                </a:solidFill>
                <a:latin typeface="Calibri" pitchFamily="34" charset="0"/>
                <a:ea typeface="Malgun Gothic"/>
                <a:cs typeface="Calibri" pitchFamily="34" charset="-120"/>
              </a:rPr>
              <a:t>(탄저병(과실))</a:t>
            </a:r>
            <a:endParaRPr lang="en-US" sz="1300" dirty="0"/>
          </a:p>
        </p:txBody>
      </p:sp>
      <p:sp>
        <p:nvSpPr>
          <p:cNvPr id="21" name="Shape 19"/>
          <p:cNvSpPr/>
          <p:nvPr/>
        </p:nvSpPr>
        <p:spPr>
          <a:xfrm>
            <a:off x="822960" y="4645152"/>
            <a:ext cx="3977640" cy="512064"/>
          </a:xfrm>
          <a:prstGeom prst="roundRect">
            <a:avLst>
              <a:gd name="adj" fmla="val 10714"/>
            </a:avLst>
          </a:prstGeom>
          <a:solidFill>
            <a:srgbClr val="E7E9E1"/>
          </a:solidFill>
          <a:ln w="12700">
            <a:solidFill>
              <a:srgbClr val="D2D6C8"/>
            </a:solidFill>
            <a:prstDash val="solid"/>
          </a:ln>
        </p:spPr>
        <p:txBody>
          <a:bodyPr/>
          <a:lstStyle/>
          <a:p>
            <a:endParaRPr/>
          </a:p>
        </p:txBody>
      </p:sp>
      <p:sp>
        <p:nvSpPr>
          <p:cNvPr id="22" name="Shape 20"/>
          <p:cNvSpPr/>
          <p:nvPr/>
        </p:nvSpPr>
        <p:spPr>
          <a:xfrm>
            <a:off x="960120" y="4764024"/>
            <a:ext cx="229479" cy="274320"/>
          </a:xfrm>
          <a:prstGeom prst="ellipse">
            <a:avLst/>
          </a:prstGeom>
          <a:solidFill>
            <a:srgbClr val="B9BFAD"/>
          </a:solidFill>
          <a:ln/>
        </p:spPr>
        <p:txBody>
          <a:bodyPr/>
          <a:lstStyle/>
          <a:p>
            <a:endParaRPr/>
          </a:p>
        </p:txBody>
      </p:sp>
      <p:sp>
        <p:nvSpPr>
          <p:cNvPr id="23" name="Text 21"/>
          <p:cNvSpPr txBox="1"/>
          <p:nvPr/>
        </p:nvSpPr>
        <p:spPr>
          <a:xfrm>
            <a:off x="960120" y="4764024"/>
            <a:ext cx="229479" cy="274320"/>
          </a:xfrm>
          <a:prstGeom prst="rect">
            <a:avLst/>
          </a:prstGeom>
          <a:noFill/>
          <a:ln/>
        </p:spPr>
        <p:txBody>
          <a:bodyPr wrap="square" lIns="0" tIns="0" rIns="0" bIns="0" rtlCol="0" anchor="ctr"/>
          <a:lstStyle/>
          <a:p>
            <a:pPr marL="0" indent="0" algn="ctr">
              <a:buNone/>
            </a:pPr>
            <a:endParaRPr lang="en-US" sz="1200" dirty="0"/>
          </a:p>
        </p:txBody>
      </p:sp>
      <p:sp>
        <p:nvSpPr>
          <p:cNvPr id="24" name="Text 22"/>
          <p:cNvSpPr txBox="1"/>
          <p:nvPr/>
        </p:nvSpPr>
        <p:spPr>
          <a:xfrm>
            <a:off x="1371600" y="4645152"/>
            <a:ext cx="3442188" cy="512064"/>
          </a:xfrm>
          <a:prstGeom prst="rect">
            <a:avLst/>
          </a:prstGeom>
          <a:noFill/>
          <a:ln/>
        </p:spPr>
        <p:txBody>
          <a:bodyPr wrap="square" lIns="0" tIns="0" rIns="0" bIns="0" rtlCol="0" anchor="ctr"/>
          <a:lstStyle/>
          <a:p>
            <a:pPr marL="0" indent="0">
              <a:buNone/>
            </a:pPr>
            <a:r>
              <a:rPr lang="en-US" sz="1300" b="1" dirty="0">
                <a:solidFill>
                  <a:srgbClr val="9AA189"/>
                </a:solidFill>
                <a:latin typeface="Calibri" pitchFamily="34" charset="0"/>
                <a:ea typeface="Calibri" pitchFamily="34" charset="-122"/>
                <a:cs typeface="Calibri" pitchFamily="34" charset="-120"/>
              </a:rPr>
              <a:t>Blossom blight  </a:t>
            </a:r>
            <a:r>
              <a:rPr lang="en-US" altLang="ko-KR" sz="1100" dirty="0">
                <a:solidFill>
                  <a:srgbClr val="AEB4A0"/>
                </a:solidFill>
                <a:latin typeface="Calibri" pitchFamily="34" charset="0"/>
                <a:ea typeface="Malgun Gothic"/>
                <a:cs typeface="Calibri" pitchFamily="34" charset="-120"/>
              </a:rPr>
              <a:t>(꽃마름병)</a:t>
            </a:r>
            <a:endParaRPr lang="en-US" sz="1300" dirty="0"/>
          </a:p>
        </p:txBody>
      </p:sp>
      <p:sp>
        <p:nvSpPr>
          <p:cNvPr id="25" name="Shape 23"/>
          <p:cNvSpPr/>
          <p:nvPr/>
        </p:nvSpPr>
        <p:spPr>
          <a:xfrm>
            <a:off x="822960" y="5212080"/>
            <a:ext cx="3977640" cy="512064"/>
          </a:xfrm>
          <a:prstGeom prst="roundRect">
            <a:avLst>
              <a:gd name="adj" fmla="val 10714"/>
            </a:avLst>
          </a:prstGeom>
          <a:solidFill>
            <a:srgbClr val="E7E9E1"/>
          </a:solidFill>
          <a:ln w="12700">
            <a:solidFill>
              <a:srgbClr val="D2D6C8"/>
            </a:solidFill>
            <a:prstDash val="solid"/>
          </a:ln>
        </p:spPr>
        <p:txBody>
          <a:bodyPr/>
          <a:lstStyle/>
          <a:p>
            <a:endParaRPr/>
          </a:p>
        </p:txBody>
      </p:sp>
      <p:sp>
        <p:nvSpPr>
          <p:cNvPr id="26" name="Shape 24"/>
          <p:cNvSpPr/>
          <p:nvPr/>
        </p:nvSpPr>
        <p:spPr>
          <a:xfrm>
            <a:off x="960120" y="5330952"/>
            <a:ext cx="229479" cy="274320"/>
          </a:xfrm>
          <a:prstGeom prst="ellipse">
            <a:avLst/>
          </a:prstGeom>
          <a:solidFill>
            <a:srgbClr val="B9BFAD"/>
          </a:solidFill>
          <a:ln/>
        </p:spPr>
        <p:txBody>
          <a:bodyPr/>
          <a:lstStyle/>
          <a:p>
            <a:endParaRPr/>
          </a:p>
        </p:txBody>
      </p:sp>
      <p:sp>
        <p:nvSpPr>
          <p:cNvPr id="27" name="Text 25"/>
          <p:cNvSpPr txBox="1"/>
          <p:nvPr/>
        </p:nvSpPr>
        <p:spPr>
          <a:xfrm>
            <a:off x="960120" y="5330952"/>
            <a:ext cx="229479" cy="274320"/>
          </a:xfrm>
          <a:prstGeom prst="rect">
            <a:avLst/>
          </a:prstGeom>
          <a:noFill/>
          <a:ln/>
        </p:spPr>
        <p:txBody>
          <a:bodyPr wrap="square" lIns="0" tIns="0" rIns="0" bIns="0" rtlCol="0" anchor="ctr"/>
          <a:lstStyle/>
          <a:p>
            <a:pPr marL="0" indent="0" algn="ctr">
              <a:buNone/>
            </a:pPr>
            <a:endParaRPr lang="en-US" sz="1200" dirty="0"/>
          </a:p>
        </p:txBody>
      </p:sp>
      <p:sp>
        <p:nvSpPr>
          <p:cNvPr id="28" name="Text 26"/>
          <p:cNvSpPr txBox="1"/>
          <p:nvPr/>
        </p:nvSpPr>
        <p:spPr>
          <a:xfrm>
            <a:off x="1371600" y="5212080"/>
            <a:ext cx="3442188" cy="512064"/>
          </a:xfrm>
          <a:prstGeom prst="rect">
            <a:avLst/>
          </a:prstGeom>
          <a:noFill/>
          <a:ln/>
        </p:spPr>
        <p:txBody>
          <a:bodyPr wrap="square" lIns="0" tIns="0" rIns="0" bIns="0" rtlCol="0" anchor="ctr"/>
          <a:lstStyle/>
          <a:p>
            <a:pPr marL="0" indent="0">
              <a:buNone/>
            </a:pPr>
            <a:r>
              <a:rPr lang="en-US" sz="1300" b="1" dirty="0">
                <a:solidFill>
                  <a:srgbClr val="9AA189"/>
                </a:solidFill>
                <a:latin typeface="Calibri" pitchFamily="34" charset="0"/>
                <a:ea typeface="Calibri" pitchFamily="34" charset="-122"/>
                <a:cs typeface="Calibri" pitchFamily="34" charset="-120"/>
              </a:rPr>
              <a:t>Gray mould  </a:t>
            </a:r>
            <a:r>
              <a:rPr lang="en-US" altLang="ko-KR" sz="1100" dirty="0">
                <a:solidFill>
                  <a:srgbClr val="AEB4A0"/>
                </a:solidFill>
                <a:latin typeface="Calibri" pitchFamily="34" charset="0"/>
                <a:ea typeface="Malgun Gothic"/>
                <a:cs typeface="Calibri" pitchFamily="34" charset="-120"/>
              </a:rPr>
              <a:t>(잿빛곰팡이병)</a:t>
            </a:r>
            <a:endParaRPr lang="en-US" sz="1300" dirty="0"/>
          </a:p>
        </p:txBody>
      </p:sp>
      <p:sp>
        <p:nvSpPr>
          <p:cNvPr id="29" name="Shape 27"/>
          <p:cNvSpPr/>
          <p:nvPr/>
        </p:nvSpPr>
        <p:spPr>
          <a:xfrm>
            <a:off x="822960" y="5779008"/>
            <a:ext cx="3977640" cy="512064"/>
          </a:xfrm>
          <a:prstGeom prst="roundRect">
            <a:avLst>
              <a:gd name="adj" fmla="val 10714"/>
            </a:avLst>
          </a:prstGeom>
          <a:solidFill>
            <a:srgbClr val="E7E9E1"/>
          </a:solidFill>
          <a:ln w="12700">
            <a:solidFill>
              <a:srgbClr val="D2D6C8"/>
            </a:solidFill>
            <a:prstDash val="solid"/>
          </a:ln>
        </p:spPr>
        <p:txBody>
          <a:bodyPr/>
          <a:lstStyle/>
          <a:p>
            <a:endParaRPr/>
          </a:p>
        </p:txBody>
      </p:sp>
      <p:sp>
        <p:nvSpPr>
          <p:cNvPr id="30" name="Shape 28"/>
          <p:cNvSpPr/>
          <p:nvPr/>
        </p:nvSpPr>
        <p:spPr>
          <a:xfrm>
            <a:off x="960120" y="5897880"/>
            <a:ext cx="229479" cy="274320"/>
          </a:xfrm>
          <a:prstGeom prst="ellipse">
            <a:avLst/>
          </a:prstGeom>
          <a:solidFill>
            <a:srgbClr val="B9BFAD"/>
          </a:solidFill>
          <a:ln/>
        </p:spPr>
        <p:txBody>
          <a:bodyPr/>
          <a:lstStyle/>
          <a:p>
            <a:endParaRPr/>
          </a:p>
        </p:txBody>
      </p:sp>
      <p:sp>
        <p:nvSpPr>
          <p:cNvPr id="31" name="Text 29"/>
          <p:cNvSpPr txBox="1"/>
          <p:nvPr/>
        </p:nvSpPr>
        <p:spPr>
          <a:xfrm>
            <a:off x="960120" y="5897880"/>
            <a:ext cx="229479" cy="274320"/>
          </a:xfrm>
          <a:prstGeom prst="rect">
            <a:avLst/>
          </a:prstGeom>
          <a:noFill/>
          <a:ln/>
        </p:spPr>
        <p:txBody>
          <a:bodyPr wrap="square" lIns="0" tIns="0" rIns="0" bIns="0" rtlCol="0" anchor="ctr"/>
          <a:lstStyle/>
          <a:p>
            <a:pPr marL="0" indent="0" algn="ctr">
              <a:buNone/>
            </a:pPr>
            <a:endParaRPr lang="en-US" sz="1200" dirty="0"/>
          </a:p>
        </p:txBody>
      </p:sp>
      <p:sp>
        <p:nvSpPr>
          <p:cNvPr id="32" name="Text 30"/>
          <p:cNvSpPr txBox="1"/>
          <p:nvPr/>
        </p:nvSpPr>
        <p:spPr>
          <a:xfrm>
            <a:off x="1371600" y="5779008"/>
            <a:ext cx="3442188" cy="512064"/>
          </a:xfrm>
          <a:prstGeom prst="rect">
            <a:avLst/>
          </a:prstGeom>
          <a:noFill/>
          <a:ln/>
        </p:spPr>
        <p:txBody>
          <a:bodyPr wrap="square" lIns="0" tIns="0" rIns="0" bIns="0" rtlCol="0" anchor="ctr"/>
          <a:lstStyle/>
          <a:p>
            <a:pPr marL="0" indent="0">
              <a:buNone/>
            </a:pPr>
            <a:r>
              <a:rPr lang="en-US" sz="1300" b="1" dirty="0">
                <a:solidFill>
                  <a:srgbClr val="9AA189"/>
                </a:solidFill>
                <a:latin typeface="Calibri" pitchFamily="34" charset="0"/>
                <a:ea typeface="Calibri" pitchFamily="34" charset="-122"/>
                <a:cs typeface="Calibri" pitchFamily="34" charset="-120"/>
              </a:rPr>
              <a:t>Powdery mildew fruit  </a:t>
            </a:r>
            <a:r>
              <a:rPr lang="en-US" altLang="ko-KR" sz="1100" dirty="0">
                <a:solidFill>
                  <a:srgbClr val="AEB4A0"/>
                </a:solidFill>
                <a:latin typeface="Calibri" pitchFamily="34" charset="0"/>
                <a:ea typeface="Malgun Gothic"/>
                <a:cs typeface="Calibri" pitchFamily="34" charset="-120"/>
              </a:rPr>
              <a:t>(흰가루병(과실))</a:t>
            </a:r>
            <a:endParaRPr lang="en-US" sz="1300" dirty="0"/>
          </a:p>
        </p:txBody>
      </p:sp>
      <p:sp>
        <p:nvSpPr>
          <p:cNvPr id="33" name="Text 31"/>
          <p:cNvSpPr txBox="1"/>
          <p:nvPr/>
        </p:nvSpPr>
        <p:spPr>
          <a:xfrm>
            <a:off x="4911288" y="3291840"/>
            <a:ext cx="822960" cy="914400"/>
          </a:xfrm>
          <a:prstGeom prst="rect">
            <a:avLst/>
          </a:prstGeom>
          <a:noFill/>
          <a:ln/>
        </p:spPr>
        <p:txBody>
          <a:bodyPr wrap="square" lIns="0" tIns="0" rIns="0" bIns="0" rtlCol="0" anchor="ctr"/>
          <a:lstStyle/>
          <a:p>
            <a:pPr marL="0" indent="0" algn="ctr">
              <a:buNone/>
            </a:pPr>
            <a:r>
              <a:rPr lang="en-US" sz="4400" b="1" dirty="0">
                <a:solidFill>
                  <a:srgbClr val="B5303B"/>
                </a:solidFill>
                <a:latin typeface="Cambria" pitchFamily="34" charset="0"/>
                <a:ea typeface="Cambria" pitchFamily="34" charset="-122"/>
                <a:cs typeface="Cambria" pitchFamily="34" charset="-120"/>
              </a:rPr>
              <a:t>→</a:t>
            </a:r>
            <a:endParaRPr lang="en-US" sz="4400" dirty="0"/>
          </a:p>
        </p:txBody>
      </p:sp>
      <p:sp>
        <p:nvSpPr>
          <p:cNvPr id="34" name="Text 32"/>
          <p:cNvSpPr txBox="1"/>
          <p:nvPr/>
        </p:nvSpPr>
        <p:spPr>
          <a:xfrm>
            <a:off x="5842534" y="1597139"/>
            <a:ext cx="4754880" cy="320040"/>
          </a:xfrm>
          <a:prstGeom prst="rect">
            <a:avLst/>
          </a:prstGeom>
          <a:noFill/>
          <a:ln/>
        </p:spPr>
        <p:txBody>
          <a:bodyPr wrap="square" lIns="0" tIns="0" rIns="0" bIns="0" rtlCol="0" anchor="ctr"/>
          <a:lstStyle/>
          <a:p>
            <a:pPr marL="0" indent="0">
              <a:buNone/>
            </a:pPr>
            <a:r>
              <a:rPr lang="en-US" altLang="ko-KR" sz="1250" b="1" dirty="0">
                <a:solidFill>
                  <a:srgbClr val="5A6B4D"/>
                </a:solidFill>
                <a:latin typeface="Calibri" pitchFamily="34" charset="0"/>
                <a:ea typeface="Malgun Gothic"/>
                <a:cs typeface="Calibri" pitchFamily="34" charset="-120"/>
              </a:rPr>
              <a:t>Cleaning and split  ·  정제 및 분할</a:t>
            </a:r>
            <a:endParaRPr lang="en-US" sz="1250" dirty="0"/>
          </a:p>
        </p:txBody>
      </p:sp>
      <p:sp>
        <p:nvSpPr>
          <p:cNvPr id="50" name="Text 48"/>
          <p:cNvSpPr txBox="1"/>
          <p:nvPr/>
        </p:nvSpPr>
        <p:spPr>
          <a:xfrm>
            <a:off x="5865755" y="3650437"/>
            <a:ext cx="5828940" cy="502920"/>
          </a:xfrm>
          <a:prstGeom prst="rect">
            <a:avLst/>
          </a:prstGeom>
          <a:noFill/>
          <a:ln/>
        </p:spPr>
        <p:txBody>
          <a:bodyPr wrap="square" lIns="0" tIns="0" rIns="0" bIns="0" rtlCol="0" anchor="ctr"/>
          <a:lstStyle/>
          <a:p>
            <a:pPr marL="0" indent="0">
              <a:buNone/>
            </a:pPr>
            <a:r>
              <a:rPr lang="en-US" altLang="ko-KR" sz="1050" i="1" dirty="0">
                <a:solidFill>
                  <a:srgbClr val="5A6B4D"/>
                </a:solidFill>
                <a:latin typeface="Calibri" pitchFamily="34" charset="0"/>
                <a:ea typeface="Malgun Gothic"/>
                <a:cs typeface="Calibri" pitchFamily="34" charset="-120"/>
              </a:rPr>
              <a:t>Table 1. Dataset cleaning (데이터 정제). The cleaning script scanned 4,898 of the 4,918 exported images.</a:t>
            </a:r>
            <a:endParaRPr lang="en-US" sz="1050" dirty="0"/>
          </a:p>
        </p:txBody>
      </p:sp>
      <p:graphicFrame>
        <p:nvGraphicFramePr>
          <p:cNvPr id="51" name="표 50">
            <a:extLst>
              <a:ext uri="{FF2B5EF4-FFF2-40B4-BE49-F238E27FC236}">
                <a16:creationId xmlns:a16="http://schemas.microsoft.com/office/drawing/2014/main" id="{4C045A41-2F9D-48A8-A854-006AAF801F14}"/>
              </a:ext>
            </a:extLst>
          </p:cNvPr>
          <p:cNvGraphicFramePr>
            <a:graphicFrameLocks noGrp="1"/>
          </p:cNvGraphicFramePr>
          <p:nvPr>
            <p:extLst>
              <p:ext uri="{D42A27DB-BD31-4B8C-83A1-F6EECF244321}">
                <p14:modId xmlns:p14="http://schemas.microsoft.com/office/powerpoint/2010/main" val="1655833975"/>
              </p:ext>
            </p:extLst>
          </p:nvPr>
        </p:nvGraphicFramePr>
        <p:xfrm>
          <a:off x="5865755" y="4482246"/>
          <a:ext cx="5806080" cy="1435370"/>
        </p:xfrm>
        <a:graphic>
          <a:graphicData uri="http://schemas.openxmlformats.org/drawingml/2006/table">
            <a:tbl>
              <a:tblPr>
                <a:tableStyleId>{8EC20E35-A176-4012-BC5E-935CFFF8708E}</a:tableStyleId>
              </a:tblPr>
              <a:tblGrid>
                <a:gridCol w="1161216">
                  <a:extLst>
                    <a:ext uri="{9D8B030D-6E8A-4147-A177-3AD203B41FA5}">
                      <a16:colId xmlns:a16="http://schemas.microsoft.com/office/drawing/2014/main" val="3510484879"/>
                    </a:ext>
                  </a:extLst>
                </a:gridCol>
                <a:gridCol w="1161216">
                  <a:extLst>
                    <a:ext uri="{9D8B030D-6E8A-4147-A177-3AD203B41FA5}">
                      <a16:colId xmlns:a16="http://schemas.microsoft.com/office/drawing/2014/main" val="458294063"/>
                    </a:ext>
                  </a:extLst>
                </a:gridCol>
                <a:gridCol w="1161216">
                  <a:extLst>
                    <a:ext uri="{9D8B030D-6E8A-4147-A177-3AD203B41FA5}">
                      <a16:colId xmlns:a16="http://schemas.microsoft.com/office/drawing/2014/main" val="91975308"/>
                    </a:ext>
                  </a:extLst>
                </a:gridCol>
                <a:gridCol w="1161216">
                  <a:extLst>
                    <a:ext uri="{9D8B030D-6E8A-4147-A177-3AD203B41FA5}">
                      <a16:colId xmlns:a16="http://schemas.microsoft.com/office/drawing/2014/main" val="2545279455"/>
                    </a:ext>
                  </a:extLst>
                </a:gridCol>
                <a:gridCol w="1161216">
                  <a:extLst>
                    <a:ext uri="{9D8B030D-6E8A-4147-A177-3AD203B41FA5}">
                      <a16:colId xmlns:a16="http://schemas.microsoft.com/office/drawing/2014/main" val="525033377"/>
                    </a:ext>
                  </a:extLst>
                </a:gridCol>
              </a:tblGrid>
              <a:tr h="225391">
                <a:tc>
                  <a:txBody>
                    <a:bodyPr/>
                    <a:lstStyle/>
                    <a:p>
                      <a:r>
                        <a:rPr lang="en-US" sz="1200" b="1" dirty="0"/>
                        <a:t>Split</a:t>
                      </a:r>
                    </a:p>
                  </a:txBody>
                  <a:tcPr marL="67617" marR="67617" marT="33809" marB="33809" anchor="ctr">
                    <a:lnB w="12700" cap="flat" cmpd="sng" algn="ctr">
                      <a:solidFill>
                        <a:schemeClr val="tx1"/>
                      </a:solidFill>
                      <a:prstDash val="solid"/>
                      <a:round/>
                      <a:headEnd type="none" w="med" len="med"/>
                      <a:tailEnd type="none" w="med" len="med"/>
                    </a:lnB>
                  </a:tcPr>
                </a:tc>
                <a:tc>
                  <a:txBody>
                    <a:bodyPr/>
                    <a:lstStyle/>
                    <a:p>
                      <a:r>
                        <a:rPr lang="en-US" sz="1200" b="1" dirty="0"/>
                        <a:t>Angular leaf spot</a:t>
                      </a:r>
                    </a:p>
                  </a:txBody>
                  <a:tcPr marL="67617" marR="67617" marT="33809" marB="33809" anchor="ctr">
                    <a:lnB w="12700" cap="flat" cmpd="sng" algn="ctr">
                      <a:solidFill>
                        <a:schemeClr val="tx1"/>
                      </a:solidFill>
                      <a:prstDash val="solid"/>
                      <a:round/>
                      <a:headEnd type="none" w="med" len="med"/>
                      <a:tailEnd type="none" w="med" len="med"/>
                    </a:lnB>
                  </a:tcPr>
                </a:tc>
                <a:tc>
                  <a:txBody>
                    <a:bodyPr/>
                    <a:lstStyle/>
                    <a:p>
                      <a:r>
                        <a:rPr lang="en-US" sz="1200" b="1" dirty="0"/>
                        <a:t>Leaf spot</a:t>
                      </a:r>
                    </a:p>
                  </a:txBody>
                  <a:tcPr marL="67617" marR="67617" marT="33809" marB="33809" anchor="ctr">
                    <a:lnB w="12700" cap="flat" cmpd="sng" algn="ctr">
                      <a:solidFill>
                        <a:schemeClr val="tx1"/>
                      </a:solidFill>
                      <a:prstDash val="solid"/>
                      <a:round/>
                      <a:headEnd type="none" w="med" len="med"/>
                      <a:tailEnd type="none" w="med" len="med"/>
                    </a:lnB>
                  </a:tcPr>
                </a:tc>
                <a:tc>
                  <a:txBody>
                    <a:bodyPr/>
                    <a:lstStyle/>
                    <a:p>
                      <a:r>
                        <a:rPr lang="en-US" sz="1200" b="1" dirty="0"/>
                        <a:t>Powdery mildew</a:t>
                      </a:r>
                    </a:p>
                  </a:txBody>
                  <a:tcPr marL="67617" marR="67617" marT="33809" marB="33809" anchor="ctr">
                    <a:lnB w="12700" cap="flat" cmpd="sng" algn="ctr">
                      <a:solidFill>
                        <a:schemeClr val="tx1"/>
                      </a:solidFill>
                      <a:prstDash val="solid"/>
                      <a:round/>
                      <a:headEnd type="none" w="med" len="med"/>
                      <a:tailEnd type="none" w="med" len="med"/>
                    </a:lnB>
                  </a:tcPr>
                </a:tc>
                <a:tc>
                  <a:txBody>
                    <a:bodyPr/>
                    <a:lstStyle/>
                    <a:p>
                      <a:r>
                        <a:rPr lang="en-US" sz="1200" b="1" dirty="0"/>
                        <a:t>Photos</a:t>
                      </a:r>
                    </a:p>
                  </a:txBody>
                  <a:tcPr marL="67617" marR="67617" marT="33809" marB="33809"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117715"/>
                  </a:ext>
                </a:extLst>
              </a:tr>
              <a:tr h="225391">
                <a:tc>
                  <a:txBody>
                    <a:bodyPr/>
                    <a:lstStyle/>
                    <a:p>
                      <a:r>
                        <a:rPr lang="en-US" sz="1200" dirty="0"/>
                        <a:t>Train</a:t>
                      </a:r>
                    </a:p>
                  </a:txBody>
                  <a:tcPr marL="67617" marR="67617" marT="33809" marB="33809" anchor="ctr">
                    <a:lnT w="12700" cap="flat" cmpd="sng" algn="ctr">
                      <a:solidFill>
                        <a:schemeClr val="tx1"/>
                      </a:solidFill>
                      <a:prstDash val="solid"/>
                      <a:round/>
                      <a:headEnd type="none" w="med" len="med"/>
                      <a:tailEnd type="none" w="med" len="med"/>
                    </a:lnT>
                  </a:tcPr>
                </a:tc>
                <a:tc>
                  <a:txBody>
                    <a:bodyPr/>
                    <a:lstStyle/>
                    <a:p>
                      <a:r>
                        <a:rPr lang="en-US" altLang="ko-KR" sz="1200" dirty="0"/>
                        <a:t>269</a:t>
                      </a:r>
                    </a:p>
                  </a:txBody>
                  <a:tcPr marL="67617" marR="67617" marT="33809" marB="33809" anchor="ctr">
                    <a:lnT w="12700" cap="flat" cmpd="sng" algn="ctr">
                      <a:solidFill>
                        <a:schemeClr val="tx1"/>
                      </a:solidFill>
                      <a:prstDash val="solid"/>
                      <a:round/>
                      <a:headEnd type="none" w="med" len="med"/>
                      <a:tailEnd type="none" w="med" len="med"/>
                    </a:lnT>
                  </a:tcPr>
                </a:tc>
                <a:tc>
                  <a:txBody>
                    <a:bodyPr/>
                    <a:lstStyle/>
                    <a:p>
                      <a:r>
                        <a:rPr lang="en-US" altLang="ko-KR" sz="1200" dirty="0"/>
                        <a:t>968</a:t>
                      </a:r>
                    </a:p>
                  </a:txBody>
                  <a:tcPr marL="67617" marR="67617" marT="33809" marB="33809" anchor="ctr">
                    <a:lnT w="12700" cap="flat" cmpd="sng" algn="ctr">
                      <a:solidFill>
                        <a:schemeClr val="tx1"/>
                      </a:solidFill>
                      <a:prstDash val="solid"/>
                      <a:round/>
                      <a:headEnd type="none" w="med" len="med"/>
                      <a:tailEnd type="none" w="med" len="med"/>
                    </a:lnT>
                  </a:tcPr>
                </a:tc>
                <a:tc>
                  <a:txBody>
                    <a:bodyPr/>
                    <a:lstStyle/>
                    <a:p>
                      <a:r>
                        <a:rPr lang="en-US" altLang="ko-KR" sz="1200" dirty="0"/>
                        <a:t>1,131</a:t>
                      </a:r>
                    </a:p>
                  </a:txBody>
                  <a:tcPr marL="67617" marR="67617" marT="33809" marB="33809" anchor="ctr">
                    <a:lnT w="12700" cap="flat" cmpd="sng" algn="ctr">
                      <a:solidFill>
                        <a:schemeClr val="tx1"/>
                      </a:solidFill>
                      <a:prstDash val="solid"/>
                      <a:round/>
                      <a:headEnd type="none" w="med" len="med"/>
                      <a:tailEnd type="none" w="med" len="med"/>
                    </a:lnT>
                  </a:tcPr>
                </a:tc>
                <a:tc>
                  <a:txBody>
                    <a:bodyPr/>
                    <a:lstStyle/>
                    <a:p>
                      <a:r>
                        <a:rPr lang="en-US" altLang="ko-KR" sz="1200" dirty="0"/>
                        <a:t>872</a:t>
                      </a:r>
                    </a:p>
                  </a:txBody>
                  <a:tcPr marL="67617" marR="67617" marT="33809" marB="33809"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0990362"/>
                  </a:ext>
                </a:extLst>
              </a:tr>
              <a:tr h="225391">
                <a:tc>
                  <a:txBody>
                    <a:bodyPr/>
                    <a:lstStyle/>
                    <a:p>
                      <a:r>
                        <a:rPr lang="en-US" sz="1200" dirty="0"/>
                        <a:t>Validation</a:t>
                      </a:r>
                    </a:p>
                  </a:txBody>
                  <a:tcPr marL="67617" marR="67617" marT="33809" marB="33809" anchor="ctr"/>
                </a:tc>
                <a:tc>
                  <a:txBody>
                    <a:bodyPr/>
                    <a:lstStyle/>
                    <a:p>
                      <a:r>
                        <a:rPr lang="en-US" altLang="ko-KR" sz="1200" dirty="0"/>
                        <a:t>49</a:t>
                      </a:r>
                    </a:p>
                  </a:txBody>
                  <a:tcPr marL="67617" marR="67617" marT="33809" marB="33809" anchor="ctr"/>
                </a:tc>
                <a:tc>
                  <a:txBody>
                    <a:bodyPr/>
                    <a:lstStyle/>
                    <a:p>
                      <a:r>
                        <a:rPr lang="en-US" altLang="ko-KR" sz="1200"/>
                        <a:t>210</a:t>
                      </a:r>
                    </a:p>
                  </a:txBody>
                  <a:tcPr marL="67617" marR="67617" marT="33809" marB="33809" anchor="ctr"/>
                </a:tc>
                <a:tc>
                  <a:txBody>
                    <a:bodyPr/>
                    <a:lstStyle/>
                    <a:p>
                      <a:r>
                        <a:rPr lang="en-US" altLang="ko-KR" sz="1200"/>
                        <a:t>264</a:t>
                      </a:r>
                    </a:p>
                  </a:txBody>
                  <a:tcPr marL="67617" marR="67617" marT="33809" marB="33809" anchor="ctr"/>
                </a:tc>
                <a:tc>
                  <a:txBody>
                    <a:bodyPr/>
                    <a:lstStyle/>
                    <a:p>
                      <a:r>
                        <a:rPr lang="en-US" altLang="ko-KR" sz="1200" dirty="0"/>
                        <a:t>187</a:t>
                      </a:r>
                    </a:p>
                  </a:txBody>
                  <a:tcPr marL="67617" marR="67617" marT="33809" marB="33809" anchor="ctr"/>
                </a:tc>
                <a:extLst>
                  <a:ext uri="{0D108BD9-81ED-4DB2-BD59-A6C34878D82A}">
                    <a16:rowId xmlns:a16="http://schemas.microsoft.com/office/drawing/2014/main" val="616102833"/>
                  </a:ext>
                </a:extLst>
              </a:tr>
              <a:tr h="225391">
                <a:tc>
                  <a:txBody>
                    <a:bodyPr/>
                    <a:lstStyle/>
                    <a:p>
                      <a:r>
                        <a:rPr lang="en-US" sz="1200" dirty="0"/>
                        <a:t>Test</a:t>
                      </a:r>
                    </a:p>
                  </a:txBody>
                  <a:tcPr marL="67617" marR="67617" marT="33809" marB="33809" anchor="ctr"/>
                </a:tc>
                <a:tc>
                  <a:txBody>
                    <a:bodyPr/>
                    <a:lstStyle/>
                    <a:p>
                      <a:r>
                        <a:rPr lang="en-US" altLang="ko-KR" sz="1200" dirty="0"/>
                        <a:t>58</a:t>
                      </a:r>
                    </a:p>
                  </a:txBody>
                  <a:tcPr marL="67617" marR="67617" marT="33809" marB="33809" anchor="ctr"/>
                </a:tc>
                <a:tc>
                  <a:txBody>
                    <a:bodyPr/>
                    <a:lstStyle/>
                    <a:p>
                      <a:r>
                        <a:rPr lang="en-US" altLang="ko-KR" sz="1200" dirty="0"/>
                        <a:t>205</a:t>
                      </a:r>
                    </a:p>
                  </a:txBody>
                  <a:tcPr marL="67617" marR="67617" marT="33809" marB="33809" anchor="ctr"/>
                </a:tc>
                <a:tc>
                  <a:txBody>
                    <a:bodyPr/>
                    <a:lstStyle/>
                    <a:p>
                      <a:r>
                        <a:rPr lang="en-US" altLang="ko-KR" sz="1200" dirty="0"/>
                        <a:t>275</a:t>
                      </a:r>
                    </a:p>
                  </a:txBody>
                  <a:tcPr marL="67617" marR="67617" marT="33809" marB="33809" anchor="ctr"/>
                </a:tc>
                <a:tc>
                  <a:txBody>
                    <a:bodyPr/>
                    <a:lstStyle/>
                    <a:p>
                      <a:r>
                        <a:rPr lang="en-US" altLang="ko-KR" sz="1200" dirty="0"/>
                        <a:t>188</a:t>
                      </a:r>
                    </a:p>
                  </a:txBody>
                  <a:tcPr marL="67617" marR="67617" marT="33809" marB="33809" anchor="ctr"/>
                </a:tc>
                <a:extLst>
                  <a:ext uri="{0D108BD9-81ED-4DB2-BD59-A6C34878D82A}">
                    <a16:rowId xmlns:a16="http://schemas.microsoft.com/office/drawing/2014/main" val="3546638503"/>
                  </a:ext>
                </a:extLst>
              </a:tr>
              <a:tr h="225391">
                <a:tc>
                  <a:txBody>
                    <a:bodyPr/>
                    <a:lstStyle/>
                    <a:p>
                      <a:r>
                        <a:rPr lang="en-US" sz="1200" b="1" dirty="0"/>
                        <a:t>Total</a:t>
                      </a:r>
                      <a:endParaRPr lang="en-US" sz="1200" dirty="0"/>
                    </a:p>
                  </a:txBody>
                  <a:tcPr marL="67617" marR="67617" marT="33809" marB="33809" anchor="ctr"/>
                </a:tc>
                <a:tc>
                  <a:txBody>
                    <a:bodyPr/>
                    <a:lstStyle/>
                    <a:p>
                      <a:r>
                        <a:rPr lang="en-US" altLang="ko-KR" sz="1200" b="1" dirty="0"/>
                        <a:t>376</a:t>
                      </a:r>
                      <a:endParaRPr lang="ko-KR" altLang="en-US" sz="1200" dirty="0"/>
                    </a:p>
                  </a:txBody>
                  <a:tcPr marL="67617" marR="67617" marT="33809" marB="33809" anchor="ctr"/>
                </a:tc>
                <a:tc>
                  <a:txBody>
                    <a:bodyPr/>
                    <a:lstStyle/>
                    <a:p>
                      <a:r>
                        <a:rPr lang="en-US" altLang="ko-KR" sz="1200" b="1" dirty="0"/>
                        <a:t>1,383</a:t>
                      </a:r>
                      <a:endParaRPr lang="ko-KR" altLang="en-US" sz="1200" dirty="0"/>
                    </a:p>
                  </a:txBody>
                  <a:tcPr marL="67617" marR="67617" marT="33809" marB="33809" anchor="ctr"/>
                </a:tc>
                <a:tc>
                  <a:txBody>
                    <a:bodyPr/>
                    <a:lstStyle/>
                    <a:p>
                      <a:r>
                        <a:rPr lang="en-US" altLang="ko-KR" sz="1200" b="1" dirty="0"/>
                        <a:t>1,670</a:t>
                      </a:r>
                      <a:endParaRPr lang="ko-KR" altLang="en-US" sz="1200" dirty="0"/>
                    </a:p>
                  </a:txBody>
                  <a:tcPr marL="67617" marR="67617" marT="33809" marB="33809" anchor="ctr"/>
                </a:tc>
                <a:tc>
                  <a:txBody>
                    <a:bodyPr/>
                    <a:lstStyle/>
                    <a:p>
                      <a:r>
                        <a:rPr lang="en-US" altLang="ko-KR" sz="1200" b="1" dirty="0"/>
                        <a:t>1,247</a:t>
                      </a:r>
                      <a:endParaRPr lang="ko-KR" altLang="en-US" sz="1200" dirty="0"/>
                    </a:p>
                  </a:txBody>
                  <a:tcPr marL="67617" marR="67617" marT="33809" marB="33809" anchor="ctr"/>
                </a:tc>
                <a:extLst>
                  <a:ext uri="{0D108BD9-81ED-4DB2-BD59-A6C34878D82A}">
                    <a16:rowId xmlns:a16="http://schemas.microsoft.com/office/drawing/2014/main" val="69269941"/>
                  </a:ext>
                </a:extLst>
              </a:tr>
            </a:tbl>
          </a:graphicData>
        </a:graphic>
      </p:graphicFrame>
      <p:graphicFrame>
        <p:nvGraphicFramePr>
          <p:cNvPr id="53" name="표 52">
            <a:extLst>
              <a:ext uri="{FF2B5EF4-FFF2-40B4-BE49-F238E27FC236}">
                <a16:creationId xmlns:a16="http://schemas.microsoft.com/office/drawing/2014/main" id="{83D83796-B87B-499B-9B84-DDF89833F297}"/>
              </a:ext>
            </a:extLst>
          </p:cNvPr>
          <p:cNvGraphicFramePr>
            <a:graphicFrameLocks noGrp="1"/>
          </p:cNvGraphicFramePr>
          <p:nvPr>
            <p:extLst>
              <p:ext uri="{D42A27DB-BD31-4B8C-83A1-F6EECF244321}">
                <p14:modId xmlns:p14="http://schemas.microsoft.com/office/powerpoint/2010/main" val="587202486"/>
              </p:ext>
            </p:extLst>
          </p:nvPr>
        </p:nvGraphicFramePr>
        <p:xfrm>
          <a:off x="5842534" y="1957243"/>
          <a:ext cx="5852161" cy="1645920"/>
        </p:xfrm>
        <a:graphic>
          <a:graphicData uri="http://schemas.openxmlformats.org/drawingml/2006/table">
            <a:tbl>
              <a:tblPr>
                <a:tableStyleId>{8EC20E35-A176-4012-BC5E-935CFFF8708E}</a:tableStyleId>
              </a:tblPr>
              <a:tblGrid>
                <a:gridCol w="4221117">
                  <a:extLst>
                    <a:ext uri="{9D8B030D-6E8A-4147-A177-3AD203B41FA5}">
                      <a16:colId xmlns:a16="http://schemas.microsoft.com/office/drawing/2014/main" val="1563004579"/>
                    </a:ext>
                  </a:extLst>
                </a:gridCol>
                <a:gridCol w="1631044">
                  <a:extLst>
                    <a:ext uri="{9D8B030D-6E8A-4147-A177-3AD203B41FA5}">
                      <a16:colId xmlns:a16="http://schemas.microsoft.com/office/drawing/2014/main" val="1683744019"/>
                    </a:ext>
                  </a:extLst>
                </a:gridCol>
              </a:tblGrid>
              <a:tr h="0">
                <a:tc>
                  <a:txBody>
                    <a:bodyPr/>
                    <a:lstStyle/>
                    <a:p>
                      <a:r>
                        <a:rPr lang="en-US" sz="1200" b="1" dirty="0"/>
                        <a:t>Cleaning step</a:t>
                      </a:r>
                    </a:p>
                  </a:txBody>
                  <a:tcPr anchor="ctr">
                    <a:lnB w="12700" cap="flat" cmpd="sng" algn="ctr">
                      <a:solidFill>
                        <a:schemeClr val="tx1"/>
                      </a:solidFill>
                      <a:prstDash val="solid"/>
                      <a:round/>
                      <a:headEnd type="none" w="med" len="med"/>
                      <a:tailEnd type="none" w="med" len="med"/>
                    </a:lnB>
                  </a:tcPr>
                </a:tc>
                <a:tc>
                  <a:txBody>
                    <a:bodyPr/>
                    <a:lstStyle/>
                    <a:p>
                      <a:r>
                        <a:rPr lang="en-US" sz="1200" b="1" dirty="0"/>
                        <a:t>Images</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7682793"/>
                  </a:ext>
                </a:extLst>
              </a:tr>
              <a:tr h="0">
                <a:tc>
                  <a:txBody>
                    <a:bodyPr/>
                    <a:lstStyle/>
                    <a:p>
                      <a:r>
                        <a:rPr lang="en-US" sz="1200" dirty="0"/>
                        <a:t>Photos scanned</a:t>
                      </a:r>
                    </a:p>
                  </a:txBody>
                  <a:tcPr anchor="ctr">
                    <a:lnT w="12700" cap="flat" cmpd="sng" algn="ctr">
                      <a:solidFill>
                        <a:schemeClr val="tx1"/>
                      </a:solidFill>
                      <a:prstDash val="solid"/>
                      <a:round/>
                      <a:headEnd type="none" w="med" len="med"/>
                      <a:tailEnd type="none" w="med" len="med"/>
                    </a:lnT>
                  </a:tcPr>
                </a:tc>
                <a:tc>
                  <a:txBody>
                    <a:bodyPr/>
                    <a:lstStyle/>
                    <a:p>
                      <a:r>
                        <a:rPr lang="en-US" altLang="ko-KR" sz="1200" dirty="0"/>
                        <a:t>4,898</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15602243"/>
                  </a:ext>
                </a:extLst>
              </a:tr>
              <a:tr h="0">
                <a:tc>
                  <a:txBody>
                    <a:bodyPr/>
                    <a:lstStyle/>
                    <a:p>
                      <a:r>
                        <a:rPr lang="en-US" sz="1200" dirty="0"/>
                        <a:t>No selected class (removed)</a:t>
                      </a:r>
                    </a:p>
                  </a:txBody>
                  <a:tcPr anchor="ctr"/>
                </a:tc>
                <a:tc>
                  <a:txBody>
                    <a:bodyPr/>
                    <a:lstStyle/>
                    <a:p>
                      <a:r>
                        <a:rPr lang="ko-KR" altLang="en-US" sz="1200"/>
                        <a:t>−</a:t>
                      </a:r>
                      <a:r>
                        <a:rPr lang="en-US" altLang="ko-KR" sz="1200"/>
                        <a:t>1,828</a:t>
                      </a:r>
                    </a:p>
                  </a:txBody>
                  <a:tcPr anchor="ctr"/>
                </a:tc>
                <a:extLst>
                  <a:ext uri="{0D108BD9-81ED-4DB2-BD59-A6C34878D82A}">
                    <a16:rowId xmlns:a16="http://schemas.microsoft.com/office/drawing/2014/main" val="3466919805"/>
                  </a:ext>
                </a:extLst>
              </a:tr>
              <a:tr h="0">
                <a:tc>
                  <a:txBody>
                    <a:bodyPr/>
                    <a:lstStyle/>
                    <a:p>
                      <a:r>
                        <a:rPr lang="en-US" sz="1200" dirty="0"/>
                        <a:t>Duplicate photos (removed)</a:t>
                      </a:r>
                    </a:p>
                  </a:txBody>
                  <a:tcPr anchor="ctr"/>
                </a:tc>
                <a:tc>
                  <a:txBody>
                    <a:bodyPr/>
                    <a:lstStyle/>
                    <a:p>
                      <a:r>
                        <a:rPr lang="ko-KR" altLang="en-US" sz="1200" dirty="0"/>
                        <a:t>−</a:t>
                      </a:r>
                      <a:r>
                        <a:rPr lang="en-US" altLang="ko-KR" sz="1200" dirty="0"/>
                        <a:t>1,823</a:t>
                      </a:r>
                    </a:p>
                  </a:txBody>
                  <a:tcPr anchor="ctr"/>
                </a:tc>
                <a:extLst>
                  <a:ext uri="{0D108BD9-81ED-4DB2-BD59-A6C34878D82A}">
                    <a16:rowId xmlns:a16="http://schemas.microsoft.com/office/drawing/2014/main" val="269435483"/>
                  </a:ext>
                </a:extLst>
              </a:tr>
              <a:tr h="0">
                <a:tc>
                  <a:txBody>
                    <a:bodyPr/>
                    <a:lstStyle/>
                    <a:p>
                      <a:r>
                        <a:rPr lang="en-US" sz="1200" b="1"/>
                        <a:t>Unique photos kept</a:t>
                      </a:r>
                      <a:endParaRPr lang="en-US" sz="1200"/>
                    </a:p>
                  </a:txBody>
                  <a:tcPr anchor="ctr"/>
                </a:tc>
                <a:tc>
                  <a:txBody>
                    <a:bodyPr/>
                    <a:lstStyle/>
                    <a:p>
                      <a:r>
                        <a:rPr lang="en-US" altLang="ko-KR" sz="1200" b="1" dirty="0"/>
                        <a:t>1,247</a:t>
                      </a:r>
                      <a:endParaRPr lang="ko-KR" altLang="en-US" sz="1200" dirty="0"/>
                    </a:p>
                  </a:txBody>
                  <a:tcPr anchor="ctr"/>
                </a:tc>
                <a:extLst>
                  <a:ext uri="{0D108BD9-81ED-4DB2-BD59-A6C34878D82A}">
                    <a16:rowId xmlns:a16="http://schemas.microsoft.com/office/drawing/2014/main" val="1653332615"/>
                  </a:ext>
                </a:extLst>
              </a:tr>
              <a:tr h="0">
                <a:tc>
                  <a:txBody>
                    <a:bodyPr/>
                    <a:lstStyle/>
                    <a:p>
                      <a:r>
                        <a:rPr lang="en-US" sz="1200"/>
                        <a:t>Leaf crops extracted (55 boxes too small, removed)</a:t>
                      </a:r>
                    </a:p>
                  </a:txBody>
                  <a:tcPr anchor="ctr"/>
                </a:tc>
                <a:tc>
                  <a:txBody>
                    <a:bodyPr/>
                    <a:lstStyle/>
                    <a:p>
                      <a:r>
                        <a:rPr lang="en-US" altLang="ko-KR" sz="1200" dirty="0"/>
                        <a:t>3,429</a:t>
                      </a:r>
                    </a:p>
                  </a:txBody>
                  <a:tcPr anchor="ctr"/>
                </a:tc>
                <a:extLst>
                  <a:ext uri="{0D108BD9-81ED-4DB2-BD59-A6C34878D82A}">
                    <a16:rowId xmlns:a16="http://schemas.microsoft.com/office/drawing/2014/main" val="2846080257"/>
                  </a:ext>
                </a:extLst>
              </a:tr>
            </a:tbl>
          </a:graphicData>
        </a:graphic>
      </p:graphicFrame>
      <p:sp>
        <p:nvSpPr>
          <p:cNvPr id="55" name="Text 48">
            <a:extLst>
              <a:ext uri="{FF2B5EF4-FFF2-40B4-BE49-F238E27FC236}">
                <a16:creationId xmlns:a16="http://schemas.microsoft.com/office/drawing/2014/main" id="{012045F8-A968-4F62-861D-DB27EACB2476}"/>
              </a:ext>
            </a:extLst>
          </p:cNvPr>
          <p:cNvSpPr txBox="1"/>
          <p:nvPr/>
        </p:nvSpPr>
        <p:spPr>
          <a:xfrm>
            <a:off x="5865755" y="5835076"/>
            <a:ext cx="5828940" cy="502920"/>
          </a:xfrm>
          <a:prstGeom prst="rect">
            <a:avLst/>
          </a:prstGeom>
          <a:noFill/>
          <a:ln/>
        </p:spPr>
        <p:txBody>
          <a:bodyPr wrap="square" lIns="0" tIns="0" rIns="0" bIns="0" rtlCol="0" anchor="ctr"/>
          <a:lstStyle/>
          <a:p>
            <a:pPr marL="0" indent="0">
              <a:buNone/>
            </a:pPr>
            <a:r>
              <a:rPr lang="en-US" altLang="ko-KR" sz="1050" i="1" dirty="0">
                <a:solidFill>
                  <a:srgbClr val="5A6B4D"/>
                </a:solidFill>
                <a:latin typeface="Calibri" pitchFamily="34" charset="0"/>
                <a:ea typeface="Malgun Gothic"/>
                <a:cs typeface="Calibri" pitchFamily="34" charset="-120"/>
              </a:rPr>
              <a:t>Table 2. Leaf crops per split and class (분할·클래스별 잎 크롭 수); split 70 / 15 / 15 by photo.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METHODOLOGY  (연구 방법)</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Pipeline and CNN model</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파이프라인과 CNN 모델</a:t>
            </a:r>
            <a:endParaRPr lang="en-US" sz="3000" dirty="0"/>
          </a:p>
        </p:txBody>
      </p:sp>
      <p:sp>
        <p:nvSpPr>
          <p:cNvPr id="4" name="Shape 2"/>
          <p:cNvSpPr/>
          <p:nvPr/>
        </p:nvSpPr>
        <p:spPr>
          <a:xfrm>
            <a:off x="822960" y="1965960"/>
            <a:ext cx="2487168" cy="1737360"/>
          </a:xfrm>
          <a:prstGeom prst="roundRect">
            <a:avLst>
              <a:gd name="adj" fmla="val 4737"/>
            </a:avLst>
          </a:prstGeom>
          <a:solidFill>
            <a:srgbClr val="FFFFFF"/>
          </a:solidFill>
          <a:ln w="12700">
            <a:solidFill>
              <a:srgbClr val="97BC62"/>
            </a:solidFill>
            <a:prstDash val="solid"/>
          </a:ln>
        </p:spPr>
        <p:txBody>
          <a:bodyPr/>
          <a:lstStyle/>
          <a:p>
            <a:endParaRPr/>
          </a:p>
        </p:txBody>
      </p:sp>
      <p:sp>
        <p:nvSpPr>
          <p:cNvPr id="5" name="Shape 3"/>
          <p:cNvSpPr/>
          <p:nvPr/>
        </p:nvSpPr>
        <p:spPr>
          <a:xfrm>
            <a:off x="1005840" y="2148840"/>
            <a:ext cx="457200" cy="457200"/>
          </a:xfrm>
          <a:prstGeom prst="ellipse">
            <a:avLst/>
          </a:prstGeom>
          <a:solidFill>
            <a:srgbClr val="2C5F2D"/>
          </a:solidFill>
          <a:ln/>
        </p:spPr>
        <p:txBody>
          <a:bodyPr/>
          <a:lstStyle/>
          <a:p>
            <a:endParaRPr/>
          </a:p>
        </p:txBody>
      </p:sp>
      <p:sp>
        <p:nvSpPr>
          <p:cNvPr id="6" name="Text 4"/>
          <p:cNvSpPr txBox="1"/>
          <p:nvPr/>
        </p:nvSpPr>
        <p:spPr>
          <a:xfrm>
            <a:off x="1005840" y="21488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554480" y="2121408"/>
            <a:ext cx="1645920" cy="548640"/>
          </a:xfrm>
          <a:prstGeom prst="rect">
            <a:avLst/>
          </a:prstGeom>
          <a:noFill/>
          <a:ln/>
        </p:spPr>
        <p:txBody>
          <a:bodyPr wrap="square" lIns="0" tIns="0" rIns="0" bIns="0" rtlCol="0" anchor="ctr"/>
          <a:lstStyle/>
          <a:p>
            <a:pPr marL="0" indent="0">
              <a:buNone/>
            </a:pPr>
            <a:r>
              <a:rPr lang="en-US" sz="1450" b="1" dirty="0">
                <a:solidFill>
                  <a:srgbClr val="23301C"/>
                </a:solidFill>
                <a:latin typeface="Cambria" pitchFamily="34" charset="0"/>
                <a:ea typeface="Cambria" pitchFamily="34" charset="-122"/>
                <a:cs typeface="Cambria" pitchFamily="34" charset="-120"/>
              </a:rPr>
              <a:t>Clean &amp; crop
</a:t>
            </a:r>
            <a:endParaRPr lang="en-US" sz="1450" dirty="0"/>
          </a:p>
          <a:p>
            <a:pPr marL="0" indent="0">
              <a:buNone/>
            </a:pPr>
            <a:r>
              <a:rPr lang="en-US" altLang="ko-KR" sz="1100" dirty="0">
                <a:solidFill>
                  <a:srgbClr val="B5303B"/>
                </a:solidFill>
                <a:latin typeface="Calibri" pitchFamily="34" charset="0"/>
                <a:ea typeface="Malgun Gothic"/>
                <a:cs typeface="Calibri" pitchFamily="34" charset="-120"/>
              </a:rPr>
              <a:t>정제·크롭</a:t>
            </a:r>
            <a:endParaRPr lang="en-US" sz="1450" dirty="0"/>
          </a:p>
        </p:txBody>
      </p:sp>
      <p:sp>
        <p:nvSpPr>
          <p:cNvPr id="8" name="Text 6"/>
          <p:cNvSpPr txBox="1"/>
          <p:nvPr/>
        </p:nvSpPr>
        <p:spPr>
          <a:xfrm>
            <a:off x="1024128" y="2743200"/>
            <a:ext cx="2148840" cy="868680"/>
          </a:xfrm>
          <a:prstGeom prst="rect">
            <a:avLst/>
          </a:prstGeom>
          <a:noFill/>
          <a:ln/>
        </p:spPr>
        <p:txBody>
          <a:bodyPr wrap="square" lIns="0" tIns="0" rIns="0" bIns="0" rtlCol="0" anchor="ctr"/>
          <a:lstStyle/>
          <a:p>
            <a:pPr marL="0" indent="0">
              <a:buNone/>
            </a:pPr>
            <a:r>
              <a:rPr lang="en-US" sz="1100" dirty="0">
                <a:solidFill>
                  <a:srgbClr val="5A6B4D"/>
                </a:solidFill>
                <a:latin typeface="Calibri" pitchFamily="34" charset="0"/>
                <a:ea typeface="Calibri" pitchFamily="34" charset="-122"/>
                <a:cs typeface="Calibri" pitchFamily="34" charset="-120"/>
              </a:rPr>
              <a:t>Filter to 3 classes, remove duplicates, crop leaf regions</a:t>
            </a:r>
            <a:endParaRPr lang="en-US" sz="1100" dirty="0"/>
          </a:p>
        </p:txBody>
      </p:sp>
      <p:sp>
        <p:nvSpPr>
          <p:cNvPr id="9" name="Text 7"/>
          <p:cNvSpPr txBox="1"/>
          <p:nvPr/>
        </p:nvSpPr>
        <p:spPr>
          <a:xfrm>
            <a:off x="3218688" y="2377440"/>
            <a:ext cx="365760" cy="822960"/>
          </a:xfrm>
          <a:prstGeom prst="rect">
            <a:avLst/>
          </a:prstGeom>
          <a:noFill/>
          <a:ln/>
        </p:spPr>
        <p:txBody>
          <a:bodyPr wrap="square" lIns="0" tIns="0" rIns="0" bIns="0" rtlCol="0" anchor="ctr"/>
          <a:lstStyle/>
          <a:p>
            <a:pPr marL="0" indent="0" algn="ctr">
              <a:buNone/>
            </a:pPr>
            <a:r>
              <a:rPr lang="en-US" sz="2400" b="1" dirty="0">
                <a:solidFill>
                  <a:srgbClr val="6B8E3D"/>
                </a:solidFill>
                <a:latin typeface="Cambria" pitchFamily="34" charset="0"/>
                <a:ea typeface="Cambria" pitchFamily="34" charset="-122"/>
                <a:cs typeface="Cambria" pitchFamily="34" charset="-120"/>
              </a:rPr>
              <a:t>→</a:t>
            </a:r>
            <a:endParaRPr lang="en-US" sz="2400" dirty="0"/>
          </a:p>
        </p:txBody>
      </p:sp>
      <p:sp>
        <p:nvSpPr>
          <p:cNvPr id="10" name="Shape 8"/>
          <p:cNvSpPr/>
          <p:nvPr/>
        </p:nvSpPr>
        <p:spPr>
          <a:xfrm>
            <a:off x="3584448" y="1965960"/>
            <a:ext cx="2487168" cy="1737360"/>
          </a:xfrm>
          <a:prstGeom prst="roundRect">
            <a:avLst>
              <a:gd name="adj" fmla="val 4737"/>
            </a:avLst>
          </a:prstGeom>
          <a:solidFill>
            <a:srgbClr val="FFFFFF"/>
          </a:solidFill>
          <a:ln w="12700">
            <a:solidFill>
              <a:srgbClr val="97BC62"/>
            </a:solidFill>
            <a:prstDash val="solid"/>
          </a:ln>
        </p:spPr>
        <p:txBody>
          <a:bodyPr/>
          <a:lstStyle/>
          <a:p>
            <a:endParaRPr/>
          </a:p>
        </p:txBody>
      </p:sp>
      <p:sp>
        <p:nvSpPr>
          <p:cNvPr id="11" name="Shape 9"/>
          <p:cNvSpPr/>
          <p:nvPr/>
        </p:nvSpPr>
        <p:spPr>
          <a:xfrm>
            <a:off x="3767328" y="2148840"/>
            <a:ext cx="457200" cy="457200"/>
          </a:xfrm>
          <a:prstGeom prst="ellipse">
            <a:avLst/>
          </a:prstGeom>
          <a:solidFill>
            <a:srgbClr val="2C5F2D"/>
          </a:solidFill>
          <a:ln/>
        </p:spPr>
        <p:txBody>
          <a:bodyPr/>
          <a:lstStyle/>
          <a:p>
            <a:endParaRPr/>
          </a:p>
        </p:txBody>
      </p:sp>
      <p:sp>
        <p:nvSpPr>
          <p:cNvPr id="12" name="Text 10"/>
          <p:cNvSpPr txBox="1"/>
          <p:nvPr/>
        </p:nvSpPr>
        <p:spPr>
          <a:xfrm>
            <a:off x="3767328" y="21488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4315968" y="2121408"/>
            <a:ext cx="1645920" cy="548640"/>
          </a:xfrm>
          <a:prstGeom prst="rect">
            <a:avLst/>
          </a:prstGeom>
          <a:noFill/>
          <a:ln/>
        </p:spPr>
        <p:txBody>
          <a:bodyPr wrap="square" lIns="0" tIns="0" rIns="0" bIns="0" rtlCol="0" anchor="ctr"/>
          <a:lstStyle/>
          <a:p>
            <a:pPr marL="0" indent="0">
              <a:buNone/>
            </a:pPr>
            <a:r>
              <a:rPr lang="en-US" sz="1450" b="1" dirty="0">
                <a:solidFill>
                  <a:srgbClr val="23301C"/>
                </a:solidFill>
                <a:latin typeface="Cambria" pitchFamily="34" charset="0"/>
                <a:ea typeface="Cambria" pitchFamily="34" charset="-122"/>
                <a:cs typeface="Cambria" pitchFamily="34" charset="-120"/>
              </a:rPr>
              <a:t>Fixed split
</a:t>
            </a:r>
            <a:endParaRPr lang="en-US" sz="1450" dirty="0"/>
          </a:p>
          <a:p>
            <a:pPr marL="0" indent="0">
              <a:buNone/>
            </a:pPr>
            <a:r>
              <a:rPr lang="en-US" altLang="ko-KR" sz="1100" dirty="0">
                <a:solidFill>
                  <a:srgbClr val="B5303B"/>
                </a:solidFill>
                <a:latin typeface="Calibri" pitchFamily="34" charset="0"/>
                <a:ea typeface="Malgun Gothic"/>
                <a:cs typeface="Calibri" pitchFamily="34" charset="-120"/>
              </a:rPr>
              <a:t>고정 분할</a:t>
            </a:r>
            <a:endParaRPr lang="en-US" sz="1450" dirty="0"/>
          </a:p>
        </p:txBody>
      </p:sp>
      <p:sp>
        <p:nvSpPr>
          <p:cNvPr id="14" name="Text 12"/>
          <p:cNvSpPr txBox="1"/>
          <p:nvPr/>
        </p:nvSpPr>
        <p:spPr>
          <a:xfrm>
            <a:off x="3785616" y="2743200"/>
            <a:ext cx="2148840" cy="868680"/>
          </a:xfrm>
          <a:prstGeom prst="rect">
            <a:avLst/>
          </a:prstGeom>
          <a:noFill/>
          <a:ln/>
        </p:spPr>
        <p:txBody>
          <a:bodyPr wrap="square" lIns="0" tIns="0" rIns="0" bIns="0" rtlCol="0" anchor="ctr"/>
          <a:lstStyle/>
          <a:p>
            <a:pPr marL="0" indent="0">
              <a:buNone/>
            </a:pPr>
            <a:r>
              <a:rPr lang="en-US" sz="1100" dirty="0">
                <a:solidFill>
                  <a:srgbClr val="5A6B4D"/>
                </a:solidFill>
                <a:latin typeface="Calibri" pitchFamily="34" charset="0"/>
                <a:ea typeface="Calibri" pitchFamily="34" charset="-122"/>
                <a:cs typeface="Calibri" pitchFamily="34" charset="-120"/>
              </a:rPr>
              <a:t>70 / 15 / 15, grouped by photo, identical for every run</a:t>
            </a:r>
            <a:endParaRPr lang="en-US" sz="1100" dirty="0"/>
          </a:p>
        </p:txBody>
      </p:sp>
      <p:sp>
        <p:nvSpPr>
          <p:cNvPr id="15" name="Text 13"/>
          <p:cNvSpPr txBox="1"/>
          <p:nvPr/>
        </p:nvSpPr>
        <p:spPr>
          <a:xfrm>
            <a:off x="5980176" y="2377440"/>
            <a:ext cx="365760" cy="822960"/>
          </a:xfrm>
          <a:prstGeom prst="rect">
            <a:avLst/>
          </a:prstGeom>
          <a:noFill/>
          <a:ln/>
        </p:spPr>
        <p:txBody>
          <a:bodyPr wrap="square" lIns="0" tIns="0" rIns="0" bIns="0" rtlCol="0" anchor="ctr"/>
          <a:lstStyle/>
          <a:p>
            <a:pPr marL="0" indent="0" algn="ctr">
              <a:buNone/>
            </a:pPr>
            <a:r>
              <a:rPr lang="en-US" sz="2400" b="1" dirty="0">
                <a:solidFill>
                  <a:srgbClr val="6B8E3D"/>
                </a:solidFill>
                <a:latin typeface="Cambria" pitchFamily="34" charset="0"/>
                <a:ea typeface="Cambria" pitchFamily="34" charset="-122"/>
                <a:cs typeface="Cambria" pitchFamily="34" charset="-120"/>
              </a:rPr>
              <a:t>→</a:t>
            </a:r>
            <a:endParaRPr lang="en-US" sz="2400" dirty="0"/>
          </a:p>
        </p:txBody>
      </p:sp>
      <p:sp>
        <p:nvSpPr>
          <p:cNvPr id="16" name="Shape 14"/>
          <p:cNvSpPr/>
          <p:nvPr/>
        </p:nvSpPr>
        <p:spPr>
          <a:xfrm>
            <a:off x="6345936" y="1965960"/>
            <a:ext cx="2487168" cy="1737360"/>
          </a:xfrm>
          <a:prstGeom prst="roundRect">
            <a:avLst>
              <a:gd name="adj" fmla="val 4737"/>
            </a:avLst>
          </a:prstGeom>
          <a:solidFill>
            <a:srgbClr val="FFFFFF"/>
          </a:solidFill>
          <a:ln w="12700">
            <a:solidFill>
              <a:srgbClr val="97BC62"/>
            </a:solidFill>
            <a:prstDash val="solid"/>
          </a:ln>
        </p:spPr>
        <p:txBody>
          <a:bodyPr/>
          <a:lstStyle/>
          <a:p>
            <a:endParaRPr/>
          </a:p>
        </p:txBody>
      </p:sp>
      <p:sp>
        <p:nvSpPr>
          <p:cNvPr id="17" name="Shape 15"/>
          <p:cNvSpPr/>
          <p:nvPr/>
        </p:nvSpPr>
        <p:spPr>
          <a:xfrm>
            <a:off x="6528816" y="2148840"/>
            <a:ext cx="457200" cy="457200"/>
          </a:xfrm>
          <a:prstGeom prst="ellipse">
            <a:avLst/>
          </a:prstGeom>
          <a:solidFill>
            <a:srgbClr val="2C5F2D"/>
          </a:solidFill>
          <a:ln/>
        </p:spPr>
        <p:txBody>
          <a:bodyPr/>
          <a:lstStyle/>
          <a:p>
            <a:endParaRPr/>
          </a:p>
        </p:txBody>
      </p:sp>
      <p:sp>
        <p:nvSpPr>
          <p:cNvPr id="18" name="Text 16"/>
          <p:cNvSpPr txBox="1"/>
          <p:nvPr/>
        </p:nvSpPr>
        <p:spPr>
          <a:xfrm>
            <a:off x="6528816" y="21488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txBox="1"/>
          <p:nvPr/>
        </p:nvSpPr>
        <p:spPr>
          <a:xfrm>
            <a:off x="7077456" y="2121408"/>
            <a:ext cx="1645920" cy="548640"/>
          </a:xfrm>
          <a:prstGeom prst="rect">
            <a:avLst/>
          </a:prstGeom>
          <a:noFill/>
          <a:ln/>
        </p:spPr>
        <p:txBody>
          <a:bodyPr wrap="square" lIns="0" tIns="0" rIns="0" bIns="0" rtlCol="0" anchor="ctr"/>
          <a:lstStyle/>
          <a:p>
            <a:pPr marL="0" indent="0">
              <a:buNone/>
            </a:pPr>
            <a:r>
              <a:rPr lang="en-US" sz="1450" b="1" dirty="0">
                <a:solidFill>
                  <a:srgbClr val="23301C"/>
                </a:solidFill>
                <a:latin typeface="Cambria" pitchFamily="34" charset="0"/>
                <a:ea typeface="Cambria" pitchFamily="34" charset="-122"/>
                <a:cs typeface="Cambria" pitchFamily="34" charset="-120"/>
              </a:rPr>
              <a:t>Small CNN
</a:t>
            </a:r>
            <a:endParaRPr lang="en-US" sz="1450" dirty="0"/>
          </a:p>
          <a:p>
            <a:pPr marL="0" indent="0">
              <a:buNone/>
            </a:pPr>
            <a:r>
              <a:rPr lang="en-US" altLang="ko-KR" sz="1100" dirty="0">
                <a:solidFill>
                  <a:srgbClr val="B5303B"/>
                </a:solidFill>
                <a:latin typeface="Calibri" pitchFamily="34" charset="0"/>
                <a:ea typeface="Malgun Gothic"/>
                <a:cs typeface="Calibri" pitchFamily="34" charset="-120"/>
              </a:rPr>
              <a:t>소형 CNN</a:t>
            </a:r>
            <a:endParaRPr lang="en-US" sz="1450" dirty="0"/>
          </a:p>
        </p:txBody>
      </p:sp>
      <p:sp>
        <p:nvSpPr>
          <p:cNvPr id="20" name="Text 18"/>
          <p:cNvSpPr txBox="1"/>
          <p:nvPr/>
        </p:nvSpPr>
        <p:spPr>
          <a:xfrm>
            <a:off x="6547104" y="2743200"/>
            <a:ext cx="2148840" cy="868680"/>
          </a:xfrm>
          <a:prstGeom prst="rect">
            <a:avLst/>
          </a:prstGeom>
          <a:noFill/>
          <a:ln/>
        </p:spPr>
        <p:txBody>
          <a:bodyPr wrap="square" lIns="0" tIns="0" rIns="0" bIns="0" rtlCol="0" anchor="ctr"/>
          <a:lstStyle/>
          <a:p>
            <a:pPr marL="0" indent="0">
              <a:buNone/>
            </a:pPr>
            <a:r>
              <a:rPr lang="en-US" sz="1100" dirty="0">
                <a:solidFill>
                  <a:srgbClr val="5A6B4D"/>
                </a:solidFill>
                <a:latin typeface="Calibri" pitchFamily="34" charset="0"/>
                <a:ea typeface="Calibri" pitchFamily="34" charset="-122"/>
                <a:cs typeface="Calibri" pitchFamily="34" charset="-120"/>
              </a:rPr>
              <a:t>4 conv blocks + GAP + dense, 3-class output</a:t>
            </a:r>
            <a:endParaRPr lang="en-US" sz="1100" dirty="0"/>
          </a:p>
        </p:txBody>
      </p:sp>
      <p:sp>
        <p:nvSpPr>
          <p:cNvPr id="21" name="Text 19"/>
          <p:cNvSpPr txBox="1"/>
          <p:nvPr/>
        </p:nvSpPr>
        <p:spPr>
          <a:xfrm>
            <a:off x="8741664" y="2377440"/>
            <a:ext cx="365760" cy="822960"/>
          </a:xfrm>
          <a:prstGeom prst="rect">
            <a:avLst/>
          </a:prstGeom>
          <a:noFill/>
          <a:ln/>
        </p:spPr>
        <p:txBody>
          <a:bodyPr wrap="square" lIns="0" tIns="0" rIns="0" bIns="0" rtlCol="0" anchor="ctr"/>
          <a:lstStyle/>
          <a:p>
            <a:pPr marL="0" indent="0" algn="ctr">
              <a:buNone/>
            </a:pPr>
            <a:r>
              <a:rPr lang="en-US" sz="2400" b="1" dirty="0">
                <a:solidFill>
                  <a:srgbClr val="6B8E3D"/>
                </a:solidFill>
                <a:latin typeface="Cambria" pitchFamily="34" charset="0"/>
                <a:ea typeface="Cambria" pitchFamily="34" charset="-122"/>
                <a:cs typeface="Cambria" pitchFamily="34" charset="-120"/>
              </a:rPr>
              <a:t>→</a:t>
            </a:r>
            <a:endParaRPr lang="en-US" sz="2400" dirty="0"/>
          </a:p>
        </p:txBody>
      </p:sp>
      <p:sp>
        <p:nvSpPr>
          <p:cNvPr id="22" name="Shape 20"/>
          <p:cNvSpPr/>
          <p:nvPr/>
        </p:nvSpPr>
        <p:spPr>
          <a:xfrm>
            <a:off x="9107424" y="1965960"/>
            <a:ext cx="2487168" cy="1737360"/>
          </a:xfrm>
          <a:prstGeom prst="roundRect">
            <a:avLst>
              <a:gd name="adj" fmla="val 4737"/>
            </a:avLst>
          </a:prstGeom>
          <a:solidFill>
            <a:srgbClr val="FFFFFF"/>
          </a:solidFill>
          <a:ln w="12700">
            <a:solidFill>
              <a:srgbClr val="97BC62"/>
            </a:solidFill>
            <a:prstDash val="solid"/>
          </a:ln>
        </p:spPr>
        <p:txBody>
          <a:bodyPr/>
          <a:lstStyle/>
          <a:p>
            <a:endParaRPr/>
          </a:p>
        </p:txBody>
      </p:sp>
      <p:sp>
        <p:nvSpPr>
          <p:cNvPr id="23" name="Shape 21"/>
          <p:cNvSpPr/>
          <p:nvPr/>
        </p:nvSpPr>
        <p:spPr>
          <a:xfrm>
            <a:off x="9290304" y="2148840"/>
            <a:ext cx="457200" cy="457200"/>
          </a:xfrm>
          <a:prstGeom prst="ellipse">
            <a:avLst/>
          </a:prstGeom>
          <a:solidFill>
            <a:srgbClr val="2C5F2D"/>
          </a:solidFill>
          <a:ln/>
        </p:spPr>
        <p:txBody>
          <a:bodyPr/>
          <a:lstStyle/>
          <a:p>
            <a:endParaRPr/>
          </a:p>
        </p:txBody>
      </p:sp>
      <p:sp>
        <p:nvSpPr>
          <p:cNvPr id="24" name="Text 22"/>
          <p:cNvSpPr txBox="1"/>
          <p:nvPr/>
        </p:nvSpPr>
        <p:spPr>
          <a:xfrm>
            <a:off x="9290304" y="21488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txBox="1"/>
          <p:nvPr/>
        </p:nvSpPr>
        <p:spPr>
          <a:xfrm>
            <a:off x="9838944" y="2121408"/>
            <a:ext cx="1645920" cy="548640"/>
          </a:xfrm>
          <a:prstGeom prst="rect">
            <a:avLst/>
          </a:prstGeom>
          <a:noFill/>
          <a:ln/>
        </p:spPr>
        <p:txBody>
          <a:bodyPr wrap="square" lIns="0" tIns="0" rIns="0" bIns="0" rtlCol="0" anchor="ctr"/>
          <a:lstStyle/>
          <a:p>
            <a:pPr marL="0" indent="0">
              <a:buNone/>
            </a:pPr>
            <a:r>
              <a:rPr lang="en-US" sz="1450" b="1" dirty="0">
                <a:solidFill>
                  <a:srgbClr val="23301C"/>
                </a:solidFill>
                <a:latin typeface="Cambria" pitchFamily="34" charset="0"/>
                <a:ea typeface="Cambria" pitchFamily="34" charset="-122"/>
                <a:cs typeface="Cambria" pitchFamily="34" charset="-120"/>
              </a:rPr>
              <a:t>Tune &amp; train</a:t>
            </a:r>
            <a:endParaRPr lang="en-US" sz="1450" dirty="0"/>
          </a:p>
          <a:p>
            <a:pPr marL="0" indent="0">
              <a:buNone/>
            </a:pPr>
            <a:r>
              <a:rPr lang="en-US" altLang="ko-KR" sz="1100" dirty="0">
                <a:solidFill>
                  <a:srgbClr val="B5303B"/>
                </a:solidFill>
                <a:latin typeface="Calibri" pitchFamily="34" charset="0"/>
                <a:ea typeface="Malgun Gothic"/>
                <a:cs typeface="Calibri" pitchFamily="34" charset="-120"/>
              </a:rPr>
              <a:t>학습률 탐색·학습</a:t>
            </a:r>
            <a:endParaRPr lang="en-US" sz="1450" dirty="0"/>
          </a:p>
        </p:txBody>
      </p:sp>
      <p:sp>
        <p:nvSpPr>
          <p:cNvPr id="26" name="Text 24"/>
          <p:cNvSpPr txBox="1"/>
          <p:nvPr/>
        </p:nvSpPr>
        <p:spPr>
          <a:xfrm>
            <a:off x="9308592" y="2743200"/>
            <a:ext cx="2148840" cy="868680"/>
          </a:xfrm>
          <a:prstGeom prst="rect">
            <a:avLst/>
          </a:prstGeom>
          <a:noFill/>
          <a:ln/>
        </p:spPr>
        <p:txBody>
          <a:bodyPr wrap="square" lIns="0" tIns="0" rIns="0" bIns="0" rtlCol="0" anchor="ctr"/>
          <a:lstStyle/>
          <a:p>
            <a:pPr marL="0" indent="0">
              <a:buNone/>
            </a:pPr>
            <a:r>
              <a:rPr lang="en-US" sz="1100" dirty="0">
                <a:solidFill>
                  <a:srgbClr val="5A6B4D"/>
                </a:solidFill>
                <a:latin typeface="Calibri" pitchFamily="34" charset="0"/>
                <a:ea typeface="Calibri" pitchFamily="34" charset="-122"/>
                <a:cs typeface="Calibri" pitchFamily="34" charset="-120"/>
              </a:rPr>
              <a:t>Learning-rate sweep, then 5 seeds per optimizer</a:t>
            </a:r>
            <a:endParaRPr lang="en-US" sz="1100" dirty="0"/>
          </a:p>
        </p:txBody>
      </p:sp>
      <p:sp>
        <p:nvSpPr>
          <p:cNvPr id="27" name="Text 25"/>
          <p:cNvSpPr txBox="1"/>
          <p:nvPr/>
        </p:nvSpPr>
        <p:spPr>
          <a:xfrm>
            <a:off x="822960" y="3977640"/>
            <a:ext cx="5486400" cy="320040"/>
          </a:xfrm>
          <a:prstGeom prst="rect">
            <a:avLst/>
          </a:prstGeom>
          <a:noFill/>
          <a:ln/>
        </p:spPr>
        <p:txBody>
          <a:bodyPr wrap="square" lIns="0" tIns="0" rIns="0" bIns="0" rtlCol="0" anchor="ctr"/>
          <a:lstStyle/>
          <a:p>
            <a:pPr marL="0" indent="0">
              <a:buNone/>
            </a:pPr>
            <a:r>
              <a:rPr lang="en-US" altLang="ko-KR" sz="1250" b="1" dirty="0">
                <a:solidFill>
                  <a:srgbClr val="5A6B4D"/>
                </a:solidFill>
                <a:latin typeface="Calibri" pitchFamily="34" charset="0"/>
                <a:ea typeface="Malgun Gothic"/>
                <a:cs typeface="Calibri" pitchFamily="34" charset="-120"/>
              </a:rPr>
              <a:t>CNN architecture  ·  CNN 구조</a:t>
            </a:r>
            <a:endParaRPr lang="en-US" sz="1250" dirty="0"/>
          </a:p>
        </p:txBody>
      </p:sp>
      <p:sp>
        <p:nvSpPr>
          <p:cNvPr id="28" name="Shape 26"/>
          <p:cNvSpPr/>
          <p:nvPr/>
        </p:nvSpPr>
        <p:spPr>
          <a:xfrm>
            <a:off x="822960" y="4389120"/>
            <a:ext cx="1325880" cy="914400"/>
          </a:xfrm>
          <a:prstGeom prst="roundRect">
            <a:avLst>
              <a:gd name="adj" fmla="val 7000"/>
            </a:avLst>
          </a:prstGeom>
          <a:solidFill>
            <a:srgbClr val="2C5F2D"/>
          </a:solidFill>
          <a:ln/>
        </p:spPr>
        <p:txBody>
          <a:bodyPr/>
          <a:lstStyle/>
          <a:p>
            <a:endParaRPr/>
          </a:p>
        </p:txBody>
      </p:sp>
      <p:sp>
        <p:nvSpPr>
          <p:cNvPr id="29" name="Text 27"/>
          <p:cNvSpPr txBox="1"/>
          <p:nvPr/>
        </p:nvSpPr>
        <p:spPr>
          <a:xfrm>
            <a:off x="822960" y="4526280"/>
            <a:ext cx="13258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Input</a:t>
            </a:r>
            <a:endParaRPr lang="en-US" sz="1200" dirty="0"/>
          </a:p>
        </p:txBody>
      </p:sp>
      <p:sp>
        <p:nvSpPr>
          <p:cNvPr id="30" name="Text 28"/>
          <p:cNvSpPr txBox="1"/>
          <p:nvPr/>
        </p:nvSpPr>
        <p:spPr>
          <a:xfrm>
            <a:off x="822960" y="4919472"/>
            <a:ext cx="1325880" cy="292608"/>
          </a:xfrm>
          <a:prstGeom prst="rect">
            <a:avLst/>
          </a:prstGeom>
          <a:noFill/>
          <a:ln/>
        </p:spPr>
        <p:txBody>
          <a:bodyPr wrap="square" lIns="0" tIns="0" rIns="0" bIns="0" rtlCol="0" anchor="ctr"/>
          <a:lstStyle/>
          <a:p>
            <a:pPr marL="0" indent="0" algn="ctr">
              <a:buNone/>
            </a:pPr>
            <a:r>
              <a:rPr lang="en-US" sz="950" dirty="0">
                <a:solidFill>
                  <a:srgbClr val="EAF0E0"/>
                </a:solidFill>
                <a:latin typeface="Calibri" pitchFamily="34" charset="0"/>
                <a:ea typeface="Calibri" pitchFamily="34" charset="-122"/>
                <a:cs typeface="Calibri" pitchFamily="34" charset="-120"/>
              </a:rPr>
              <a:t>128×128×3</a:t>
            </a:r>
            <a:endParaRPr lang="en-US" sz="950" dirty="0"/>
          </a:p>
        </p:txBody>
      </p:sp>
      <p:sp>
        <p:nvSpPr>
          <p:cNvPr id="31" name="Text 29"/>
          <p:cNvSpPr txBox="1"/>
          <p:nvPr/>
        </p:nvSpPr>
        <p:spPr>
          <a:xfrm>
            <a:off x="2093976" y="4389120"/>
            <a:ext cx="219456" cy="914400"/>
          </a:xfrm>
          <a:prstGeom prst="rect">
            <a:avLst/>
          </a:prstGeom>
          <a:noFill/>
          <a:ln/>
        </p:spPr>
        <p:txBody>
          <a:bodyPr wrap="square" lIns="0" tIns="0" rIns="0" bIns="0" rtlCol="0" anchor="ctr"/>
          <a:lstStyle/>
          <a:p>
            <a:pPr marL="0" indent="0" algn="ctr">
              <a:buNone/>
            </a:pPr>
            <a:r>
              <a:rPr lang="en-US" sz="2000" b="1" dirty="0">
                <a:solidFill>
                  <a:srgbClr val="5A6B4D"/>
                </a:solidFill>
                <a:latin typeface="Cambria" pitchFamily="34" charset="0"/>
                <a:ea typeface="Cambria" pitchFamily="34" charset="-122"/>
                <a:cs typeface="Cambria" pitchFamily="34" charset="-120"/>
              </a:rPr>
              <a:t>›</a:t>
            </a:r>
            <a:endParaRPr lang="en-US" sz="2000" dirty="0"/>
          </a:p>
        </p:txBody>
      </p:sp>
      <p:sp>
        <p:nvSpPr>
          <p:cNvPr id="32" name="Shape 30"/>
          <p:cNvSpPr/>
          <p:nvPr/>
        </p:nvSpPr>
        <p:spPr>
          <a:xfrm>
            <a:off x="2194560" y="4389120"/>
            <a:ext cx="1325880" cy="914400"/>
          </a:xfrm>
          <a:prstGeom prst="roundRect">
            <a:avLst>
              <a:gd name="adj" fmla="val 7000"/>
            </a:avLst>
          </a:prstGeom>
          <a:solidFill>
            <a:srgbClr val="6B8E3D"/>
          </a:solidFill>
          <a:ln/>
        </p:spPr>
        <p:txBody>
          <a:bodyPr/>
          <a:lstStyle/>
          <a:p>
            <a:endParaRPr/>
          </a:p>
        </p:txBody>
      </p:sp>
      <p:sp>
        <p:nvSpPr>
          <p:cNvPr id="33" name="Text 31"/>
          <p:cNvSpPr txBox="1"/>
          <p:nvPr/>
        </p:nvSpPr>
        <p:spPr>
          <a:xfrm>
            <a:off x="2194560" y="4526280"/>
            <a:ext cx="13258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Conv 16</a:t>
            </a:r>
            <a:endParaRPr lang="en-US" sz="1200" dirty="0"/>
          </a:p>
        </p:txBody>
      </p:sp>
      <p:sp>
        <p:nvSpPr>
          <p:cNvPr id="34" name="Text 32"/>
          <p:cNvSpPr txBox="1"/>
          <p:nvPr/>
        </p:nvSpPr>
        <p:spPr>
          <a:xfrm>
            <a:off x="2194560" y="4919472"/>
            <a:ext cx="1325880" cy="292608"/>
          </a:xfrm>
          <a:prstGeom prst="rect">
            <a:avLst/>
          </a:prstGeom>
          <a:noFill/>
          <a:ln/>
        </p:spPr>
        <p:txBody>
          <a:bodyPr wrap="square" lIns="0" tIns="0" rIns="0" bIns="0" rtlCol="0" anchor="ctr"/>
          <a:lstStyle/>
          <a:p>
            <a:pPr marL="0" indent="0" algn="ctr">
              <a:buNone/>
            </a:pPr>
            <a:r>
              <a:rPr lang="en-US" sz="950" dirty="0">
                <a:solidFill>
                  <a:srgbClr val="EAF0E0"/>
                </a:solidFill>
                <a:latin typeface="Calibri" pitchFamily="34" charset="0"/>
                <a:ea typeface="Calibri" pitchFamily="34" charset="-122"/>
                <a:cs typeface="Calibri" pitchFamily="34" charset="-120"/>
              </a:rPr>
              <a:t>3×3</a:t>
            </a:r>
            <a:endParaRPr lang="en-US" sz="950" dirty="0"/>
          </a:p>
        </p:txBody>
      </p:sp>
      <p:sp>
        <p:nvSpPr>
          <p:cNvPr id="35" name="Text 33"/>
          <p:cNvSpPr txBox="1"/>
          <p:nvPr/>
        </p:nvSpPr>
        <p:spPr>
          <a:xfrm>
            <a:off x="3465576" y="4389120"/>
            <a:ext cx="219456" cy="914400"/>
          </a:xfrm>
          <a:prstGeom prst="rect">
            <a:avLst/>
          </a:prstGeom>
          <a:noFill/>
          <a:ln/>
        </p:spPr>
        <p:txBody>
          <a:bodyPr wrap="square" lIns="0" tIns="0" rIns="0" bIns="0" rtlCol="0" anchor="ctr"/>
          <a:lstStyle/>
          <a:p>
            <a:pPr marL="0" indent="0" algn="ctr">
              <a:buNone/>
            </a:pPr>
            <a:r>
              <a:rPr lang="en-US" sz="2000" b="1" dirty="0">
                <a:solidFill>
                  <a:srgbClr val="5A6B4D"/>
                </a:solidFill>
                <a:latin typeface="Cambria" pitchFamily="34" charset="0"/>
                <a:ea typeface="Cambria" pitchFamily="34" charset="-122"/>
                <a:cs typeface="Cambria" pitchFamily="34" charset="-120"/>
              </a:rPr>
              <a:t>›</a:t>
            </a:r>
            <a:endParaRPr lang="en-US" sz="2000" dirty="0"/>
          </a:p>
        </p:txBody>
      </p:sp>
      <p:sp>
        <p:nvSpPr>
          <p:cNvPr id="36" name="Shape 34"/>
          <p:cNvSpPr/>
          <p:nvPr/>
        </p:nvSpPr>
        <p:spPr>
          <a:xfrm>
            <a:off x="3566160" y="4389120"/>
            <a:ext cx="1325880" cy="914400"/>
          </a:xfrm>
          <a:prstGeom prst="roundRect">
            <a:avLst>
              <a:gd name="adj" fmla="val 7000"/>
            </a:avLst>
          </a:prstGeom>
          <a:solidFill>
            <a:srgbClr val="6B8E3D"/>
          </a:solidFill>
          <a:ln/>
        </p:spPr>
        <p:txBody>
          <a:bodyPr/>
          <a:lstStyle/>
          <a:p>
            <a:endParaRPr/>
          </a:p>
        </p:txBody>
      </p:sp>
      <p:sp>
        <p:nvSpPr>
          <p:cNvPr id="37" name="Text 35"/>
          <p:cNvSpPr txBox="1"/>
          <p:nvPr/>
        </p:nvSpPr>
        <p:spPr>
          <a:xfrm>
            <a:off x="3566160" y="4526280"/>
            <a:ext cx="13258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Conv 32</a:t>
            </a:r>
            <a:endParaRPr lang="en-US" sz="1200" dirty="0"/>
          </a:p>
        </p:txBody>
      </p:sp>
      <p:sp>
        <p:nvSpPr>
          <p:cNvPr id="38" name="Text 36"/>
          <p:cNvSpPr txBox="1"/>
          <p:nvPr/>
        </p:nvSpPr>
        <p:spPr>
          <a:xfrm>
            <a:off x="3566160" y="4919472"/>
            <a:ext cx="1325880" cy="292608"/>
          </a:xfrm>
          <a:prstGeom prst="rect">
            <a:avLst/>
          </a:prstGeom>
          <a:noFill/>
          <a:ln/>
        </p:spPr>
        <p:txBody>
          <a:bodyPr wrap="square" lIns="0" tIns="0" rIns="0" bIns="0" rtlCol="0" anchor="ctr"/>
          <a:lstStyle/>
          <a:p>
            <a:pPr marL="0" indent="0" algn="ctr">
              <a:buNone/>
            </a:pPr>
            <a:r>
              <a:rPr lang="en-US" sz="950" dirty="0">
                <a:solidFill>
                  <a:srgbClr val="EAF0E0"/>
                </a:solidFill>
                <a:latin typeface="Calibri" pitchFamily="34" charset="0"/>
                <a:ea typeface="Calibri" pitchFamily="34" charset="-122"/>
                <a:cs typeface="Calibri" pitchFamily="34" charset="-120"/>
              </a:rPr>
              <a:t>3×3</a:t>
            </a:r>
            <a:endParaRPr lang="en-US" sz="950" dirty="0"/>
          </a:p>
        </p:txBody>
      </p:sp>
      <p:sp>
        <p:nvSpPr>
          <p:cNvPr id="39" name="Text 37"/>
          <p:cNvSpPr txBox="1"/>
          <p:nvPr/>
        </p:nvSpPr>
        <p:spPr>
          <a:xfrm>
            <a:off x="4837176" y="4389120"/>
            <a:ext cx="219456" cy="914400"/>
          </a:xfrm>
          <a:prstGeom prst="rect">
            <a:avLst/>
          </a:prstGeom>
          <a:noFill/>
          <a:ln/>
        </p:spPr>
        <p:txBody>
          <a:bodyPr wrap="square" lIns="0" tIns="0" rIns="0" bIns="0" rtlCol="0" anchor="ctr"/>
          <a:lstStyle/>
          <a:p>
            <a:pPr marL="0" indent="0" algn="ctr">
              <a:buNone/>
            </a:pPr>
            <a:r>
              <a:rPr lang="en-US" sz="2000" b="1" dirty="0">
                <a:solidFill>
                  <a:srgbClr val="5A6B4D"/>
                </a:solidFill>
                <a:latin typeface="Cambria" pitchFamily="34" charset="0"/>
                <a:ea typeface="Cambria" pitchFamily="34" charset="-122"/>
                <a:cs typeface="Cambria" pitchFamily="34" charset="-120"/>
              </a:rPr>
              <a:t>›</a:t>
            </a:r>
            <a:endParaRPr lang="en-US" sz="2000" dirty="0"/>
          </a:p>
        </p:txBody>
      </p:sp>
      <p:sp>
        <p:nvSpPr>
          <p:cNvPr id="40" name="Shape 38"/>
          <p:cNvSpPr/>
          <p:nvPr/>
        </p:nvSpPr>
        <p:spPr>
          <a:xfrm>
            <a:off x="4937760" y="4389120"/>
            <a:ext cx="1325880" cy="914400"/>
          </a:xfrm>
          <a:prstGeom prst="roundRect">
            <a:avLst>
              <a:gd name="adj" fmla="val 7000"/>
            </a:avLst>
          </a:prstGeom>
          <a:solidFill>
            <a:srgbClr val="6B8E3D"/>
          </a:solidFill>
          <a:ln/>
        </p:spPr>
        <p:txBody>
          <a:bodyPr/>
          <a:lstStyle/>
          <a:p>
            <a:endParaRPr/>
          </a:p>
        </p:txBody>
      </p:sp>
      <p:sp>
        <p:nvSpPr>
          <p:cNvPr id="41" name="Text 39"/>
          <p:cNvSpPr txBox="1"/>
          <p:nvPr/>
        </p:nvSpPr>
        <p:spPr>
          <a:xfrm>
            <a:off x="4937760" y="4526280"/>
            <a:ext cx="13258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Conv 64</a:t>
            </a:r>
            <a:endParaRPr lang="en-US" sz="1200" dirty="0"/>
          </a:p>
        </p:txBody>
      </p:sp>
      <p:sp>
        <p:nvSpPr>
          <p:cNvPr id="42" name="Text 40"/>
          <p:cNvSpPr txBox="1"/>
          <p:nvPr/>
        </p:nvSpPr>
        <p:spPr>
          <a:xfrm>
            <a:off x="4937760" y="4919472"/>
            <a:ext cx="1325880" cy="292608"/>
          </a:xfrm>
          <a:prstGeom prst="rect">
            <a:avLst/>
          </a:prstGeom>
          <a:noFill/>
          <a:ln/>
        </p:spPr>
        <p:txBody>
          <a:bodyPr wrap="square" lIns="0" tIns="0" rIns="0" bIns="0" rtlCol="0" anchor="ctr"/>
          <a:lstStyle/>
          <a:p>
            <a:pPr marL="0" indent="0" algn="ctr">
              <a:buNone/>
            </a:pPr>
            <a:r>
              <a:rPr lang="en-US" sz="950" dirty="0">
                <a:solidFill>
                  <a:srgbClr val="EAF0E0"/>
                </a:solidFill>
                <a:latin typeface="Calibri" pitchFamily="34" charset="0"/>
                <a:ea typeface="Calibri" pitchFamily="34" charset="-122"/>
                <a:cs typeface="Calibri" pitchFamily="34" charset="-120"/>
              </a:rPr>
              <a:t>3×3</a:t>
            </a:r>
            <a:endParaRPr lang="en-US" sz="950" dirty="0"/>
          </a:p>
        </p:txBody>
      </p:sp>
      <p:sp>
        <p:nvSpPr>
          <p:cNvPr id="43" name="Text 41"/>
          <p:cNvSpPr txBox="1"/>
          <p:nvPr/>
        </p:nvSpPr>
        <p:spPr>
          <a:xfrm>
            <a:off x="6208776" y="4389120"/>
            <a:ext cx="219456" cy="914400"/>
          </a:xfrm>
          <a:prstGeom prst="rect">
            <a:avLst/>
          </a:prstGeom>
          <a:noFill/>
          <a:ln/>
        </p:spPr>
        <p:txBody>
          <a:bodyPr wrap="square" lIns="0" tIns="0" rIns="0" bIns="0" rtlCol="0" anchor="ctr"/>
          <a:lstStyle/>
          <a:p>
            <a:pPr marL="0" indent="0" algn="ctr">
              <a:buNone/>
            </a:pPr>
            <a:r>
              <a:rPr lang="en-US" sz="2000" b="1" dirty="0">
                <a:solidFill>
                  <a:srgbClr val="5A6B4D"/>
                </a:solidFill>
                <a:latin typeface="Cambria" pitchFamily="34" charset="0"/>
                <a:ea typeface="Cambria" pitchFamily="34" charset="-122"/>
                <a:cs typeface="Cambria" pitchFamily="34" charset="-120"/>
              </a:rPr>
              <a:t>›</a:t>
            </a:r>
            <a:endParaRPr lang="en-US" sz="2000" dirty="0"/>
          </a:p>
        </p:txBody>
      </p:sp>
      <p:sp>
        <p:nvSpPr>
          <p:cNvPr id="44" name="Shape 42"/>
          <p:cNvSpPr/>
          <p:nvPr/>
        </p:nvSpPr>
        <p:spPr>
          <a:xfrm>
            <a:off x="6309360" y="4389120"/>
            <a:ext cx="1325880" cy="914400"/>
          </a:xfrm>
          <a:prstGeom prst="roundRect">
            <a:avLst>
              <a:gd name="adj" fmla="val 7000"/>
            </a:avLst>
          </a:prstGeom>
          <a:solidFill>
            <a:srgbClr val="6B8E3D"/>
          </a:solidFill>
          <a:ln/>
        </p:spPr>
        <p:txBody>
          <a:bodyPr/>
          <a:lstStyle/>
          <a:p>
            <a:endParaRPr/>
          </a:p>
        </p:txBody>
      </p:sp>
      <p:sp>
        <p:nvSpPr>
          <p:cNvPr id="45" name="Text 43"/>
          <p:cNvSpPr txBox="1"/>
          <p:nvPr/>
        </p:nvSpPr>
        <p:spPr>
          <a:xfrm>
            <a:off x="6309360" y="4526280"/>
            <a:ext cx="13258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Conv 128</a:t>
            </a:r>
            <a:endParaRPr lang="en-US" sz="1200" dirty="0"/>
          </a:p>
        </p:txBody>
      </p:sp>
      <p:sp>
        <p:nvSpPr>
          <p:cNvPr id="46" name="Text 44"/>
          <p:cNvSpPr txBox="1"/>
          <p:nvPr/>
        </p:nvSpPr>
        <p:spPr>
          <a:xfrm>
            <a:off x="6309360" y="4919472"/>
            <a:ext cx="1325880" cy="292608"/>
          </a:xfrm>
          <a:prstGeom prst="rect">
            <a:avLst/>
          </a:prstGeom>
          <a:noFill/>
          <a:ln/>
        </p:spPr>
        <p:txBody>
          <a:bodyPr wrap="square" lIns="0" tIns="0" rIns="0" bIns="0" rtlCol="0" anchor="ctr"/>
          <a:lstStyle/>
          <a:p>
            <a:pPr marL="0" indent="0" algn="ctr">
              <a:buNone/>
            </a:pPr>
            <a:r>
              <a:rPr lang="en-US" sz="950" dirty="0">
                <a:solidFill>
                  <a:srgbClr val="EAF0E0"/>
                </a:solidFill>
                <a:latin typeface="Calibri" pitchFamily="34" charset="0"/>
                <a:ea typeface="Calibri" pitchFamily="34" charset="-122"/>
                <a:cs typeface="Calibri" pitchFamily="34" charset="-120"/>
              </a:rPr>
              <a:t>3×3</a:t>
            </a:r>
            <a:endParaRPr lang="en-US" sz="950" dirty="0"/>
          </a:p>
        </p:txBody>
      </p:sp>
      <p:sp>
        <p:nvSpPr>
          <p:cNvPr id="47" name="Text 45"/>
          <p:cNvSpPr txBox="1"/>
          <p:nvPr/>
        </p:nvSpPr>
        <p:spPr>
          <a:xfrm>
            <a:off x="7580376" y="4389120"/>
            <a:ext cx="219456" cy="914400"/>
          </a:xfrm>
          <a:prstGeom prst="rect">
            <a:avLst/>
          </a:prstGeom>
          <a:noFill/>
          <a:ln/>
        </p:spPr>
        <p:txBody>
          <a:bodyPr wrap="square" lIns="0" tIns="0" rIns="0" bIns="0" rtlCol="0" anchor="ctr"/>
          <a:lstStyle/>
          <a:p>
            <a:pPr marL="0" indent="0" algn="ctr">
              <a:buNone/>
            </a:pPr>
            <a:r>
              <a:rPr lang="en-US" sz="2000" b="1" dirty="0">
                <a:solidFill>
                  <a:srgbClr val="5A6B4D"/>
                </a:solidFill>
                <a:latin typeface="Cambria" pitchFamily="34" charset="0"/>
                <a:ea typeface="Cambria" pitchFamily="34" charset="-122"/>
                <a:cs typeface="Cambria" pitchFamily="34" charset="-120"/>
              </a:rPr>
              <a:t>›</a:t>
            </a:r>
            <a:endParaRPr lang="en-US" sz="2000" dirty="0"/>
          </a:p>
        </p:txBody>
      </p:sp>
      <p:sp>
        <p:nvSpPr>
          <p:cNvPr id="48" name="Shape 46"/>
          <p:cNvSpPr/>
          <p:nvPr/>
        </p:nvSpPr>
        <p:spPr>
          <a:xfrm>
            <a:off x="7680960" y="4389120"/>
            <a:ext cx="1325880" cy="914400"/>
          </a:xfrm>
          <a:prstGeom prst="roundRect">
            <a:avLst>
              <a:gd name="adj" fmla="val 7000"/>
            </a:avLst>
          </a:prstGeom>
          <a:solidFill>
            <a:srgbClr val="6B8E3D"/>
          </a:solidFill>
          <a:ln/>
        </p:spPr>
        <p:txBody>
          <a:bodyPr/>
          <a:lstStyle/>
          <a:p>
            <a:endParaRPr/>
          </a:p>
        </p:txBody>
      </p:sp>
      <p:sp>
        <p:nvSpPr>
          <p:cNvPr id="49" name="Text 47"/>
          <p:cNvSpPr txBox="1"/>
          <p:nvPr/>
        </p:nvSpPr>
        <p:spPr>
          <a:xfrm>
            <a:off x="7680960" y="4389120"/>
            <a:ext cx="132588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GAP</a:t>
            </a:r>
            <a:endParaRPr lang="en-US" sz="1200" dirty="0"/>
          </a:p>
        </p:txBody>
      </p:sp>
      <p:sp>
        <p:nvSpPr>
          <p:cNvPr id="50" name="Text 48"/>
          <p:cNvSpPr txBox="1"/>
          <p:nvPr/>
        </p:nvSpPr>
        <p:spPr>
          <a:xfrm>
            <a:off x="8951976" y="4389120"/>
            <a:ext cx="219456" cy="914400"/>
          </a:xfrm>
          <a:prstGeom prst="rect">
            <a:avLst/>
          </a:prstGeom>
          <a:noFill/>
          <a:ln/>
        </p:spPr>
        <p:txBody>
          <a:bodyPr wrap="square" lIns="0" tIns="0" rIns="0" bIns="0" rtlCol="0" anchor="ctr"/>
          <a:lstStyle/>
          <a:p>
            <a:pPr marL="0" indent="0" algn="ctr">
              <a:buNone/>
            </a:pPr>
            <a:r>
              <a:rPr lang="en-US" sz="2000" b="1" dirty="0">
                <a:solidFill>
                  <a:srgbClr val="5A6B4D"/>
                </a:solidFill>
                <a:latin typeface="Cambria" pitchFamily="34" charset="0"/>
                <a:ea typeface="Cambria" pitchFamily="34" charset="-122"/>
                <a:cs typeface="Cambria" pitchFamily="34" charset="-120"/>
              </a:rPr>
              <a:t>›</a:t>
            </a:r>
            <a:endParaRPr lang="en-US" sz="2000" dirty="0"/>
          </a:p>
        </p:txBody>
      </p:sp>
      <p:sp>
        <p:nvSpPr>
          <p:cNvPr id="51" name="Shape 49"/>
          <p:cNvSpPr/>
          <p:nvPr/>
        </p:nvSpPr>
        <p:spPr>
          <a:xfrm>
            <a:off x="9052560" y="4389120"/>
            <a:ext cx="1325880" cy="914400"/>
          </a:xfrm>
          <a:prstGeom prst="roundRect">
            <a:avLst>
              <a:gd name="adj" fmla="val 7000"/>
            </a:avLst>
          </a:prstGeom>
          <a:solidFill>
            <a:srgbClr val="6B8E3D"/>
          </a:solidFill>
          <a:ln/>
        </p:spPr>
        <p:txBody>
          <a:bodyPr/>
          <a:lstStyle/>
          <a:p>
            <a:endParaRPr/>
          </a:p>
        </p:txBody>
      </p:sp>
      <p:sp>
        <p:nvSpPr>
          <p:cNvPr id="52" name="Text 50"/>
          <p:cNvSpPr txBox="1"/>
          <p:nvPr/>
        </p:nvSpPr>
        <p:spPr>
          <a:xfrm>
            <a:off x="9052560" y="4526280"/>
            <a:ext cx="13258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Dense 64</a:t>
            </a:r>
            <a:endParaRPr lang="en-US" sz="1200" dirty="0"/>
          </a:p>
        </p:txBody>
      </p:sp>
      <p:sp>
        <p:nvSpPr>
          <p:cNvPr id="53" name="Text 51"/>
          <p:cNvSpPr txBox="1"/>
          <p:nvPr/>
        </p:nvSpPr>
        <p:spPr>
          <a:xfrm>
            <a:off x="9052560" y="4919472"/>
            <a:ext cx="1325880" cy="292608"/>
          </a:xfrm>
          <a:prstGeom prst="rect">
            <a:avLst/>
          </a:prstGeom>
          <a:noFill/>
          <a:ln/>
        </p:spPr>
        <p:txBody>
          <a:bodyPr wrap="square" lIns="0" tIns="0" rIns="0" bIns="0" rtlCol="0" anchor="ctr"/>
          <a:lstStyle/>
          <a:p>
            <a:pPr marL="0" indent="0" algn="ctr">
              <a:buNone/>
            </a:pPr>
            <a:r>
              <a:rPr lang="en-US" sz="950" dirty="0">
                <a:solidFill>
                  <a:srgbClr val="EAF0E0"/>
                </a:solidFill>
                <a:latin typeface="Calibri" pitchFamily="34" charset="0"/>
                <a:ea typeface="Calibri" pitchFamily="34" charset="-122"/>
                <a:cs typeface="Calibri" pitchFamily="34" charset="-120"/>
              </a:rPr>
              <a:t>ReLU</a:t>
            </a:r>
            <a:endParaRPr lang="en-US" sz="950" dirty="0"/>
          </a:p>
        </p:txBody>
      </p:sp>
      <p:sp>
        <p:nvSpPr>
          <p:cNvPr id="54" name="Text 52"/>
          <p:cNvSpPr txBox="1"/>
          <p:nvPr/>
        </p:nvSpPr>
        <p:spPr>
          <a:xfrm>
            <a:off x="10323576" y="4389120"/>
            <a:ext cx="219456" cy="914400"/>
          </a:xfrm>
          <a:prstGeom prst="rect">
            <a:avLst/>
          </a:prstGeom>
          <a:noFill/>
          <a:ln/>
        </p:spPr>
        <p:txBody>
          <a:bodyPr wrap="square" lIns="0" tIns="0" rIns="0" bIns="0" rtlCol="0" anchor="ctr"/>
          <a:lstStyle/>
          <a:p>
            <a:pPr marL="0" indent="0" algn="ctr">
              <a:buNone/>
            </a:pPr>
            <a:r>
              <a:rPr lang="en-US" sz="2000" b="1" dirty="0">
                <a:solidFill>
                  <a:srgbClr val="5A6B4D"/>
                </a:solidFill>
                <a:latin typeface="Cambria" pitchFamily="34" charset="0"/>
                <a:ea typeface="Cambria" pitchFamily="34" charset="-122"/>
                <a:cs typeface="Cambria" pitchFamily="34" charset="-120"/>
              </a:rPr>
              <a:t>›</a:t>
            </a:r>
            <a:endParaRPr lang="en-US" sz="2000" dirty="0"/>
          </a:p>
        </p:txBody>
      </p:sp>
      <p:sp>
        <p:nvSpPr>
          <p:cNvPr id="55" name="Shape 53"/>
          <p:cNvSpPr/>
          <p:nvPr/>
        </p:nvSpPr>
        <p:spPr>
          <a:xfrm>
            <a:off x="10424160" y="4389120"/>
            <a:ext cx="1325880" cy="914400"/>
          </a:xfrm>
          <a:prstGeom prst="roundRect">
            <a:avLst>
              <a:gd name="adj" fmla="val 7000"/>
            </a:avLst>
          </a:prstGeom>
          <a:solidFill>
            <a:srgbClr val="B5303B"/>
          </a:solidFill>
          <a:ln/>
        </p:spPr>
        <p:txBody>
          <a:bodyPr/>
          <a:lstStyle/>
          <a:p>
            <a:endParaRPr/>
          </a:p>
        </p:txBody>
      </p:sp>
      <p:sp>
        <p:nvSpPr>
          <p:cNvPr id="56" name="Text 54"/>
          <p:cNvSpPr txBox="1"/>
          <p:nvPr/>
        </p:nvSpPr>
        <p:spPr>
          <a:xfrm>
            <a:off x="10424160" y="4526280"/>
            <a:ext cx="13258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Output</a:t>
            </a:r>
            <a:endParaRPr lang="en-US" sz="1200" dirty="0"/>
          </a:p>
        </p:txBody>
      </p:sp>
      <p:sp>
        <p:nvSpPr>
          <p:cNvPr id="57" name="Text 55"/>
          <p:cNvSpPr txBox="1"/>
          <p:nvPr/>
        </p:nvSpPr>
        <p:spPr>
          <a:xfrm>
            <a:off x="10424160" y="4919472"/>
            <a:ext cx="1325880" cy="292608"/>
          </a:xfrm>
          <a:prstGeom prst="rect">
            <a:avLst/>
          </a:prstGeom>
          <a:noFill/>
          <a:ln/>
        </p:spPr>
        <p:txBody>
          <a:bodyPr wrap="square" lIns="0" tIns="0" rIns="0" bIns="0" rtlCol="0" anchor="ctr"/>
          <a:lstStyle/>
          <a:p>
            <a:pPr marL="0" indent="0" algn="ctr">
              <a:buNone/>
            </a:pPr>
            <a:r>
              <a:rPr lang="en-US" sz="950" dirty="0">
                <a:solidFill>
                  <a:srgbClr val="EAF0E0"/>
                </a:solidFill>
                <a:latin typeface="Calibri" pitchFamily="34" charset="0"/>
                <a:ea typeface="Calibri" pitchFamily="34" charset="-122"/>
                <a:cs typeface="Calibri" pitchFamily="34" charset="-120"/>
              </a:rPr>
              <a:t>3</a:t>
            </a:r>
            <a:endParaRPr lang="en-US" sz="950" dirty="0"/>
          </a:p>
        </p:txBody>
      </p:sp>
      <p:sp>
        <p:nvSpPr>
          <p:cNvPr id="58" name="Text 56"/>
          <p:cNvSpPr txBox="1"/>
          <p:nvPr/>
        </p:nvSpPr>
        <p:spPr>
          <a:xfrm>
            <a:off x="822960" y="5532120"/>
            <a:ext cx="10515600" cy="548640"/>
          </a:xfrm>
          <a:prstGeom prst="rect">
            <a:avLst/>
          </a:prstGeom>
          <a:noFill/>
          <a:ln/>
        </p:spPr>
        <p:txBody>
          <a:bodyPr wrap="square" lIns="0" tIns="0" rIns="0" bIns="0" rtlCol="0" anchor="ctr"/>
          <a:lstStyle/>
          <a:p>
            <a:pPr marL="0" indent="0">
              <a:buNone/>
            </a:pPr>
            <a:r>
              <a:rPr lang="en-US" altLang="ko-KR" sz="1100" i="1" dirty="0">
                <a:solidFill>
                  <a:srgbClr val="5A6B4D"/>
                </a:solidFill>
                <a:latin typeface="Calibri" pitchFamily="34" charset="0"/>
                <a:ea typeface="Malgun Gothic"/>
                <a:cs typeface="Calibri" pitchFamily="34" charset="-120"/>
              </a:rPr>
              <a:t>Held fixed across all runs: architecture, split, preprocessing, batch size, loss, epoch budget, early stopping.  (모든 실행에서 고정: 구조·분할·전처리·배치 크기·손실·에폭·조기 종료)</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EXPERIMENTAL VARIABLE  (실험 변수)</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The four optimizers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4가지 최적화 알고리즘</a:t>
            </a:r>
            <a:endParaRPr lang="en-US" sz="3000" dirty="0"/>
          </a:p>
        </p:txBody>
      </p:sp>
      <p:sp>
        <p:nvSpPr>
          <p:cNvPr id="4" name="Shape 2"/>
          <p:cNvSpPr/>
          <p:nvPr/>
        </p:nvSpPr>
        <p:spPr>
          <a:xfrm>
            <a:off x="822960" y="2011680"/>
            <a:ext cx="5120640" cy="1920240"/>
          </a:xfrm>
          <a:prstGeom prst="roundRect">
            <a:avLst>
              <a:gd name="adj" fmla="val 4762"/>
            </a:avLst>
          </a:prstGeom>
          <a:solidFill>
            <a:srgbClr val="FFFFFF"/>
          </a:solidFill>
          <a:ln w="12700">
            <a:solidFill>
              <a:srgbClr val="97BC62"/>
            </a:solidFill>
            <a:prstDash val="solid"/>
          </a:ln>
        </p:spPr>
        <p:txBody>
          <a:bodyPr/>
          <a:lstStyle/>
          <a:p>
            <a:endParaRPr/>
          </a:p>
        </p:txBody>
      </p:sp>
      <p:sp>
        <p:nvSpPr>
          <p:cNvPr id="5" name="Shape 3"/>
          <p:cNvSpPr/>
          <p:nvPr/>
        </p:nvSpPr>
        <p:spPr>
          <a:xfrm>
            <a:off x="1143000" y="2331720"/>
            <a:ext cx="640080" cy="640080"/>
          </a:xfrm>
          <a:prstGeom prst="ellipse">
            <a:avLst/>
          </a:prstGeom>
          <a:solidFill>
            <a:srgbClr val="2C5F2D"/>
          </a:solidFill>
          <a:ln/>
        </p:spPr>
        <p:txBody>
          <a:bodyPr/>
          <a:lstStyle/>
          <a:p>
            <a:endParaRPr/>
          </a:p>
        </p:txBody>
      </p:sp>
      <p:sp>
        <p:nvSpPr>
          <p:cNvPr id="6" name="Text 4"/>
          <p:cNvSpPr txBox="1"/>
          <p:nvPr/>
        </p:nvSpPr>
        <p:spPr>
          <a:xfrm>
            <a:off x="1143000" y="2331720"/>
            <a:ext cx="640080" cy="640080"/>
          </a:xfrm>
          <a:prstGeom prst="rect">
            <a:avLst/>
          </a:prstGeom>
          <a:noFill/>
          <a:ln>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2011680" y="2267712"/>
            <a:ext cx="3657600" cy="868680"/>
          </a:xfrm>
          <a:prstGeom prst="rect">
            <a:avLst/>
          </a:prstGeom>
          <a:noFill/>
          <a:ln/>
        </p:spPr>
        <p:txBody>
          <a:bodyPr wrap="square" lIns="0" tIns="0" rIns="0" bIns="0" rtlCol="0" anchor="ctr"/>
          <a:lstStyle/>
          <a:p>
            <a:pPr marL="0" indent="0">
              <a:buNone/>
            </a:pPr>
            <a:r>
              <a:rPr lang="en-US" sz="2200" b="1" dirty="0">
                <a:solidFill>
                  <a:srgbClr val="23301C"/>
                </a:solidFill>
                <a:latin typeface="Cambria" pitchFamily="34" charset="0"/>
                <a:ea typeface="Cambria" pitchFamily="34" charset="-122"/>
                <a:cs typeface="Cambria" pitchFamily="34" charset="-120"/>
              </a:rPr>
              <a:t>SGD
</a:t>
            </a:r>
            <a:endParaRPr lang="en-US" sz="2200" dirty="0"/>
          </a:p>
          <a:p>
            <a:pPr marL="0" indent="0">
              <a:buNone/>
            </a:pPr>
            <a:r>
              <a:rPr lang="en-US" altLang="ko-KR" sz="1250" dirty="0">
                <a:solidFill>
                  <a:srgbClr val="B5303B"/>
                </a:solidFill>
                <a:latin typeface="Calibri" pitchFamily="34" charset="0"/>
                <a:ea typeface="Malgun Gothic"/>
                <a:cs typeface="Calibri" pitchFamily="34" charset="-120"/>
              </a:rPr>
              <a:t>확률적 경사하강법</a:t>
            </a:r>
            <a:endParaRPr lang="en-US" sz="2200" dirty="0"/>
          </a:p>
        </p:txBody>
      </p:sp>
      <p:sp>
        <p:nvSpPr>
          <p:cNvPr id="8" name="Text 6"/>
          <p:cNvSpPr txBox="1"/>
          <p:nvPr/>
        </p:nvSpPr>
        <p:spPr>
          <a:xfrm>
            <a:off x="1143000" y="3154680"/>
            <a:ext cx="4480560" cy="685800"/>
          </a:xfrm>
          <a:prstGeom prst="rect">
            <a:avLst/>
          </a:prstGeom>
          <a:noFill/>
          <a:ln/>
        </p:spPr>
        <p:txBody>
          <a:bodyPr wrap="square" lIns="0" tIns="0" rIns="0" bIns="0" rtlCol="0" anchor="ctr"/>
          <a:lstStyle/>
          <a:p>
            <a:pPr marL="0" indent="0">
              <a:buNone/>
            </a:pPr>
            <a:r>
              <a:rPr lang="en-US" sz="1250" dirty="0">
                <a:solidFill>
                  <a:srgbClr val="5A6B4D"/>
                </a:solidFill>
                <a:latin typeface="Calibri" pitchFamily="34" charset="0"/>
                <a:ea typeface="Calibri" pitchFamily="34" charset="-122"/>
                <a:cs typeface="Calibri" pitchFamily="34" charset="-120"/>
              </a:rPr>
              <a:t>Plain stochastic gradient descent — the simple baseline.</a:t>
            </a:r>
            <a:endParaRPr lang="en-US" sz="1250" dirty="0"/>
          </a:p>
        </p:txBody>
      </p:sp>
      <p:sp>
        <p:nvSpPr>
          <p:cNvPr id="9" name="Shape 7"/>
          <p:cNvSpPr/>
          <p:nvPr/>
        </p:nvSpPr>
        <p:spPr>
          <a:xfrm>
            <a:off x="6172200" y="2011680"/>
            <a:ext cx="5120640" cy="1920240"/>
          </a:xfrm>
          <a:prstGeom prst="roundRect">
            <a:avLst>
              <a:gd name="adj" fmla="val 4762"/>
            </a:avLst>
          </a:prstGeom>
          <a:solidFill>
            <a:srgbClr val="FFFFFF"/>
          </a:solidFill>
          <a:ln w="12700">
            <a:solidFill>
              <a:srgbClr val="97BC62"/>
            </a:solidFill>
            <a:prstDash val="solid"/>
          </a:ln>
        </p:spPr>
        <p:txBody>
          <a:bodyPr/>
          <a:lstStyle/>
          <a:p>
            <a:endParaRPr/>
          </a:p>
        </p:txBody>
      </p:sp>
      <p:sp>
        <p:nvSpPr>
          <p:cNvPr id="10" name="Shape 8"/>
          <p:cNvSpPr/>
          <p:nvPr/>
        </p:nvSpPr>
        <p:spPr>
          <a:xfrm>
            <a:off x="6492240" y="2331720"/>
            <a:ext cx="640080" cy="640080"/>
          </a:xfrm>
          <a:prstGeom prst="ellipse">
            <a:avLst/>
          </a:prstGeom>
          <a:solidFill>
            <a:srgbClr val="6B8E3D"/>
          </a:solidFill>
          <a:ln/>
        </p:spPr>
        <p:txBody>
          <a:bodyPr/>
          <a:lstStyle/>
          <a:p>
            <a:endParaRPr/>
          </a:p>
        </p:txBody>
      </p:sp>
      <p:sp>
        <p:nvSpPr>
          <p:cNvPr id="11" name="Text 9"/>
          <p:cNvSpPr txBox="1"/>
          <p:nvPr/>
        </p:nvSpPr>
        <p:spPr>
          <a:xfrm>
            <a:off x="6492240" y="23317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7360920" y="2267712"/>
            <a:ext cx="3657600" cy="868680"/>
          </a:xfrm>
          <a:prstGeom prst="rect">
            <a:avLst/>
          </a:prstGeom>
          <a:noFill/>
          <a:ln/>
        </p:spPr>
        <p:txBody>
          <a:bodyPr wrap="square" lIns="0" tIns="0" rIns="0" bIns="0" rtlCol="0" anchor="ctr"/>
          <a:lstStyle/>
          <a:p>
            <a:pPr marL="0" indent="0">
              <a:buNone/>
            </a:pPr>
            <a:r>
              <a:rPr lang="en-US" sz="2200" b="1" dirty="0">
                <a:solidFill>
                  <a:srgbClr val="23301C"/>
                </a:solidFill>
                <a:latin typeface="Cambria" pitchFamily="34" charset="0"/>
                <a:ea typeface="Cambria" pitchFamily="34" charset="-122"/>
                <a:cs typeface="Cambria" pitchFamily="34" charset="-120"/>
              </a:rPr>
              <a:t>Adagrad
</a:t>
            </a:r>
            <a:endParaRPr lang="en-US" sz="2200" dirty="0"/>
          </a:p>
          <a:p>
            <a:pPr marL="0" indent="0">
              <a:buNone/>
            </a:pPr>
            <a:r>
              <a:rPr lang="en-US" altLang="ko-KR" sz="1250" dirty="0">
                <a:solidFill>
                  <a:srgbClr val="B5303B"/>
                </a:solidFill>
                <a:latin typeface="Calibri" pitchFamily="34" charset="0"/>
                <a:ea typeface="Malgun Gothic"/>
                <a:cs typeface="Calibri" pitchFamily="34" charset="-120"/>
              </a:rPr>
              <a:t>적응적 경사</a:t>
            </a:r>
            <a:endParaRPr lang="en-US" sz="2200" dirty="0"/>
          </a:p>
        </p:txBody>
      </p:sp>
      <p:sp>
        <p:nvSpPr>
          <p:cNvPr id="13" name="Text 11"/>
          <p:cNvSpPr txBox="1"/>
          <p:nvPr/>
        </p:nvSpPr>
        <p:spPr>
          <a:xfrm>
            <a:off x="6492240" y="3154680"/>
            <a:ext cx="4480560" cy="685800"/>
          </a:xfrm>
          <a:prstGeom prst="rect">
            <a:avLst/>
          </a:prstGeom>
          <a:noFill/>
          <a:ln/>
        </p:spPr>
        <p:txBody>
          <a:bodyPr wrap="square" lIns="0" tIns="0" rIns="0" bIns="0" rtlCol="0" anchor="ctr"/>
          <a:lstStyle/>
          <a:p>
            <a:pPr marL="0" indent="0">
              <a:buNone/>
            </a:pPr>
            <a:r>
              <a:rPr lang="en-US" sz="1250" dirty="0">
                <a:solidFill>
                  <a:srgbClr val="5A6B4D"/>
                </a:solidFill>
                <a:latin typeface="Calibri" pitchFamily="34" charset="0"/>
                <a:ea typeface="Calibri" pitchFamily="34" charset="-122"/>
                <a:cs typeface="Calibri" pitchFamily="34" charset="-120"/>
              </a:rPr>
              <a:t>Adapts the step size per parameter; slows over time.</a:t>
            </a:r>
            <a:endParaRPr lang="en-US" sz="1250" dirty="0"/>
          </a:p>
        </p:txBody>
      </p:sp>
      <p:sp>
        <p:nvSpPr>
          <p:cNvPr id="14" name="Shape 12"/>
          <p:cNvSpPr/>
          <p:nvPr/>
        </p:nvSpPr>
        <p:spPr>
          <a:xfrm>
            <a:off x="822960" y="4160520"/>
            <a:ext cx="5120640" cy="1920240"/>
          </a:xfrm>
          <a:prstGeom prst="roundRect">
            <a:avLst>
              <a:gd name="adj" fmla="val 4762"/>
            </a:avLst>
          </a:prstGeom>
          <a:solidFill>
            <a:srgbClr val="FFFFFF"/>
          </a:solidFill>
          <a:ln w="12700">
            <a:solidFill>
              <a:srgbClr val="97BC62"/>
            </a:solidFill>
            <a:prstDash val="solid"/>
          </a:ln>
        </p:spPr>
        <p:txBody>
          <a:bodyPr/>
          <a:lstStyle/>
          <a:p>
            <a:endParaRPr/>
          </a:p>
        </p:txBody>
      </p:sp>
      <p:sp>
        <p:nvSpPr>
          <p:cNvPr id="15" name="Shape 13"/>
          <p:cNvSpPr/>
          <p:nvPr/>
        </p:nvSpPr>
        <p:spPr>
          <a:xfrm>
            <a:off x="1143000" y="4480560"/>
            <a:ext cx="640080" cy="640080"/>
          </a:xfrm>
          <a:prstGeom prst="ellipse">
            <a:avLst/>
          </a:prstGeom>
          <a:solidFill>
            <a:srgbClr val="6B8E3D"/>
          </a:solidFill>
          <a:ln/>
        </p:spPr>
        <p:txBody>
          <a:bodyPr/>
          <a:lstStyle/>
          <a:p>
            <a:endParaRPr/>
          </a:p>
        </p:txBody>
      </p:sp>
      <p:sp>
        <p:nvSpPr>
          <p:cNvPr id="16" name="Text 14"/>
          <p:cNvSpPr txBox="1"/>
          <p:nvPr/>
        </p:nvSpPr>
        <p:spPr>
          <a:xfrm>
            <a:off x="1143000" y="44805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2011680" y="4416552"/>
            <a:ext cx="3657600" cy="868680"/>
          </a:xfrm>
          <a:prstGeom prst="rect">
            <a:avLst/>
          </a:prstGeom>
          <a:noFill/>
          <a:ln/>
        </p:spPr>
        <p:txBody>
          <a:bodyPr wrap="square" lIns="0" tIns="0" rIns="0" bIns="0" rtlCol="0" anchor="ctr"/>
          <a:lstStyle/>
          <a:p>
            <a:pPr marL="0" indent="0">
              <a:buNone/>
            </a:pPr>
            <a:r>
              <a:rPr lang="en-US" sz="2200" b="1" dirty="0">
                <a:solidFill>
                  <a:srgbClr val="23301C"/>
                </a:solidFill>
                <a:latin typeface="Cambria" pitchFamily="34" charset="0"/>
                <a:ea typeface="Cambria" pitchFamily="34" charset="-122"/>
                <a:cs typeface="Cambria" pitchFamily="34" charset="-120"/>
              </a:rPr>
              <a:t>RMSprop</a:t>
            </a:r>
            <a:endParaRPr lang="en-US" sz="2200" dirty="0"/>
          </a:p>
          <a:p>
            <a:pPr marL="0" indent="0">
              <a:buNone/>
            </a:pPr>
            <a:r>
              <a:rPr lang="en-US" altLang="ko-KR" sz="1250" dirty="0">
                <a:solidFill>
                  <a:srgbClr val="B5303B"/>
                </a:solidFill>
                <a:latin typeface="Calibri" pitchFamily="34" charset="0"/>
                <a:ea typeface="Malgun Gothic"/>
                <a:cs typeface="Calibri" pitchFamily="34" charset="-120"/>
              </a:rPr>
              <a:t>평균제곱근 전파</a:t>
            </a:r>
            <a:endParaRPr lang="en-US" sz="2200" dirty="0"/>
          </a:p>
        </p:txBody>
      </p:sp>
      <p:sp>
        <p:nvSpPr>
          <p:cNvPr id="18" name="Text 16"/>
          <p:cNvSpPr txBox="1"/>
          <p:nvPr/>
        </p:nvSpPr>
        <p:spPr>
          <a:xfrm>
            <a:off x="1143000" y="5303520"/>
            <a:ext cx="4480560" cy="685800"/>
          </a:xfrm>
          <a:prstGeom prst="rect">
            <a:avLst/>
          </a:prstGeom>
          <a:noFill/>
          <a:ln/>
        </p:spPr>
        <p:txBody>
          <a:bodyPr wrap="square" lIns="0" tIns="0" rIns="0" bIns="0" rtlCol="0" anchor="ctr"/>
          <a:lstStyle/>
          <a:p>
            <a:pPr marL="0" indent="0">
              <a:buNone/>
            </a:pPr>
            <a:r>
              <a:rPr lang="en-US" sz="1250" dirty="0">
                <a:solidFill>
                  <a:srgbClr val="5A6B4D"/>
                </a:solidFill>
                <a:latin typeface="Calibri" pitchFamily="34" charset="0"/>
                <a:ea typeface="Calibri" pitchFamily="34" charset="-122"/>
                <a:cs typeface="Calibri" pitchFamily="34" charset="-120"/>
              </a:rPr>
              <a:t>Uses a moving average of squared gradients to scale steps.</a:t>
            </a:r>
            <a:endParaRPr lang="en-US" sz="1250" dirty="0"/>
          </a:p>
        </p:txBody>
      </p:sp>
      <p:sp>
        <p:nvSpPr>
          <p:cNvPr id="19" name="Shape 17"/>
          <p:cNvSpPr/>
          <p:nvPr/>
        </p:nvSpPr>
        <p:spPr>
          <a:xfrm>
            <a:off x="6172200" y="4160520"/>
            <a:ext cx="5120640" cy="1920240"/>
          </a:xfrm>
          <a:prstGeom prst="roundRect">
            <a:avLst>
              <a:gd name="adj" fmla="val 4762"/>
            </a:avLst>
          </a:prstGeom>
          <a:solidFill>
            <a:srgbClr val="FFFFFF"/>
          </a:solidFill>
          <a:ln w="12700">
            <a:solidFill>
              <a:srgbClr val="97BC62"/>
            </a:solidFill>
            <a:prstDash val="solid"/>
          </a:ln>
        </p:spPr>
        <p:txBody>
          <a:bodyPr/>
          <a:lstStyle/>
          <a:p>
            <a:endParaRPr/>
          </a:p>
        </p:txBody>
      </p:sp>
      <p:sp>
        <p:nvSpPr>
          <p:cNvPr id="20" name="Shape 18"/>
          <p:cNvSpPr/>
          <p:nvPr/>
        </p:nvSpPr>
        <p:spPr>
          <a:xfrm>
            <a:off x="6492240" y="4480560"/>
            <a:ext cx="640080" cy="640080"/>
          </a:xfrm>
          <a:prstGeom prst="ellipse">
            <a:avLst/>
          </a:prstGeom>
          <a:solidFill>
            <a:srgbClr val="B5303B"/>
          </a:solidFill>
          <a:ln/>
        </p:spPr>
        <p:txBody>
          <a:bodyPr/>
          <a:lstStyle/>
          <a:p>
            <a:endParaRPr/>
          </a:p>
        </p:txBody>
      </p:sp>
      <p:sp>
        <p:nvSpPr>
          <p:cNvPr id="21" name="Text 19"/>
          <p:cNvSpPr txBox="1"/>
          <p:nvPr/>
        </p:nvSpPr>
        <p:spPr>
          <a:xfrm>
            <a:off x="6492240" y="44805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txBox="1"/>
          <p:nvPr/>
        </p:nvSpPr>
        <p:spPr>
          <a:xfrm>
            <a:off x="7360920" y="4416552"/>
            <a:ext cx="3657600" cy="868680"/>
          </a:xfrm>
          <a:prstGeom prst="rect">
            <a:avLst/>
          </a:prstGeom>
          <a:noFill/>
          <a:ln/>
        </p:spPr>
        <p:txBody>
          <a:bodyPr wrap="square" lIns="0" tIns="0" rIns="0" bIns="0" rtlCol="0" anchor="ctr"/>
          <a:lstStyle/>
          <a:p>
            <a:pPr marL="0" indent="0">
              <a:buNone/>
            </a:pPr>
            <a:r>
              <a:rPr lang="en-US" sz="2200" b="1" dirty="0">
                <a:solidFill>
                  <a:srgbClr val="23301C"/>
                </a:solidFill>
                <a:latin typeface="Cambria" pitchFamily="34" charset="0"/>
                <a:ea typeface="Cambria" pitchFamily="34" charset="-122"/>
                <a:cs typeface="Cambria" pitchFamily="34" charset="-120"/>
              </a:rPr>
              <a:t>Adam</a:t>
            </a:r>
            <a:endParaRPr lang="en-US" sz="2200" dirty="0"/>
          </a:p>
          <a:p>
            <a:pPr marL="0" indent="0">
              <a:buNone/>
            </a:pPr>
            <a:r>
              <a:rPr lang="en-US" altLang="ko-KR" sz="1250" dirty="0">
                <a:solidFill>
                  <a:srgbClr val="B5303B"/>
                </a:solidFill>
                <a:latin typeface="Calibri" pitchFamily="34" charset="0"/>
                <a:ea typeface="Malgun Gothic"/>
                <a:cs typeface="Calibri" pitchFamily="34" charset="-120"/>
              </a:rPr>
              <a:t>적응적 모멘트 추정</a:t>
            </a:r>
            <a:endParaRPr lang="en-US" sz="2200" dirty="0"/>
          </a:p>
        </p:txBody>
      </p:sp>
      <p:sp>
        <p:nvSpPr>
          <p:cNvPr id="23" name="Text 21"/>
          <p:cNvSpPr txBox="1"/>
          <p:nvPr/>
        </p:nvSpPr>
        <p:spPr>
          <a:xfrm>
            <a:off x="6492240" y="5303520"/>
            <a:ext cx="4480560" cy="685800"/>
          </a:xfrm>
          <a:prstGeom prst="rect">
            <a:avLst/>
          </a:prstGeom>
          <a:noFill/>
          <a:ln/>
        </p:spPr>
        <p:txBody>
          <a:bodyPr wrap="square" lIns="0" tIns="0" rIns="0" bIns="0" rtlCol="0" anchor="ctr"/>
          <a:lstStyle/>
          <a:p>
            <a:pPr marL="0" indent="0">
              <a:buNone/>
            </a:pPr>
            <a:r>
              <a:rPr lang="en-US" sz="1250" dirty="0">
                <a:solidFill>
                  <a:srgbClr val="5A6B4D"/>
                </a:solidFill>
                <a:latin typeface="Calibri" pitchFamily="34" charset="0"/>
                <a:ea typeface="Calibri" pitchFamily="34" charset="-122"/>
                <a:cs typeface="Calibri" pitchFamily="34" charset="-120"/>
              </a:rPr>
              <a:t>Combines momentum with RMSprop; a common strong default.</a:t>
            </a:r>
            <a:endParaRPr lang="en-US" sz="1250" dirty="0"/>
          </a:p>
        </p:txBody>
      </p:sp>
      <p:sp>
        <p:nvSpPr>
          <p:cNvPr id="24" name="Text 22"/>
          <p:cNvSpPr txBox="1"/>
          <p:nvPr/>
        </p:nvSpPr>
        <p:spPr>
          <a:xfrm>
            <a:off x="822960" y="6234761"/>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Each optimizer is tuned on the same learning-rate grid; everything else is held fixed.  (모든 알고리즘에 동일한 학습률 탐색 적용, 그 외 조건은 모두 고정)</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PILOT RUN  (예비 실험)</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Pilot: SGD trails, the adaptive optimizers tie</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예비 실험 결과: SGD는 뒤처지고, 적응형 알고리즘 3종은 비슷함</a:t>
            </a:r>
            <a:endParaRPr lang="en-US" sz="3000" dirty="0"/>
          </a:p>
        </p:txBody>
      </p:sp>
      <p:sp>
        <p:nvSpPr>
          <p:cNvPr id="4" name="Shape 4"/>
          <p:cNvSpPr/>
          <p:nvPr/>
        </p:nvSpPr>
        <p:spPr>
          <a:xfrm>
            <a:off x="822960" y="1965960"/>
            <a:ext cx="6492240" cy="4069080"/>
          </a:xfrm>
          <a:prstGeom prst="roundRect">
            <a:avLst>
              <a:gd name="adj" fmla="val 4167"/>
            </a:avLst>
          </a:prstGeom>
          <a:solidFill>
            <a:srgbClr val="FFFFFF"/>
          </a:solidFill>
          <a:ln w="12700">
            <a:solidFill>
              <a:srgbClr val="97BC62"/>
            </a:solidFill>
            <a:prstDash val="solid"/>
          </a:ln>
        </p:spPr>
      </p:sp>
      <p:sp>
        <p:nvSpPr>
          <p:cNvPr id="5" name="Text 7"/>
          <p:cNvSpPr txBox="1"/>
          <p:nvPr/>
        </p:nvSpPr>
        <p:spPr>
          <a:xfrm>
            <a:off x="1143000" y="2103120"/>
            <a:ext cx="58521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Test F1 by disease class</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질병별 테스트 F1  (시드 3개 평균)</a:t>
            </a:r>
            <a:endParaRPr lang="en-US" sz="1600" dirty="0"/>
          </a:p>
        </p:txBody>
      </p:sp>
      <p:graphicFrame>
        <p:nvGraphicFramePr>
          <p:cNvPr id="6" name="Chart 5"/>
          <p:cNvGraphicFramePr>
            <a:graphicFrameLocks noGrp="1"/>
          </p:cNvGraphicFramePr>
          <p:nvPr>
            <p:extLst>
              <p:ext uri="{D42A27DB-BD31-4B8C-83A1-F6EECF244321}">
                <p14:modId xmlns:p14="http://schemas.microsoft.com/office/powerpoint/2010/main" val="52504593"/>
              </p:ext>
            </p:extLst>
          </p:nvPr>
        </p:nvGraphicFramePr>
        <p:xfrm>
          <a:off x="1005840" y="2788920"/>
          <a:ext cx="61264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2"/>
          <p:cNvSpPr/>
          <p:nvPr/>
        </p:nvSpPr>
        <p:spPr>
          <a:xfrm>
            <a:off x="7589520" y="1965960"/>
            <a:ext cx="3749039" cy="1920240"/>
          </a:xfrm>
          <a:prstGeom prst="roundRect">
            <a:avLst>
              <a:gd name="adj" fmla="val 6486"/>
            </a:avLst>
          </a:prstGeom>
          <a:solidFill>
            <a:srgbClr val="2C5F2D"/>
          </a:solidFill>
          <a:ln/>
        </p:spPr>
      </p:sp>
      <p:sp>
        <p:nvSpPr>
          <p:cNvPr id="8" name="Text 3"/>
          <p:cNvSpPr txBox="1"/>
          <p:nvPr/>
        </p:nvSpPr>
        <p:spPr>
          <a:xfrm>
            <a:off x="7863840" y="2103120"/>
            <a:ext cx="3291840" cy="164592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+0.09</a:t>
            </a:r>
            <a:endParaRPr lang="en-US" sz="2000" dirty="0"/>
          </a:p>
          <a:p>
            <a:pPr marL="0" indent="0">
              <a:lnSpc>
                <a:spcPct val="105000"/>
              </a:lnSpc>
              <a:buNone/>
            </a:pPr>
            <a:r>
              <a:rPr lang="en-US" sz="1300" b="0" dirty="0">
                <a:solidFill>
                  <a:srgbClr val="FFFFFF"/>
                </a:solidFill>
                <a:latin typeface="Calibri" pitchFamily="34" charset="0"/>
                <a:ea typeface="Calibri" pitchFamily="34" charset="-122"/>
                <a:cs typeface="Calibri" pitchFamily="34" charset="-120"/>
              </a:rPr>
              <a:t>Macro-F1 gain of the best adaptive optimizer over SGD (p = 0.02)</a:t>
            </a:r>
            <a:endParaRPr lang="en-US" sz="2000" dirty="0"/>
          </a:p>
          <a:p>
            <a:pPr marL="0" indent="0">
              <a:lnSpc>
                <a:spcPct val="105000"/>
              </a:lnSpc>
              <a:buNone/>
            </a:pPr>
            <a:r>
              <a:rPr lang="en-US" altLang="ko-KR" sz="1200" dirty="0">
                <a:solidFill>
                  <a:srgbClr val="D9E4CF"/>
                </a:solidFill>
                <a:latin typeface="Calibri" pitchFamily="34" charset="0"/>
                <a:ea typeface="Malgun Gothic"/>
                <a:cs typeface="Calibri" pitchFamily="34" charset="-120"/>
              </a:rPr>
              <a:t>적응형 알고리즘이 SGD보다 macro-F1 약 0.09 높음</a:t>
            </a:r>
            <a:endParaRPr lang="en-US" sz="2000" dirty="0"/>
          </a:p>
        </p:txBody>
      </p:sp>
      <p:sp>
        <p:nvSpPr>
          <p:cNvPr id="9" name="Shape 4"/>
          <p:cNvSpPr/>
          <p:nvPr/>
        </p:nvSpPr>
        <p:spPr>
          <a:xfrm>
            <a:off x="7589520" y="4114800"/>
            <a:ext cx="3749039" cy="1920240"/>
          </a:xfrm>
          <a:prstGeom prst="roundRect">
            <a:avLst>
              <a:gd name="adj" fmla="val 4167"/>
            </a:avLst>
          </a:prstGeom>
          <a:solidFill>
            <a:srgbClr val="FFFFFF"/>
          </a:solidFill>
          <a:ln w="12700">
            <a:solidFill>
              <a:srgbClr val="B5303B"/>
            </a:solidFill>
            <a:prstDash val="solid"/>
          </a:ln>
        </p:spPr>
      </p:sp>
      <p:sp>
        <p:nvSpPr>
          <p:cNvPr id="10" name="Text 3"/>
          <p:cNvSpPr txBox="1"/>
          <p:nvPr/>
        </p:nvSpPr>
        <p:spPr>
          <a:xfrm>
            <a:off x="7863840" y="4251960"/>
            <a:ext cx="3291840" cy="1645920"/>
          </a:xfrm>
          <a:prstGeom prst="rect">
            <a:avLst/>
          </a:prstGeom>
          <a:noFill/>
          <a:ln/>
        </p:spPr>
        <p:txBody>
          <a:bodyPr wrap="square" lIns="0" tIns="0" rIns="0" bIns="0" rtlCol="0" anchor="ctr"/>
          <a:lstStyle/>
          <a:p>
            <a:pPr marL="0" indent="0">
              <a:lnSpc>
                <a:spcPct val="105000"/>
              </a:lnSpc>
              <a:buNone/>
            </a:pPr>
            <a:r>
              <a:rPr lang="en-US" sz="3600" b="1" dirty="0">
                <a:solidFill>
                  <a:srgbClr val="B5303B"/>
                </a:solidFill>
                <a:latin typeface="Cambria" pitchFamily="34" charset="0"/>
                <a:ea typeface="Cambria" pitchFamily="34" charset="-122"/>
                <a:cs typeface="Cambria" pitchFamily="34" charset="-120"/>
              </a:rPr>
              <a:t>p = 0.93</a:t>
            </a:r>
            <a:endParaRPr lang="en-US" sz="2000" dirty="0"/>
          </a:p>
          <a:p>
            <a:pPr marL="0" indent="0">
              <a:lnSpc>
                <a:spcPct val="105000"/>
              </a:lnSpc>
              <a:buNone/>
            </a:pPr>
            <a:r>
              <a:rPr lang="en-US" sz="1300" b="0" dirty="0">
                <a:solidFill>
                  <a:srgbClr val="23301C"/>
                </a:solidFill>
                <a:latin typeface="Calibri" pitchFamily="34" charset="0"/>
                <a:ea typeface="Calibri" pitchFamily="34" charset="-122"/>
                <a:cs typeface="Calibri" pitchFamily="34" charset="-120"/>
              </a:rPr>
              <a:t>No significant difference between Adagrad, RMSprop and Adam</a:t>
            </a:r>
            <a:endParaRPr lang="en-US" sz="2000" dirty="0"/>
          </a:p>
          <a:p>
            <a:pPr marL="0" indent="0">
              <a:lnSpc>
                <a:spcPct val="105000"/>
              </a:lnSpc>
              <a:buNone/>
            </a:pPr>
            <a:r>
              <a:rPr lang="en-US" altLang="ko-KR" sz="1200" dirty="0">
                <a:solidFill>
                  <a:srgbClr val="B5303B"/>
                </a:solidFill>
                <a:latin typeface="Calibri" pitchFamily="34" charset="0"/>
                <a:ea typeface="Malgun Gothic"/>
                <a:cs typeface="Calibri" pitchFamily="34" charset="-120"/>
              </a:rPr>
              <a:t>세 적응형 알고리즘 간 유의한 차이 없음</a:t>
            </a:r>
            <a:endParaRPr lang="en-US" sz="2000" dirty="0"/>
          </a:p>
        </p:txBody>
      </p:sp>
      <p:sp>
        <p:nvSpPr>
          <p:cNvPr id="11" name="Text 22"/>
          <p:cNvSpPr txBox="1"/>
          <p:nvPr/>
        </p:nvSpPr>
        <p:spPr>
          <a:xfrm>
            <a:off x="822960" y="6236208"/>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Pilot: 3 seeds per optimizer, library-default learning rates (0.01 / 0.001). Full table in the appendix.  (알고리즘당 시드 3개, 기본 학습률 사용 · 전체 표는 부록 참조)</a:t>
            </a:r>
            <a:endParaRPr lang="en-US" sz="1100" dirty="0"/>
          </a:p>
        </p:txBody>
      </p:sp>
    </p:spTree>
    <p:extLst>
      <p:ext uri="{BB962C8B-B14F-4D97-AF65-F5344CB8AC3E}">
        <p14:creationId xmlns:p14="http://schemas.microsoft.com/office/powerpoint/2010/main" val="3123287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REVISED DESIGN  (실험 설계 수정)</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From pilot to final run</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예비 실험에서 최종 실험으로: 무엇을 바꾸었나</a:t>
            </a:r>
            <a:endParaRPr lang="en-US" sz="3000" dirty="0"/>
          </a:p>
        </p:txBody>
      </p:sp>
      <p:graphicFrame>
        <p:nvGraphicFramePr>
          <p:cNvPr id="4" name="Table 3"/>
          <p:cNvGraphicFramePr>
            <a:graphicFrameLocks noGrp="1"/>
          </p:cNvGraphicFramePr>
          <p:nvPr>
            <p:extLst>
              <p:ext uri="{D42A27DB-BD31-4B8C-83A1-F6EECF244321}">
                <p14:modId xmlns:p14="http://schemas.microsoft.com/office/powerpoint/2010/main" val="1631644215"/>
              </p:ext>
            </p:extLst>
          </p:nvPr>
        </p:nvGraphicFramePr>
        <p:xfrm>
          <a:off x="822960" y="1965960"/>
          <a:ext cx="10515600" cy="3246120"/>
        </p:xfrm>
        <a:graphic>
          <a:graphicData uri="http://schemas.openxmlformats.org/drawingml/2006/table">
            <a:tbl>
              <a:tblPr>
                <a:tableStyleId>{8EC20E35-A176-4012-BC5E-935CFFF8708E}</a:tableStyleId>
              </a:tblPr>
              <a:tblGrid>
                <a:gridCol w="23774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11480">
                <a:tc>
                  <a:txBody>
                    <a:bodyPr/>
                    <a:lstStyle/>
                    <a:p>
                      <a:endParaRPr dirty="0">
                        <a:latin typeface="+mn-lt"/>
                      </a:endParaRPr>
                    </a:p>
                  </a:txBody>
                  <a:tcPr marL="73152" marR="73152" marT="36576" marB="36576" anchor="ctr">
                    <a:lnB w="12700" cap="flat" cmpd="sng" algn="ctr">
                      <a:solidFill>
                        <a:schemeClr val="tx1"/>
                      </a:solidFill>
                      <a:prstDash val="solid"/>
                      <a:round/>
                      <a:headEnd type="none" w="med" len="med"/>
                      <a:tailEnd type="none" w="med" len="med"/>
                    </a:lnB>
                  </a:tcPr>
                </a:tc>
                <a:tc>
                  <a:txBody>
                    <a:bodyPr/>
                    <a:lstStyle/>
                    <a:p>
                      <a:r>
                        <a:rPr altLang="ko-KR" sz="1300" b="1" dirty="0">
                          <a:solidFill>
                            <a:srgbClr val="23301C"/>
                          </a:solidFill>
                          <a:latin typeface="+mn-lt"/>
                        </a:rPr>
                        <a:t>Pilot run  ·  </a:t>
                      </a:r>
                      <a:r>
                        <a:rPr altLang="ko-KR" sz="1300" b="1" dirty="0" err="1">
                          <a:solidFill>
                            <a:srgbClr val="23301C"/>
                          </a:solidFill>
                          <a:latin typeface="+mn-lt"/>
                        </a:rPr>
                        <a:t>예비</a:t>
                      </a:r>
                      <a:r>
                        <a:rPr altLang="ko-KR" sz="1300" b="1" dirty="0">
                          <a:solidFill>
                            <a:srgbClr val="23301C"/>
                          </a:solidFill>
                          <a:latin typeface="+mn-lt"/>
                        </a:rPr>
                        <a:t> </a:t>
                      </a:r>
                      <a:r>
                        <a:rPr altLang="ko-KR" sz="1300" b="1" dirty="0" err="1">
                          <a:solidFill>
                            <a:srgbClr val="23301C"/>
                          </a:solidFill>
                          <a:latin typeface="+mn-lt"/>
                        </a:rPr>
                        <a:t>실험</a:t>
                      </a:r>
                      <a:endParaRPr altLang="ko-KR" sz="1300" b="1" i="0" dirty="0">
                        <a:solidFill>
                          <a:srgbClr val="23301C"/>
                        </a:solidFill>
                        <a:latin typeface="+mn-lt"/>
                        <a:ea typeface="Malgun Gothic"/>
                      </a:endParaRPr>
                    </a:p>
                  </a:txBody>
                  <a:tcPr marL="73152" marR="73152" marT="36576" marB="36576" anchor="ctr">
                    <a:lnB w="12700" cap="flat" cmpd="sng" algn="ctr">
                      <a:solidFill>
                        <a:schemeClr val="tx1"/>
                      </a:solidFill>
                      <a:prstDash val="solid"/>
                      <a:round/>
                      <a:headEnd type="none" w="med" len="med"/>
                      <a:tailEnd type="none" w="med" len="med"/>
                    </a:lnB>
                  </a:tcPr>
                </a:tc>
                <a:tc>
                  <a:txBody>
                    <a:bodyPr/>
                    <a:lstStyle/>
                    <a:p>
                      <a:r>
                        <a:rPr altLang="ko-KR" sz="1300" b="1" dirty="0">
                          <a:solidFill>
                            <a:srgbClr val="23301C"/>
                          </a:solidFill>
                          <a:latin typeface="+mn-lt"/>
                        </a:rPr>
                        <a:t>Final run  ·  </a:t>
                      </a:r>
                      <a:r>
                        <a:rPr altLang="ko-KR" sz="1300" b="1" dirty="0" err="1">
                          <a:solidFill>
                            <a:srgbClr val="23301C"/>
                          </a:solidFill>
                          <a:latin typeface="+mn-lt"/>
                        </a:rPr>
                        <a:t>최종</a:t>
                      </a:r>
                      <a:r>
                        <a:rPr altLang="ko-KR" sz="1300" b="1" dirty="0">
                          <a:solidFill>
                            <a:srgbClr val="23301C"/>
                          </a:solidFill>
                          <a:latin typeface="+mn-lt"/>
                        </a:rPr>
                        <a:t> </a:t>
                      </a:r>
                      <a:r>
                        <a:rPr altLang="ko-KR" sz="1300" b="1" dirty="0" err="1">
                          <a:solidFill>
                            <a:srgbClr val="23301C"/>
                          </a:solidFill>
                          <a:latin typeface="+mn-lt"/>
                        </a:rPr>
                        <a:t>실험</a:t>
                      </a:r>
                      <a:endParaRPr altLang="ko-KR" sz="1300" b="1" i="0" dirty="0">
                        <a:solidFill>
                          <a:srgbClr val="23301C"/>
                        </a:solidFill>
                        <a:latin typeface="+mn-lt"/>
                        <a:ea typeface="Malgun Gothic"/>
                      </a:endParaRPr>
                    </a:p>
                  </a:txBody>
                  <a:tcPr marL="73152" marR="73152" marT="36576" marB="36576"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r>
                        <a:rPr sz="1250" b="1" dirty="0">
                          <a:solidFill>
                            <a:srgbClr val="23301C"/>
                          </a:solidFill>
                          <a:latin typeface="+mn-lt"/>
                        </a:rPr>
                        <a:t>Learning rate</a:t>
                      </a:r>
                    </a:p>
                    <a:p>
                      <a:r>
                        <a:rPr altLang="ko-KR" sz="1100" b="0" dirty="0" err="1">
                          <a:solidFill>
                            <a:srgbClr val="B5303B"/>
                          </a:solidFill>
                          <a:latin typeface="+mn-lt"/>
                        </a:rPr>
                        <a:t>학습률</a:t>
                      </a:r>
                      <a:endParaRPr altLang="ko-KR" sz="1100" b="0" i="0" dirty="0">
                        <a:solidFill>
                          <a:srgbClr val="B5303B"/>
                        </a:solidFill>
                        <a:latin typeface="+mn-lt"/>
                        <a:ea typeface="Malgun Gothic"/>
                      </a:endParaRPr>
                    </a:p>
                  </a:txBody>
                  <a:tcPr marL="73152" marR="73152" marT="36576" marB="36576" anchor="ctr">
                    <a:lnT w="12700" cap="flat" cmpd="sng" algn="ctr">
                      <a:solidFill>
                        <a:schemeClr val="tx1"/>
                      </a:solidFill>
                      <a:prstDash val="solid"/>
                      <a:round/>
                      <a:headEnd type="none" w="med" len="med"/>
                      <a:tailEnd type="none" w="med" len="med"/>
                    </a:lnT>
                  </a:tcPr>
                </a:tc>
                <a:tc>
                  <a:txBody>
                    <a:bodyPr/>
                    <a:lstStyle/>
                    <a:p>
                      <a:r>
                        <a:rPr sz="1250" b="0" dirty="0">
                          <a:solidFill>
                            <a:srgbClr val="5A6B4D"/>
                          </a:solidFill>
                          <a:latin typeface="+mn-lt"/>
                        </a:rPr>
                        <a:t>Library defaults: 0.01 (SGD, </a:t>
                      </a:r>
                      <a:r>
                        <a:rPr sz="1250" b="0" dirty="0" err="1">
                          <a:solidFill>
                            <a:srgbClr val="5A6B4D"/>
                          </a:solidFill>
                          <a:latin typeface="+mn-lt"/>
                        </a:rPr>
                        <a:t>Adagrad</a:t>
                      </a:r>
                      <a:r>
                        <a:rPr sz="1250" b="0" dirty="0">
                          <a:solidFill>
                            <a:srgbClr val="5A6B4D"/>
                          </a:solidFill>
                          <a:latin typeface="+mn-lt"/>
                        </a:rPr>
                        <a:t>), 0.001 (RMSprop, Adam)</a:t>
                      </a:r>
                      <a:endParaRPr sz="1250" b="0" i="0" dirty="0">
                        <a:solidFill>
                          <a:srgbClr val="5A6B4D"/>
                        </a:solidFill>
                        <a:latin typeface="+mn-lt"/>
                      </a:endParaRPr>
                    </a:p>
                  </a:txBody>
                  <a:tcPr marL="73152" marR="73152" marT="36576" marB="36576" anchor="ctr">
                    <a:lnT w="12700" cap="flat" cmpd="sng" algn="ctr">
                      <a:solidFill>
                        <a:schemeClr val="tx1"/>
                      </a:solidFill>
                      <a:prstDash val="solid"/>
                      <a:round/>
                      <a:headEnd type="none" w="med" len="med"/>
                      <a:tailEnd type="none" w="med" len="med"/>
                    </a:lnT>
                  </a:tcPr>
                </a:tc>
                <a:tc>
                  <a:txBody>
                    <a:bodyPr/>
                    <a:lstStyle/>
                    <a:p>
                      <a:r>
                        <a:rPr sz="1250" b="0" dirty="0">
                          <a:solidFill>
                            <a:srgbClr val="23301C"/>
                          </a:solidFill>
                          <a:latin typeface="+mn-lt"/>
                        </a:rPr>
                        <a:t>Tuned per optimizer on the same 6-value grid</a:t>
                      </a:r>
                    </a:p>
                    <a:p>
                      <a:r>
                        <a:rPr altLang="ko-KR" sz="1100" b="0" dirty="0" err="1">
                          <a:solidFill>
                            <a:srgbClr val="B5303B"/>
                          </a:solidFill>
                          <a:latin typeface="+mn-lt"/>
                        </a:rPr>
                        <a:t>동일한</a:t>
                      </a:r>
                      <a:r>
                        <a:rPr altLang="ko-KR" sz="1100" b="0" dirty="0">
                          <a:solidFill>
                            <a:srgbClr val="B5303B"/>
                          </a:solidFill>
                          <a:latin typeface="+mn-lt"/>
                        </a:rPr>
                        <a:t> 6개 </a:t>
                      </a:r>
                      <a:r>
                        <a:rPr altLang="ko-KR" sz="1100" b="0" dirty="0" err="1">
                          <a:solidFill>
                            <a:srgbClr val="B5303B"/>
                          </a:solidFill>
                          <a:latin typeface="+mn-lt"/>
                        </a:rPr>
                        <a:t>학습률</a:t>
                      </a:r>
                      <a:r>
                        <a:rPr altLang="ko-KR" sz="1100" b="0" dirty="0">
                          <a:solidFill>
                            <a:srgbClr val="B5303B"/>
                          </a:solidFill>
                          <a:latin typeface="+mn-lt"/>
                        </a:rPr>
                        <a:t> 중 </a:t>
                      </a:r>
                      <a:r>
                        <a:rPr altLang="ko-KR" sz="1100" b="0" dirty="0" err="1">
                          <a:solidFill>
                            <a:srgbClr val="B5303B"/>
                          </a:solidFill>
                          <a:latin typeface="+mn-lt"/>
                        </a:rPr>
                        <a:t>알고리즘별</a:t>
                      </a:r>
                      <a:r>
                        <a:rPr altLang="ko-KR" sz="1100" b="0" dirty="0">
                          <a:solidFill>
                            <a:srgbClr val="B5303B"/>
                          </a:solidFill>
                          <a:latin typeface="+mn-lt"/>
                        </a:rPr>
                        <a:t> </a:t>
                      </a:r>
                      <a:r>
                        <a:rPr altLang="ko-KR" sz="1100" b="0" dirty="0" err="1">
                          <a:solidFill>
                            <a:srgbClr val="B5303B"/>
                          </a:solidFill>
                          <a:latin typeface="+mn-lt"/>
                        </a:rPr>
                        <a:t>최적값</a:t>
                      </a:r>
                      <a:r>
                        <a:rPr altLang="ko-KR" sz="1100" b="0" dirty="0">
                          <a:solidFill>
                            <a:srgbClr val="B5303B"/>
                          </a:solidFill>
                          <a:latin typeface="+mn-lt"/>
                        </a:rPr>
                        <a:t> </a:t>
                      </a:r>
                      <a:r>
                        <a:rPr altLang="ko-KR" sz="1100" b="0" dirty="0" err="1">
                          <a:solidFill>
                            <a:srgbClr val="B5303B"/>
                          </a:solidFill>
                          <a:latin typeface="+mn-lt"/>
                        </a:rPr>
                        <a:t>선택</a:t>
                      </a:r>
                      <a:endParaRPr altLang="ko-KR" sz="1100" b="0" i="0" dirty="0">
                        <a:solidFill>
                          <a:srgbClr val="B5303B"/>
                        </a:solidFill>
                        <a:latin typeface="+mn-lt"/>
                        <a:ea typeface="Malgun Gothic"/>
                      </a:endParaRPr>
                    </a:p>
                  </a:txBody>
                  <a:tcPr marL="73152" marR="73152" marT="36576" marB="36576"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566928">
                <a:tc>
                  <a:txBody>
                    <a:bodyPr/>
                    <a:lstStyle/>
                    <a:p>
                      <a:r>
                        <a:rPr sz="1250" b="1">
                          <a:solidFill>
                            <a:srgbClr val="23301C"/>
                          </a:solidFill>
                          <a:latin typeface="+mn-lt"/>
                        </a:rPr>
                        <a:t>Random seeds</a:t>
                      </a:r>
                    </a:p>
                    <a:p>
                      <a:r>
                        <a:rPr altLang="ko-KR" sz="1100" b="0">
                          <a:solidFill>
                            <a:srgbClr val="B5303B"/>
                          </a:solidFill>
                          <a:latin typeface="+mn-lt"/>
                        </a:rPr>
                        <a:t>랜덤 시드</a:t>
                      </a:r>
                      <a:endParaRPr altLang="ko-KR" sz="1100" b="0" i="0">
                        <a:solidFill>
                          <a:srgbClr val="B5303B"/>
                        </a:solidFill>
                        <a:latin typeface="+mn-lt"/>
                        <a:ea typeface="Malgun Gothic"/>
                      </a:endParaRPr>
                    </a:p>
                  </a:txBody>
                  <a:tcPr marL="73152" marR="73152" marT="36576" marB="36576" anchor="ctr"/>
                </a:tc>
                <a:tc>
                  <a:txBody>
                    <a:bodyPr/>
                    <a:lstStyle/>
                    <a:p>
                      <a:r>
                        <a:rPr sz="1250" b="0" dirty="0">
                          <a:solidFill>
                            <a:srgbClr val="5A6B4D"/>
                          </a:solidFill>
                          <a:latin typeface="+mn-lt"/>
                        </a:rPr>
                        <a:t>3 seeds</a:t>
                      </a:r>
                      <a:endParaRPr sz="1250" b="0" i="0" dirty="0">
                        <a:solidFill>
                          <a:srgbClr val="5A6B4D"/>
                        </a:solidFill>
                        <a:latin typeface="+mn-lt"/>
                      </a:endParaRPr>
                    </a:p>
                  </a:txBody>
                  <a:tcPr marL="73152" marR="73152" marT="36576" marB="36576" anchor="ctr"/>
                </a:tc>
                <a:tc>
                  <a:txBody>
                    <a:bodyPr/>
                    <a:lstStyle/>
                    <a:p>
                      <a:r>
                        <a:rPr sz="1250" b="0" dirty="0">
                          <a:solidFill>
                            <a:srgbClr val="23301C"/>
                          </a:solidFill>
                          <a:latin typeface="+mn-lt"/>
                        </a:rPr>
                        <a:t>5 paired seeds: identical starting weights and batch order for all four</a:t>
                      </a:r>
                    </a:p>
                    <a:p>
                      <a:r>
                        <a:rPr altLang="ko-KR" sz="1100" b="0" dirty="0" err="1">
                          <a:solidFill>
                            <a:srgbClr val="B5303B"/>
                          </a:solidFill>
                          <a:latin typeface="+mn-lt"/>
                        </a:rPr>
                        <a:t>시드</a:t>
                      </a:r>
                      <a:r>
                        <a:rPr altLang="ko-KR" sz="1100" b="0" dirty="0">
                          <a:solidFill>
                            <a:srgbClr val="B5303B"/>
                          </a:solidFill>
                          <a:latin typeface="+mn-lt"/>
                        </a:rPr>
                        <a:t> 5개, 네 </a:t>
                      </a:r>
                      <a:r>
                        <a:rPr altLang="ko-KR" sz="1100" b="0" dirty="0" err="1">
                          <a:solidFill>
                            <a:srgbClr val="B5303B"/>
                          </a:solidFill>
                          <a:latin typeface="+mn-lt"/>
                        </a:rPr>
                        <a:t>알고리즘</a:t>
                      </a:r>
                      <a:r>
                        <a:rPr altLang="ko-KR" sz="1100" b="0" dirty="0">
                          <a:solidFill>
                            <a:srgbClr val="B5303B"/>
                          </a:solidFill>
                          <a:latin typeface="+mn-lt"/>
                        </a:rPr>
                        <a:t> </a:t>
                      </a:r>
                      <a:r>
                        <a:rPr altLang="ko-KR" sz="1100" b="0" dirty="0" err="1">
                          <a:solidFill>
                            <a:srgbClr val="B5303B"/>
                          </a:solidFill>
                          <a:latin typeface="+mn-lt"/>
                        </a:rPr>
                        <a:t>모두</a:t>
                      </a:r>
                      <a:r>
                        <a:rPr altLang="ko-KR" sz="1100" b="0" dirty="0">
                          <a:solidFill>
                            <a:srgbClr val="B5303B"/>
                          </a:solidFill>
                          <a:latin typeface="+mn-lt"/>
                        </a:rPr>
                        <a:t> </a:t>
                      </a:r>
                      <a:r>
                        <a:rPr altLang="ko-KR" sz="1100" b="0" dirty="0" err="1">
                          <a:solidFill>
                            <a:srgbClr val="B5303B"/>
                          </a:solidFill>
                          <a:latin typeface="+mn-lt"/>
                        </a:rPr>
                        <a:t>동일한</a:t>
                      </a:r>
                      <a:r>
                        <a:rPr altLang="ko-KR" sz="1100" b="0" dirty="0">
                          <a:solidFill>
                            <a:srgbClr val="B5303B"/>
                          </a:solidFill>
                          <a:latin typeface="+mn-lt"/>
                        </a:rPr>
                        <a:t> </a:t>
                      </a:r>
                      <a:r>
                        <a:rPr altLang="ko-KR" sz="1100" b="0" dirty="0" err="1">
                          <a:solidFill>
                            <a:srgbClr val="B5303B"/>
                          </a:solidFill>
                          <a:latin typeface="+mn-lt"/>
                        </a:rPr>
                        <a:t>초기</a:t>
                      </a:r>
                      <a:r>
                        <a:rPr altLang="ko-KR" sz="1100" b="0" dirty="0">
                          <a:solidFill>
                            <a:srgbClr val="B5303B"/>
                          </a:solidFill>
                          <a:latin typeface="+mn-lt"/>
                        </a:rPr>
                        <a:t> </a:t>
                      </a:r>
                      <a:r>
                        <a:rPr altLang="ko-KR" sz="1100" b="0" dirty="0" err="1">
                          <a:solidFill>
                            <a:srgbClr val="B5303B"/>
                          </a:solidFill>
                          <a:latin typeface="+mn-lt"/>
                        </a:rPr>
                        <a:t>가중치·배치</a:t>
                      </a:r>
                      <a:r>
                        <a:rPr altLang="ko-KR" sz="1100" b="0" dirty="0">
                          <a:solidFill>
                            <a:srgbClr val="B5303B"/>
                          </a:solidFill>
                          <a:latin typeface="+mn-lt"/>
                        </a:rPr>
                        <a:t> </a:t>
                      </a:r>
                      <a:r>
                        <a:rPr altLang="ko-KR" sz="1100" b="0" dirty="0" err="1">
                          <a:solidFill>
                            <a:srgbClr val="B5303B"/>
                          </a:solidFill>
                          <a:latin typeface="+mn-lt"/>
                        </a:rPr>
                        <a:t>순서</a:t>
                      </a:r>
                      <a:endParaRPr altLang="ko-KR" sz="1100" b="0" i="0" dirty="0">
                        <a:solidFill>
                          <a:srgbClr val="B5303B"/>
                        </a:solidFill>
                        <a:latin typeface="+mn-lt"/>
                        <a:ea typeface="Malgun Gothic"/>
                      </a:endParaRPr>
                    </a:p>
                  </a:txBody>
                  <a:tcPr marL="73152" marR="73152" marT="36576" marB="36576" anchor="ctr"/>
                </a:tc>
                <a:extLst>
                  <a:ext uri="{0D108BD9-81ED-4DB2-BD59-A6C34878D82A}">
                    <a16:rowId xmlns:a16="http://schemas.microsoft.com/office/drawing/2014/main" val="10002"/>
                  </a:ext>
                </a:extLst>
              </a:tr>
              <a:tr h="566928">
                <a:tc>
                  <a:txBody>
                    <a:bodyPr/>
                    <a:lstStyle/>
                    <a:p>
                      <a:r>
                        <a:rPr sz="1250" b="1">
                          <a:solidFill>
                            <a:srgbClr val="23301C"/>
                          </a:solidFill>
                          <a:latin typeface="+mn-lt"/>
                        </a:rPr>
                        <a:t>Tuning data</a:t>
                      </a:r>
                    </a:p>
                    <a:p>
                      <a:r>
                        <a:rPr altLang="ko-KR" sz="1100" b="0">
                          <a:solidFill>
                            <a:srgbClr val="B5303B"/>
                          </a:solidFill>
                          <a:latin typeface="+mn-lt"/>
                        </a:rPr>
                        <a:t>튜닝 데이터</a:t>
                      </a:r>
                      <a:endParaRPr altLang="ko-KR" sz="1100" b="0" i="0">
                        <a:solidFill>
                          <a:srgbClr val="B5303B"/>
                        </a:solidFill>
                        <a:latin typeface="+mn-lt"/>
                        <a:ea typeface="Malgun Gothic"/>
                      </a:endParaRPr>
                    </a:p>
                  </a:txBody>
                  <a:tcPr marL="73152" marR="73152" marT="36576" marB="36576" anchor="ctr"/>
                </a:tc>
                <a:tc>
                  <a:txBody>
                    <a:bodyPr/>
                    <a:lstStyle/>
                    <a:p>
                      <a:r>
                        <a:rPr sz="1250" b="0" dirty="0">
                          <a:solidFill>
                            <a:srgbClr val="5A6B4D"/>
                          </a:solidFill>
                          <a:latin typeface="+mn-lt"/>
                        </a:rPr>
                        <a:t>No tuning</a:t>
                      </a:r>
                      <a:endParaRPr sz="1250" b="0" i="0" dirty="0">
                        <a:solidFill>
                          <a:srgbClr val="5A6B4D"/>
                        </a:solidFill>
                        <a:latin typeface="+mn-lt"/>
                      </a:endParaRPr>
                    </a:p>
                  </a:txBody>
                  <a:tcPr marL="73152" marR="73152" marT="36576" marB="36576" anchor="ctr"/>
                </a:tc>
                <a:tc>
                  <a:txBody>
                    <a:bodyPr/>
                    <a:lstStyle/>
                    <a:p>
                      <a:r>
                        <a:rPr sz="1250" b="0" dirty="0">
                          <a:solidFill>
                            <a:srgbClr val="23301C"/>
                          </a:solidFill>
                          <a:latin typeface="+mn-lt"/>
                        </a:rPr>
                        <a:t>Validation set only, separate seed (100); test set never used</a:t>
                      </a:r>
                    </a:p>
                    <a:p>
                      <a:r>
                        <a:rPr altLang="ko-KR" sz="1100" b="0" dirty="0" err="1">
                          <a:solidFill>
                            <a:srgbClr val="B5303B"/>
                          </a:solidFill>
                          <a:latin typeface="+mn-lt"/>
                        </a:rPr>
                        <a:t>검증</a:t>
                      </a:r>
                      <a:r>
                        <a:rPr altLang="ko-KR" sz="1100" b="0" dirty="0">
                          <a:solidFill>
                            <a:srgbClr val="B5303B"/>
                          </a:solidFill>
                          <a:latin typeface="+mn-lt"/>
                        </a:rPr>
                        <a:t> </a:t>
                      </a:r>
                      <a:r>
                        <a:rPr altLang="ko-KR" sz="1100" b="0" dirty="0" err="1">
                          <a:solidFill>
                            <a:srgbClr val="B5303B"/>
                          </a:solidFill>
                          <a:latin typeface="+mn-lt"/>
                        </a:rPr>
                        <a:t>데이터만</a:t>
                      </a:r>
                      <a:r>
                        <a:rPr altLang="ko-KR" sz="1100" b="0" dirty="0">
                          <a:solidFill>
                            <a:srgbClr val="B5303B"/>
                          </a:solidFill>
                          <a:latin typeface="+mn-lt"/>
                        </a:rPr>
                        <a:t> </a:t>
                      </a:r>
                      <a:r>
                        <a:rPr altLang="ko-KR" sz="1100" b="0" dirty="0" err="1">
                          <a:solidFill>
                            <a:srgbClr val="B5303B"/>
                          </a:solidFill>
                          <a:latin typeface="+mn-lt"/>
                        </a:rPr>
                        <a:t>사용</a:t>
                      </a:r>
                      <a:r>
                        <a:rPr altLang="ko-KR" sz="1100" b="0" dirty="0">
                          <a:solidFill>
                            <a:srgbClr val="B5303B"/>
                          </a:solidFill>
                          <a:latin typeface="+mn-lt"/>
                        </a:rPr>
                        <a:t> (</a:t>
                      </a:r>
                      <a:r>
                        <a:rPr altLang="ko-KR" sz="1100" b="0" dirty="0" err="1">
                          <a:solidFill>
                            <a:srgbClr val="B5303B"/>
                          </a:solidFill>
                          <a:latin typeface="+mn-lt"/>
                        </a:rPr>
                        <a:t>시드</a:t>
                      </a:r>
                      <a:r>
                        <a:rPr altLang="ko-KR" sz="1100" b="0" dirty="0">
                          <a:solidFill>
                            <a:srgbClr val="B5303B"/>
                          </a:solidFill>
                          <a:latin typeface="+mn-lt"/>
                        </a:rPr>
                        <a:t> 100), </a:t>
                      </a:r>
                      <a:r>
                        <a:rPr altLang="ko-KR" sz="1100" b="0" dirty="0" err="1">
                          <a:solidFill>
                            <a:srgbClr val="B5303B"/>
                          </a:solidFill>
                          <a:latin typeface="+mn-lt"/>
                        </a:rPr>
                        <a:t>테스트</a:t>
                      </a:r>
                      <a:r>
                        <a:rPr altLang="ko-KR" sz="1100" b="0" dirty="0">
                          <a:solidFill>
                            <a:srgbClr val="B5303B"/>
                          </a:solidFill>
                          <a:latin typeface="+mn-lt"/>
                        </a:rPr>
                        <a:t> </a:t>
                      </a:r>
                      <a:r>
                        <a:rPr altLang="ko-KR" sz="1100" b="0" dirty="0" err="1">
                          <a:solidFill>
                            <a:srgbClr val="B5303B"/>
                          </a:solidFill>
                          <a:latin typeface="+mn-lt"/>
                        </a:rPr>
                        <a:t>데이터는</a:t>
                      </a:r>
                      <a:r>
                        <a:rPr altLang="ko-KR" sz="1100" b="0" dirty="0">
                          <a:solidFill>
                            <a:srgbClr val="B5303B"/>
                          </a:solidFill>
                          <a:latin typeface="+mn-lt"/>
                        </a:rPr>
                        <a:t> </a:t>
                      </a:r>
                      <a:r>
                        <a:rPr altLang="ko-KR" sz="1100" b="0" dirty="0" err="1">
                          <a:solidFill>
                            <a:srgbClr val="B5303B"/>
                          </a:solidFill>
                          <a:latin typeface="+mn-lt"/>
                        </a:rPr>
                        <a:t>사용하지</a:t>
                      </a:r>
                      <a:r>
                        <a:rPr altLang="ko-KR" sz="1100" b="0" dirty="0">
                          <a:solidFill>
                            <a:srgbClr val="B5303B"/>
                          </a:solidFill>
                          <a:latin typeface="+mn-lt"/>
                        </a:rPr>
                        <a:t> </a:t>
                      </a:r>
                      <a:r>
                        <a:rPr altLang="ko-KR" sz="1100" b="0" dirty="0" err="1">
                          <a:solidFill>
                            <a:srgbClr val="B5303B"/>
                          </a:solidFill>
                          <a:latin typeface="+mn-lt"/>
                        </a:rPr>
                        <a:t>않음</a:t>
                      </a:r>
                      <a:endParaRPr altLang="ko-KR" sz="1100" b="0" i="0" dirty="0">
                        <a:solidFill>
                          <a:srgbClr val="B5303B"/>
                        </a:solidFill>
                        <a:latin typeface="+mn-lt"/>
                        <a:ea typeface="Malgun Gothic"/>
                      </a:endParaRPr>
                    </a:p>
                  </a:txBody>
                  <a:tcPr marL="73152" marR="73152" marT="36576" marB="36576" anchor="ctr"/>
                </a:tc>
                <a:extLst>
                  <a:ext uri="{0D108BD9-81ED-4DB2-BD59-A6C34878D82A}">
                    <a16:rowId xmlns:a16="http://schemas.microsoft.com/office/drawing/2014/main" val="10003"/>
                  </a:ext>
                </a:extLst>
              </a:tr>
              <a:tr h="566928">
                <a:tc>
                  <a:txBody>
                    <a:bodyPr/>
                    <a:lstStyle/>
                    <a:p>
                      <a:r>
                        <a:rPr sz="1250" b="1">
                          <a:solidFill>
                            <a:srgbClr val="23301C"/>
                          </a:solidFill>
                          <a:latin typeface="+mn-lt"/>
                        </a:rPr>
                        <a:t>Dropout &amp; loss</a:t>
                      </a:r>
                    </a:p>
                    <a:p>
                      <a:r>
                        <a:rPr altLang="ko-KR" sz="1100" b="0">
                          <a:solidFill>
                            <a:srgbClr val="B5303B"/>
                          </a:solidFill>
                          <a:latin typeface="+mn-lt"/>
                        </a:rPr>
                        <a:t>드롭아웃·손실 함수</a:t>
                      </a:r>
                      <a:endParaRPr altLang="ko-KR" sz="1100" b="0" i="0">
                        <a:solidFill>
                          <a:srgbClr val="B5303B"/>
                        </a:solidFill>
                        <a:latin typeface="+mn-lt"/>
                        <a:ea typeface="Malgun Gothic"/>
                      </a:endParaRPr>
                    </a:p>
                  </a:txBody>
                  <a:tcPr marL="73152" marR="73152" marT="36576" marB="36576" anchor="ctr"/>
                </a:tc>
                <a:tc>
                  <a:txBody>
                    <a:bodyPr/>
                    <a:lstStyle/>
                    <a:p>
                      <a:r>
                        <a:rPr sz="1250" b="0">
                          <a:solidFill>
                            <a:srgbClr val="5A6B4D"/>
                          </a:solidFill>
                          <a:latin typeface="+mn-lt"/>
                        </a:rPr>
                        <a:t>Dropout 0.3 and a class-weighted loss</a:t>
                      </a:r>
                      <a:endParaRPr sz="1250" b="0" i="0">
                        <a:solidFill>
                          <a:srgbClr val="5A6B4D"/>
                        </a:solidFill>
                        <a:latin typeface="+mn-lt"/>
                      </a:endParaRPr>
                    </a:p>
                  </a:txBody>
                  <a:tcPr marL="73152" marR="73152" marT="36576" marB="36576" anchor="ctr"/>
                </a:tc>
                <a:tc>
                  <a:txBody>
                    <a:bodyPr/>
                    <a:lstStyle/>
                    <a:p>
                      <a:r>
                        <a:rPr sz="1250" b="0" dirty="0">
                          <a:solidFill>
                            <a:srgbClr val="23301C"/>
                          </a:solidFill>
                          <a:latin typeface="+mn-lt"/>
                        </a:rPr>
                        <a:t>No dropout, plain cross-entropy loss</a:t>
                      </a:r>
                    </a:p>
                    <a:p>
                      <a:r>
                        <a:rPr altLang="ko-KR" sz="1100" b="0" dirty="0" err="1">
                          <a:solidFill>
                            <a:srgbClr val="B5303B"/>
                          </a:solidFill>
                          <a:latin typeface="+mn-lt"/>
                        </a:rPr>
                        <a:t>드롭아웃</a:t>
                      </a:r>
                      <a:r>
                        <a:rPr altLang="ko-KR" sz="1100" b="0" dirty="0">
                          <a:solidFill>
                            <a:srgbClr val="B5303B"/>
                          </a:solidFill>
                          <a:latin typeface="+mn-lt"/>
                        </a:rPr>
                        <a:t> </a:t>
                      </a:r>
                      <a:r>
                        <a:rPr altLang="ko-KR" sz="1100" b="0" dirty="0" err="1">
                          <a:solidFill>
                            <a:srgbClr val="B5303B"/>
                          </a:solidFill>
                          <a:latin typeface="+mn-lt"/>
                        </a:rPr>
                        <a:t>없음</a:t>
                      </a:r>
                      <a:r>
                        <a:rPr altLang="ko-KR" sz="1100" b="0" dirty="0">
                          <a:solidFill>
                            <a:srgbClr val="B5303B"/>
                          </a:solidFill>
                          <a:latin typeface="+mn-lt"/>
                        </a:rPr>
                        <a:t>, </a:t>
                      </a:r>
                      <a:r>
                        <a:rPr altLang="ko-KR" sz="1100" b="0" dirty="0" err="1">
                          <a:solidFill>
                            <a:srgbClr val="B5303B"/>
                          </a:solidFill>
                          <a:latin typeface="+mn-lt"/>
                        </a:rPr>
                        <a:t>일반</a:t>
                      </a:r>
                      <a:r>
                        <a:rPr altLang="ko-KR" sz="1100" b="0" dirty="0">
                          <a:solidFill>
                            <a:srgbClr val="B5303B"/>
                          </a:solidFill>
                          <a:latin typeface="+mn-lt"/>
                        </a:rPr>
                        <a:t> </a:t>
                      </a:r>
                      <a:r>
                        <a:rPr altLang="ko-KR" sz="1100" b="0" dirty="0" err="1">
                          <a:solidFill>
                            <a:srgbClr val="B5303B"/>
                          </a:solidFill>
                          <a:latin typeface="+mn-lt"/>
                        </a:rPr>
                        <a:t>교차</a:t>
                      </a:r>
                      <a:r>
                        <a:rPr altLang="ko-KR" sz="1100" b="0" dirty="0">
                          <a:solidFill>
                            <a:srgbClr val="B5303B"/>
                          </a:solidFill>
                          <a:latin typeface="+mn-lt"/>
                        </a:rPr>
                        <a:t> </a:t>
                      </a:r>
                      <a:r>
                        <a:rPr altLang="ko-KR" sz="1100" b="0" dirty="0" err="1">
                          <a:solidFill>
                            <a:srgbClr val="B5303B"/>
                          </a:solidFill>
                          <a:latin typeface="+mn-lt"/>
                        </a:rPr>
                        <a:t>엔트로피</a:t>
                      </a:r>
                      <a:r>
                        <a:rPr altLang="ko-KR" sz="1100" b="0" dirty="0">
                          <a:solidFill>
                            <a:srgbClr val="B5303B"/>
                          </a:solidFill>
                          <a:latin typeface="+mn-lt"/>
                        </a:rPr>
                        <a:t> </a:t>
                      </a:r>
                      <a:r>
                        <a:rPr altLang="ko-KR" sz="1100" b="0" dirty="0" err="1">
                          <a:solidFill>
                            <a:srgbClr val="B5303B"/>
                          </a:solidFill>
                          <a:latin typeface="+mn-lt"/>
                        </a:rPr>
                        <a:t>손실</a:t>
                      </a:r>
                      <a:endParaRPr altLang="ko-KR" sz="1100" b="0" i="0" dirty="0">
                        <a:solidFill>
                          <a:srgbClr val="B5303B"/>
                        </a:solidFill>
                        <a:latin typeface="+mn-lt"/>
                        <a:ea typeface="Malgun Gothic"/>
                      </a:endParaRPr>
                    </a:p>
                  </a:txBody>
                  <a:tcPr marL="73152" marR="73152" marT="36576" marB="36576" anchor="ctr"/>
                </a:tc>
                <a:extLst>
                  <a:ext uri="{0D108BD9-81ED-4DB2-BD59-A6C34878D82A}">
                    <a16:rowId xmlns:a16="http://schemas.microsoft.com/office/drawing/2014/main" val="3687709779"/>
                  </a:ext>
                </a:extLst>
              </a:tr>
              <a:tr h="566928">
                <a:tc>
                  <a:txBody>
                    <a:bodyPr/>
                    <a:lstStyle/>
                    <a:p>
                      <a:r>
                        <a:rPr sz="1250" b="1">
                          <a:solidFill>
                            <a:srgbClr val="23301C"/>
                          </a:solidFill>
                          <a:latin typeface="+mn-lt"/>
                        </a:rPr>
                        <a:t>Choosing the winner</a:t>
                      </a:r>
                    </a:p>
                    <a:p>
                      <a:r>
                        <a:rPr altLang="ko-KR" sz="1100" b="0">
                          <a:solidFill>
                            <a:srgbClr val="B5303B"/>
                          </a:solidFill>
                          <a:latin typeface="+mn-lt"/>
                        </a:rPr>
                        <a:t>최적 알고리즘 선정</a:t>
                      </a:r>
                      <a:endParaRPr altLang="ko-KR" sz="1100" b="0" i="0">
                        <a:solidFill>
                          <a:srgbClr val="B5303B"/>
                        </a:solidFill>
                        <a:latin typeface="+mn-lt"/>
                        <a:ea typeface="Malgun Gothic"/>
                      </a:endParaRPr>
                    </a:p>
                  </a:txBody>
                  <a:tcPr marL="73152" marR="73152" marT="36576" marB="36576" anchor="ctr"/>
                </a:tc>
                <a:tc>
                  <a:txBody>
                    <a:bodyPr/>
                    <a:lstStyle/>
                    <a:p>
                      <a:r>
                        <a:rPr sz="1250" b="0">
                          <a:solidFill>
                            <a:srgbClr val="5A6B4D"/>
                          </a:solidFill>
                          <a:latin typeface="+mn-lt"/>
                        </a:rPr>
                        <a:t>Highest mean score</a:t>
                      </a:r>
                      <a:endParaRPr sz="1250" b="0" i="0">
                        <a:solidFill>
                          <a:srgbClr val="5A6B4D"/>
                        </a:solidFill>
                        <a:latin typeface="+mn-lt"/>
                      </a:endParaRPr>
                    </a:p>
                  </a:txBody>
                  <a:tcPr marL="73152" marR="73152" marT="36576" marB="36576" anchor="ctr"/>
                </a:tc>
                <a:tc>
                  <a:txBody>
                    <a:bodyPr/>
                    <a:lstStyle/>
                    <a:p>
                      <a:r>
                        <a:rPr sz="1250" b="0" dirty="0">
                          <a:solidFill>
                            <a:srgbClr val="23301C"/>
                          </a:solidFill>
                          <a:latin typeface="+mn-lt"/>
                        </a:rPr>
                        <a:t>Fixed rule with significance tests </a:t>
                      </a:r>
                    </a:p>
                    <a:p>
                      <a:r>
                        <a:rPr altLang="ko-KR" sz="1100" b="0" dirty="0" err="1">
                          <a:solidFill>
                            <a:srgbClr val="B5303B"/>
                          </a:solidFill>
                          <a:latin typeface="+mn-lt"/>
                        </a:rPr>
                        <a:t>유의성 검정을 포함한 사전 확정 기준</a:t>
                      </a:r>
                      <a:endParaRPr altLang="ko-KR" sz="1100" b="0" i="0" dirty="0">
                        <a:solidFill>
                          <a:srgbClr val="B5303B"/>
                        </a:solidFill>
                        <a:latin typeface="+mn-lt"/>
                        <a:ea typeface="Malgun Gothic"/>
                      </a:endParaRPr>
                    </a:p>
                  </a:txBody>
                  <a:tcPr marL="73152" marR="73152" marT="36576" marB="36576" anchor="ctr"/>
                </a:tc>
                <a:extLst>
                  <a:ext uri="{0D108BD9-81ED-4DB2-BD59-A6C34878D82A}">
                    <a16:rowId xmlns:a16="http://schemas.microsoft.com/office/drawing/2014/main" val="10004"/>
                  </a:ext>
                </a:extLst>
              </a:tr>
            </a:tbl>
          </a:graphicData>
        </a:graphic>
      </p:graphicFrame>
      <p:sp>
        <p:nvSpPr>
          <p:cNvPr id="5" name="Text 8"/>
          <p:cNvSpPr txBox="1"/>
          <p:nvPr/>
        </p:nvSpPr>
        <p:spPr>
          <a:xfrm>
            <a:off x="822960" y="5486400"/>
            <a:ext cx="2743200" cy="457200"/>
          </a:xfrm>
          <a:prstGeom prst="rect">
            <a:avLst/>
          </a:prstGeom>
          <a:noFill/>
          <a:ln/>
        </p:spPr>
        <p:txBody>
          <a:bodyPr wrap="square" lIns="0" tIns="0" rIns="0" bIns="0" rtlCol="0" anchor="ctr"/>
          <a:lstStyle/>
          <a:p>
            <a:pPr marL="0" indent="0">
              <a:buNone/>
            </a:pPr>
            <a:r>
              <a:rPr lang="en-US" altLang="ko-KR" sz="1300" b="1" dirty="0">
                <a:solidFill>
                  <a:srgbClr val="23301C"/>
                </a:solidFill>
                <a:latin typeface="Calibri" pitchFamily="34" charset="0"/>
                <a:ea typeface="Malgun Gothic"/>
                <a:cs typeface="Calibri" pitchFamily="34" charset="-120"/>
              </a:rPr>
              <a:t>Learning-rate grid  ·  학습률 탐색 범위</a:t>
            </a:r>
            <a:endParaRPr lang="en-US" sz="1250" dirty="0"/>
          </a:p>
        </p:txBody>
      </p:sp>
      <p:sp>
        <p:nvSpPr>
          <p:cNvPr id="6" name="Shape 4"/>
          <p:cNvSpPr/>
          <p:nvPr/>
        </p:nvSpPr>
        <p:spPr>
          <a:xfrm>
            <a:off x="3657600" y="5486400"/>
            <a:ext cx="1097280" cy="457200"/>
          </a:xfrm>
          <a:prstGeom prst="roundRect">
            <a:avLst>
              <a:gd name="adj" fmla="val 4167"/>
            </a:avLst>
          </a:prstGeom>
          <a:solidFill>
            <a:srgbClr val="EAF0E0"/>
          </a:solidFill>
          <a:ln w="12700">
            <a:solidFill>
              <a:srgbClr val="97BC62"/>
            </a:solidFill>
            <a:prstDash val="solid"/>
          </a:ln>
        </p:spPr>
      </p:sp>
      <p:sp>
        <p:nvSpPr>
          <p:cNvPr id="7" name="Text 6"/>
          <p:cNvSpPr txBox="1"/>
          <p:nvPr/>
        </p:nvSpPr>
        <p:spPr>
          <a:xfrm>
            <a:off x="3657600" y="5486400"/>
            <a:ext cx="1097280" cy="457200"/>
          </a:xfrm>
          <a:prstGeom prst="rect">
            <a:avLst/>
          </a:prstGeom>
          <a:noFill/>
          <a:ln/>
        </p:spPr>
        <p:txBody>
          <a:bodyPr wrap="square" lIns="0" tIns="0" rIns="0" bIns="0" rtlCol="0" anchor="ctr"/>
          <a:lstStyle/>
          <a:p>
            <a:pPr marL="0" indent="0" algn="ctr">
              <a:buNone/>
            </a:pPr>
            <a:r>
              <a:rPr lang="en-US" sz="1400" b="1" dirty="0">
                <a:solidFill>
                  <a:srgbClr val="2C5F2D"/>
                </a:solidFill>
                <a:latin typeface="Cambria" pitchFamily="34" charset="0"/>
                <a:ea typeface="Cambria" pitchFamily="34" charset="-122"/>
                <a:cs typeface="Cambria" pitchFamily="34" charset="-120"/>
              </a:rPr>
              <a:t>0.1</a:t>
            </a:r>
            <a:endParaRPr lang="en-US" sz="1800" dirty="0"/>
          </a:p>
        </p:txBody>
      </p:sp>
      <p:sp>
        <p:nvSpPr>
          <p:cNvPr id="8" name="Shape 4"/>
          <p:cNvSpPr/>
          <p:nvPr/>
        </p:nvSpPr>
        <p:spPr>
          <a:xfrm>
            <a:off x="4937760" y="5486400"/>
            <a:ext cx="1097280" cy="457200"/>
          </a:xfrm>
          <a:prstGeom prst="roundRect">
            <a:avLst>
              <a:gd name="adj" fmla="val 4167"/>
            </a:avLst>
          </a:prstGeom>
          <a:solidFill>
            <a:srgbClr val="EAF0E0"/>
          </a:solidFill>
          <a:ln w="12700">
            <a:solidFill>
              <a:srgbClr val="97BC62"/>
            </a:solidFill>
            <a:prstDash val="solid"/>
          </a:ln>
        </p:spPr>
      </p:sp>
      <p:sp>
        <p:nvSpPr>
          <p:cNvPr id="9" name="Text 6"/>
          <p:cNvSpPr txBox="1"/>
          <p:nvPr/>
        </p:nvSpPr>
        <p:spPr>
          <a:xfrm>
            <a:off x="4937760" y="5486400"/>
            <a:ext cx="1097280" cy="457200"/>
          </a:xfrm>
          <a:prstGeom prst="rect">
            <a:avLst/>
          </a:prstGeom>
          <a:noFill/>
          <a:ln/>
        </p:spPr>
        <p:txBody>
          <a:bodyPr wrap="square" lIns="0" tIns="0" rIns="0" bIns="0" rtlCol="0" anchor="ctr"/>
          <a:lstStyle/>
          <a:p>
            <a:pPr marL="0" indent="0" algn="ctr">
              <a:buNone/>
            </a:pPr>
            <a:r>
              <a:rPr lang="en-US" sz="1400" b="1" dirty="0">
                <a:solidFill>
                  <a:srgbClr val="2C5F2D"/>
                </a:solidFill>
                <a:latin typeface="Cambria" pitchFamily="34" charset="0"/>
                <a:ea typeface="Cambria" pitchFamily="34" charset="-122"/>
                <a:cs typeface="Cambria" pitchFamily="34" charset="-120"/>
              </a:rPr>
              <a:t>0.03</a:t>
            </a:r>
            <a:endParaRPr lang="en-US" sz="1800" dirty="0"/>
          </a:p>
        </p:txBody>
      </p:sp>
      <p:sp>
        <p:nvSpPr>
          <p:cNvPr id="10" name="Shape 4"/>
          <p:cNvSpPr/>
          <p:nvPr/>
        </p:nvSpPr>
        <p:spPr>
          <a:xfrm>
            <a:off x="6217920" y="5486400"/>
            <a:ext cx="1097280" cy="457200"/>
          </a:xfrm>
          <a:prstGeom prst="roundRect">
            <a:avLst>
              <a:gd name="adj" fmla="val 4167"/>
            </a:avLst>
          </a:prstGeom>
          <a:solidFill>
            <a:srgbClr val="EAF0E0"/>
          </a:solidFill>
          <a:ln w="12700">
            <a:solidFill>
              <a:srgbClr val="97BC62"/>
            </a:solidFill>
            <a:prstDash val="solid"/>
          </a:ln>
        </p:spPr>
      </p:sp>
      <p:sp>
        <p:nvSpPr>
          <p:cNvPr id="11" name="Text 6"/>
          <p:cNvSpPr txBox="1"/>
          <p:nvPr/>
        </p:nvSpPr>
        <p:spPr>
          <a:xfrm>
            <a:off x="6217920" y="5486400"/>
            <a:ext cx="1097280" cy="457200"/>
          </a:xfrm>
          <a:prstGeom prst="rect">
            <a:avLst/>
          </a:prstGeom>
          <a:noFill/>
          <a:ln/>
        </p:spPr>
        <p:txBody>
          <a:bodyPr wrap="square" lIns="0" tIns="0" rIns="0" bIns="0" rtlCol="0" anchor="ctr"/>
          <a:lstStyle/>
          <a:p>
            <a:pPr marL="0" indent="0" algn="ctr">
              <a:buNone/>
            </a:pPr>
            <a:r>
              <a:rPr lang="en-US" sz="1400" b="1" dirty="0">
                <a:solidFill>
                  <a:srgbClr val="2C5F2D"/>
                </a:solidFill>
                <a:latin typeface="Cambria" pitchFamily="34" charset="0"/>
                <a:ea typeface="Cambria" pitchFamily="34" charset="-122"/>
                <a:cs typeface="Cambria" pitchFamily="34" charset="-120"/>
              </a:rPr>
              <a:t>0.01</a:t>
            </a:r>
            <a:endParaRPr lang="en-US" sz="1800" dirty="0"/>
          </a:p>
        </p:txBody>
      </p:sp>
      <p:sp>
        <p:nvSpPr>
          <p:cNvPr id="12" name="Shape 4"/>
          <p:cNvSpPr/>
          <p:nvPr/>
        </p:nvSpPr>
        <p:spPr>
          <a:xfrm>
            <a:off x="7498079" y="5486400"/>
            <a:ext cx="1097280" cy="457200"/>
          </a:xfrm>
          <a:prstGeom prst="roundRect">
            <a:avLst>
              <a:gd name="adj" fmla="val 4167"/>
            </a:avLst>
          </a:prstGeom>
          <a:solidFill>
            <a:srgbClr val="EAF0E0"/>
          </a:solidFill>
          <a:ln w="12700">
            <a:solidFill>
              <a:srgbClr val="97BC62"/>
            </a:solidFill>
            <a:prstDash val="solid"/>
          </a:ln>
        </p:spPr>
      </p:sp>
      <p:sp>
        <p:nvSpPr>
          <p:cNvPr id="13" name="Text 6"/>
          <p:cNvSpPr txBox="1"/>
          <p:nvPr/>
        </p:nvSpPr>
        <p:spPr>
          <a:xfrm>
            <a:off x="7498079" y="5486400"/>
            <a:ext cx="1097280" cy="457200"/>
          </a:xfrm>
          <a:prstGeom prst="rect">
            <a:avLst/>
          </a:prstGeom>
          <a:noFill/>
          <a:ln/>
        </p:spPr>
        <p:txBody>
          <a:bodyPr wrap="square" lIns="0" tIns="0" rIns="0" bIns="0" rtlCol="0" anchor="ctr"/>
          <a:lstStyle/>
          <a:p>
            <a:pPr marL="0" indent="0" algn="ctr">
              <a:buNone/>
            </a:pPr>
            <a:r>
              <a:rPr lang="en-US" sz="1400" b="1" dirty="0">
                <a:solidFill>
                  <a:srgbClr val="2C5F2D"/>
                </a:solidFill>
                <a:latin typeface="Cambria" pitchFamily="34" charset="0"/>
                <a:ea typeface="Cambria" pitchFamily="34" charset="-122"/>
                <a:cs typeface="Cambria" pitchFamily="34" charset="-120"/>
              </a:rPr>
              <a:t>0.003</a:t>
            </a:r>
            <a:endParaRPr lang="en-US" sz="1800" dirty="0"/>
          </a:p>
        </p:txBody>
      </p:sp>
      <p:sp>
        <p:nvSpPr>
          <p:cNvPr id="14" name="Shape 4"/>
          <p:cNvSpPr/>
          <p:nvPr/>
        </p:nvSpPr>
        <p:spPr>
          <a:xfrm>
            <a:off x="8778240" y="5486400"/>
            <a:ext cx="1097280" cy="457200"/>
          </a:xfrm>
          <a:prstGeom prst="roundRect">
            <a:avLst>
              <a:gd name="adj" fmla="val 4167"/>
            </a:avLst>
          </a:prstGeom>
          <a:solidFill>
            <a:srgbClr val="EAF0E0"/>
          </a:solidFill>
          <a:ln w="12700">
            <a:solidFill>
              <a:srgbClr val="97BC62"/>
            </a:solidFill>
            <a:prstDash val="solid"/>
          </a:ln>
        </p:spPr>
      </p:sp>
      <p:sp>
        <p:nvSpPr>
          <p:cNvPr id="15" name="Text 6"/>
          <p:cNvSpPr txBox="1"/>
          <p:nvPr/>
        </p:nvSpPr>
        <p:spPr>
          <a:xfrm>
            <a:off x="8778240" y="5486400"/>
            <a:ext cx="1097280" cy="457200"/>
          </a:xfrm>
          <a:prstGeom prst="rect">
            <a:avLst/>
          </a:prstGeom>
          <a:noFill/>
          <a:ln/>
        </p:spPr>
        <p:txBody>
          <a:bodyPr wrap="square" lIns="0" tIns="0" rIns="0" bIns="0" rtlCol="0" anchor="ctr"/>
          <a:lstStyle/>
          <a:p>
            <a:pPr marL="0" indent="0" algn="ctr">
              <a:buNone/>
            </a:pPr>
            <a:r>
              <a:rPr lang="en-US" sz="1400" b="1" dirty="0">
                <a:solidFill>
                  <a:srgbClr val="2C5F2D"/>
                </a:solidFill>
                <a:latin typeface="Cambria" pitchFamily="34" charset="0"/>
                <a:ea typeface="Cambria" pitchFamily="34" charset="-122"/>
                <a:cs typeface="Cambria" pitchFamily="34" charset="-120"/>
              </a:rPr>
              <a:t>0.001</a:t>
            </a:r>
            <a:endParaRPr lang="en-US" sz="1800" dirty="0"/>
          </a:p>
        </p:txBody>
      </p:sp>
      <p:sp>
        <p:nvSpPr>
          <p:cNvPr id="16" name="Shape 4"/>
          <p:cNvSpPr/>
          <p:nvPr/>
        </p:nvSpPr>
        <p:spPr>
          <a:xfrm>
            <a:off x="10058400" y="5486400"/>
            <a:ext cx="1097280" cy="457200"/>
          </a:xfrm>
          <a:prstGeom prst="roundRect">
            <a:avLst>
              <a:gd name="adj" fmla="val 4167"/>
            </a:avLst>
          </a:prstGeom>
          <a:solidFill>
            <a:srgbClr val="EAF0E0"/>
          </a:solidFill>
          <a:ln w="12700">
            <a:solidFill>
              <a:srgbClr val="97BC62"/>
            </a:solidFill>
            <a:prstDash val="solid"/>
          </a:ln>
        </p:spPr>
      </p:sp>
      <p:sp>
        <p:nvSpPr>
          <p:cNvPr id="17" name="Text 6"/>
          <p:cNvSpPr txBox="1"/>
          <p:nvPr/>
        </p:nvSpPr>
        <p:spPr>
          <a:xfrm>
            <a:off x="10058400" y="5486400"/>
            <a:ext cx="1097280" cy="457200"/>
          </a:xfrm>
          <a:prstGeom prst="rect">
            <a:avLst/>
          </a:prstGeom>
          <a:noFill/>
          <a:ln/>
        </p:spPr>
        <p:txBody>
          <a:bodyPr wrap="square" lIns="0" tIns="0" rIns="0" bIns="0" rtlCol="0" anchor="ctr"/>
          <a:lstStyle/>
          <a:p>
            <a:pPr marL="0" indent="0" algn="ctr">
              <a:buNone/>
            </a:pPr>
            <a:r>
              <a:rPr lang="en-US" sz="1400" b="1" dirty="0">
                <a:solidFill>
                  <a:srgbClr val="2C5F2D"/>
                </a:solidFill>
                <a:latin typeface="Cambria" pitchFamily="34" charset="0"/>
                <a:ea typeface="Cambria" pitchFamily="34" charset="-122"/>
                <a:cs typeface="Cambria" pitchFamily="34" charset="-120"/>
              </a:rPr>
              <a:t>0.0003</a:t>
            </a:r>
            <a:endParaRPr lang="en-US" sz="1800" dirty="0"/>
          </a:p>
        </p:txBody>
      </p:sp>
      <p:sp>
        <p:nvSpPr>
          <p:cNvPr id="18" name="Text 22"/>
          <p:cNvSpPr txBox="1"/>
          <p:nvPr/>
        </p:nvSpPr>
        <p:spPr>
          <a:xfrm>
            <a:off x="822960" y="6236208"/>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Same grid and same 40-epoch budget for every optimizer; each optimizer is compared at its best learning rate.  (모든 알고리즘에 같은 범위·예산 적용, 각자 최적 학습률로 비교)</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SELECTION RULE  (선정 기준)</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How the best optimizer is chosen</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최적 알고리즘 선정 방법  ·  최종 결과를 보기 전에 확정</a:t>
            </a:r>
            <a:endParaRPr lang="en-US" sz="3000" dirty="0"/>
          </a:p>
        </p:txBody>
      </p:sp>
      <p:sp>
        <p:nvSpPr>
          <p:cNvPr id="4" name="Shape 4"/>
          <p:cNvSpPr/>
          <p:nvPr/>
        </p:nvSpPr>
        <p:spPr>
          <a:xfrm>
            <a:off x="822960" y="1965960"/>
            <a:ext cx="3291840" cy="2834640"/>
          </a:xfrm>
          <a:prstGeom prst="roundRect">
            <a:avLst>
              <a:gd name="adj" fmla="val 4167"/>
            </a:avLst>
          </a:prstGeom>
          <a:solidFill>
            <a:srgbClr val="FFFFFF"/>
          </a:solidFill>
          <a:ln w="12700">
            <a:solidFill>
              <a:srgbClr val="97BC62"/>
            </a:solidFill>
            <a:prstDash val="solid"/>
          </a:ln>
        </p:spPr>
      </p:sp>
      <p:sp>
        <p:nvSpPr>
          <p:cNvPr id="5" name="Shape 5"/>
          <p:cNvSpPr/>
          <p:nvPr/>
        </p:nvSpPr>
        <p:spPr>
          <a:xfrm>
            <a:off x="1143000" y="2240280"/>
            <a:ext cx="502920" cy="502920"/>
          </a:xfrm>
          <a:prstGeom prst="ellipse">
            <a:avLst/>
          </a:prstGeom>
          <a:solidFill>
            <a:srgbClr val="2C5F2D"/>
          </a:solidFill>
          <a:ln/>
        </p:spPr>
      </p:sp>
      <p:sp>
        <p:nvSpPr>
          <p:cNvPr id="6" name="Text 6"/>
          <p:cNvSpPr txBox="1"/>
          <p:nvPr/>
        </p:nvSpPr>
        <p:spPr>
          <a:xfrm>
            <a:off x="1143000" y="2240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7"/>
          <p:cNvSpPr txBox="1"/>
          <p:nvPr/>
        </p:nvSpPr>
        <p:spPr>
          <a:xfrm>
            <a:off x="1783080" y="214884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Accuracy</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정확도</a:t>
            </a:r>
            <a:endParaRPr lang="en-US" sz="1600" dirty="0"/>
          </a:p>
        </p:txBody>
      </p:sp>
      <p:sp>
        <p:nvSpPr>
          <p:cNvPr id="8" name="Text 8"/>
          <p:cNvSpPr txBox="1"/>
          <p:nvPr/>
        </p:nvSpPr>
        <p:spPr>
          <a:xfrm>
            <a:off x="1143000" y="3017520"/>
            <a:ext cx="2697480" cy="1188720"/>
          </a:xfrm>
          <a:prstGeom prst="rect">
            <a:avLst/>
          </a:prstGeom>
          <a:noFill/>
          <a:ln/>
        </p:spPr>
        <p:txBody>
          <a:bodyPr wrap="square" lIns="0" tIns="0" rIns="0" bIns="0" rtlCol="0" anchor="t"/>
          <a:lstStyle/>
          <a:p>
            <a:pPr marL="0" indent="0">
              <a:buNone/>
            </a:pPr>
            <a:r>
              <a:rPr lang="en-US" sz="1400" dirty="0">
                <a:latin typeface="Calibri" pitchFamily="34" charset="0"/>
                <a:ea typeface="Calibri" pitchFamily="34" charset="-122"/>
                <a:cs typeface="Calibri" pitchFamily="34" charset="-120"/>
              </a:rPr>
              <a:t>Highest test macro-F1, significantly better than every other optimizer.</a:t>
            </a:r>
            <a:endParaRPr lang="en-US" sz="1400" dirty="0"/>
          </a:p>
          <a:p>
            <a:pPr marL="0" indent="0">
              <a:buNone/>
            </a:pPr>
            <a:r>
              <a:rPr lang="en-US" altLang="ko-KR" sz="1400" dirty="0">
                <a:solidFill>
                  <a:srgbClr val="B5303B"/>
                </a:solidFill>
                <a:latin typeface="Calibri" pitchFamily="34" charset="0"/>
                <a:ea typeface="Malgun Gothic"/>
                <a:cs typeface="Calibri" pitchFamily="34" charset="-120"/>
              </a:rPr>
              <a:t>테스트 macro-F1이 가장 높고, 다른 모든 알고리즘보다 유의하게 우수</a:t>
            </a:r>
            <a:endParaRPr lang="en-US" sz="1400" dirty="0">
              <a:solidFill>
                <a:srgbClr val="B5303B"/>
              </a:solidFill>
            </a:endParaRPr>
          </a:p>
        </p:txBody>
      </p:sp>
      <p:sp>
        <p:nvSpPr>
          <p:cNvPr id="9" name="Text 8"/>
          <p:cNvSpPr txBox="1"/>
          <p:nvPr/>
        </p:nvSpPr>
        <p:spPr>
          <a:xfrm>
            <a:off x="1143000" y="4206240"/>
            <a:ext cx="2697480" cy="45720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Paired t-test, 5 seeds, Holm, α = 0.05</a:t>
            </a:r>
            <a:endParaRPr lang="en-US" sz="1250" dirty="0"/>
          </a:p>
        </p:txBody>
      </p:sp>
      <p:sp>
        <p:nvSpPr>
          <p:cNvPr id="10" name="Text 7"/>
          <p:cNvSpPr txBox="1"/>
          <p:nvPr/>
        </p:nvSpPr>
        <p:spPr>
          <a:xfrm>
            <a:off x="4114800" y="3154680"/>
            <a:ext cx="320040" cy="457200"/>
          </a:xfrm>
          <a:prstGeom prst="rect">
            <a:avLst/>
          </a:prstGeom>
          <a:noFill/>
          <a:ln/>
        </p:spPr>
        <p:txBody>
          <a:bodyPr wrap="square" lIns="0" tIns="0" rIns="0" bIns="0" rtlCol="0" anchor="ctr"/>
          <a:lstStyle/>
          <a:p>
            <a:pPr marL="0" indent="0" algn="ctr">
              <a:buNone/>
            </a:pPr>
            <a:r>
              <a:rPr lang="en-US" sz="2400" b="1" dirty="0">
                <a:solidFill>
                  <a:srgbClr val="6B8E3D"/>
                </a:solidFill>
                <a:latin typeface="Cambria" pitchFamily="34" charset="0"/>
                <a:ea typeface="Cambria" pitchFamily="34" charset="-122"/>
                <a:cs typeface="Cambria" pitchFamily="34" charset="-120"/>
              </a:rPr>
              <a:t>→</a:t>
            </a:r>
            <a:endParaRPr lang="en-US" sz="2400" dirty="0"/>
          </a:p>
        </p:txBody>
      </p:sp>
      <p:sp>
        <p:nvSpPr>
          <p:cNvPr id="11" name="Shape 4"/>
          <p:cNvSpPr/>
          <p:nvPr/>
        </p:nvSpPr>
        <p:spPr>
          <a:xfrm>
            <a:off x="4434840" y="1965960"/>
            <a:ext cx="3291840" cy="2834640"/>
          </a:xfrm>
          <a:prstGeom prst="roundRect">
            <a:avLst>
              <a:gd name="adj" fmla="val 4167"/>
            </a:avLst>
          </a:prstGeom>
          <a:solidFill>
            <a:srgbClr val="FFFFFF"/>
          </a:solidFill>
          <a:ln w="12700">
            <a:solidFill>
              <a:srgbClr val="97BC62"/>
            </a:solidFill>
            <a:prstDash val="solid"/>
          </a:ln>
        </p:spPr>
      </p:sp>
      <p:sp>
        <p:nvSpPr>
          <p:cNvPr id="12" name="Shape 10"/>
          <p:cNvSpPr/>
          <p:nvPr/>
        </p:nvSpPr>
        <p:spPr>
          <a:xfrm>
            <a:off x="4754880" y="2240280"/>
            <a:ext cx="502920" cy="502920"/>
          </a:xfrm>
          <a:prstGeom prst="ellipse">
            <a:avLst/>
          </a:prstGeom>
          <a:solidFill>
            <a:srgbClr val="6B8E3D"/>
          </a:solidFill>
          <a:ln/>
        </p:spPr>
      </p:sp>
      <p:sp>
        <p:nvSpPr>
          <p:cNvPr id="13" name="Text 6"/>
          <p:cNvSpPr txBox="1"/>
          <p:nvPr/>
        </p:nvSpPr>
        <p:spPr>
          <a:xfrm>
            <a:off x="4754880" y="2240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7"/>
          <p:cNvSpPr txBox="1"/>
          <p:nvPr/>
        </p:nvSpPr>
        <p:spPr>
          <a:xfrm>
            <a:off x="5394960" y="214884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Convergence</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수렴 속도</a:t>
            </a:r>
            <a:endParaRPr lang="en-US" sz="1600" dirty="0"/>
          </a:p>
        </p:txBody>
      </p:sp>
      <p:sp>
        <p:nvSpPr>
          <p:cNvPr id="15" name="Text 8"/>
          <p:cNvSpPr txBox="1"/>
          <p:nvPr/>
        </p:nvSpPr>
        <p:spPr>
          <a:xfrm>
            <a:off x="4754880" y="3017520"/>
            <a:ext cx="2697480" cy="1188720"/>
          </a:xfrm>
          <a:prstGeom prst="rect">
            <a:avLst/>
          </a:prstGeom>
          <a:noFill/>
          <a:ln/>
        </p:spPr>
        <p:txBody>
          <a:bodyPr wrap="square" lIns="0" tIns="0" rIns="0" bIns="0" rtlCol="0" anchor="t"/>
          <a:lstStyle/>
          <a:p>
            <a:pPr marL="0" indent="0">
              <a:buNone/>
            </a:pPr>
            <a:r>
              <a:rPr lang="en-US" sz="1400" dirty="0">
                <a:latin typeface="Calibri" pitchFamily="34" charset="0"/>
                <a:ea typeface="Calibri" pitchFamily="34" charset="-122"/>
                <a:cs typeface="Calibri" pitchFamily="34" charset="-120"/>
              </a:rPr>
              <a:t>If tied: fewest epochs to reach validation macro-F1 ≥ 0.85.</a:t>
            </a:r>
            <a:endParaRPr lang="en-US" sz="1400" dirty="0"/>
          </a:p>
          <a:p>
            <a:pPr marL="0" indent="0">
              <a:buNone/>
            </a:pPr>
            <a:r>
              <a:rPr lang="en-US" altLang="ko-KR" sz="1400" dirty="0">
                <a:solidFill>
                  <a:srgbClr val="B5303B"/>
                </a:solidFill>
                <a:latin typeface="Calibri" pitchFamily="34" charset="0"/>
                <a:ea typeface="Malgun Gothic"/>
                <a:cs typeface="Calibri" pitchFamily="34" charset="-120"/>
              </a:rPr>
              <a:t>동률이면: 검증 macro-F1 0.85 도달 에폭 수가 가장 적은 알고리즘</a:t>
            </a:r>
            <a:endParaRPr lang="en-US" sz="1400" dirty="0">
              <a:solidFill>
                <a:srgbClr val="B5303B"/>
              </a:solidFill>
            </a:endParaRPr>
          </a:p>
        </p:txBody>
      </p:sp>
      <p:sp>
        <p:nvSpPr>
          <p:cNvPr id="16" name="Text 8"/>
          <p:cNvSpPr txBox="1"/>
          <p:nvPr/>
        </p:nvSpPr>
        <p:spPr>
          <a:xfrm>
            <a:off x="4754880" y="4206240"/>
            <a:ext cx="2697480" cy="45720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Same paired test, among the tied optimizers</a:t>
            </a:r>
            <a:endParaRPr lang="en-US" sz="1250" dirty="0"/>
          </a:p>
        </p:txBody>
      </p:sp>
      <p:sp>
        <p:nvSpPr>
          <p:cNvPr id="17" name="Text 7"/>
          <p:cNvSpPr txBox="1"/>
          <p:nvPr/>
        </p:nvSpPr>
        <p:spPr>
          <a:xfrm>
            <a:off x="7726680" y="3154680"/>
            <a:ext cx="320040" cy="457200"/>
          </a:xfrm>
          <a:prstGeom prst="rect">
            <a:avLst/>
          </a:prstGeom>
          <a:noFill/>
          <a:ln/>
        </p:spPr>
        <p:txBody>
          <a:bodyPr wrap="square" lIns="0" tIns="0" rIns="0" bIns="0" rtlCol="0" anchor="ctr"/>
          <a:lstStyle/>
          <a:p>
            <a:pPr marL="0" indent="0" algn="ctr">
              <a:buNone/>
            </a:pPr>
            <a:r>
              <a:rPr lang="en-US" sz="2400" b="1" dirty="0">
                <a:solidFill>
                  <a:srgbClr val="6B8E3D"/>
                </a:solidFill>
                <a:latin typeface="Cambria" pitchFamily="34" charset="0"/>
                <a:ea typeface="Cambria" pitchFamily="34" charset="-122"/>
                <a:cs typeface="Cambria" pitchFamily="34" charset="-120"/>
              </a:rPr>
              <a:t>→</a:t>
            </a:r>
            <a:endParaRPr lang="en-US" sz="2400" dirty="0"/>
          </a:p>
        </p:txBody>
      </p:sp>
      <p:sp>
        <p:nvSpPr>
          <p:cNvPr id="18" name="Shape 4"/>
          <p:cNvSpPr/>
          <p:nvPr/>
        </p:nvSpPr>
        <p:spPr>
          <a:xfrm>
            <a:off x="8046720" y="1965960"/>
            <a:ext cx="3291840" cy="2834640"/>
          </a:xfrm>
          <a:prstGeom prst="roundRect">
            <a:avLst>
              <a:gd name="adj" fmla="val 4167"/>
            </a:avLst>
          </a:prstGeom>
          <a:solidFill>
            <a:srgbClr val="FFFFFF"/>
          </a:solidFill>
          <a:ln w="12700">
            <a:solidFill>
              <a:srgbClr val="97BC62"/>
            </a:solidFill>
            <a:prstDash val="solid"/>
          </a:ln>
        </p:spPr>
      </p:sp>
      <p:sp>
        <p:nvSpPr>
          <p:cNvPr id="19" name="Shape 15"/>
          <p:cNvSpPr/>
          <p:nvPr/>
        </p:nvSpPr>
        <p:spPr>
          <a:xfrm>
            <a:off x="8366760" y="2240280"/>
            <a:ext cx="502920" cy="502920"/>
          </a:xfrm>
          <a:prstGeom prst="ellipse">
            <a:avLst/>
          </a:prstGeom>
          <a:solidFill>
            <a:srgbClr val="B5303B"/>
          </a:solidFill>
          <a:ln/>
        </p:spPr>
      </p:sp>
      <p:sp>
        <p:nvSpPr>
          <p:cNvPr id="20" name="Text 6"/>
          <p:cNvSpPr txBox="1"/>
          <p:nvPr/>
        </p:nvSpPr>
        <p:spPr>
          <a:xfrm>
            <a:off x="8366760" y="2240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7"/>
          <p:cNvSpPr txBox="1"/>
          <p:nvPr/>
        </p:nvSpPr>
        <p:spPr>
          <a:xfrm>
            <a:off x="9006840" y="214884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Training time</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학습 시간</a:t>
            </a:r>
            <a:endParaRPr lang="en-US" sz="1600" dirty="0"/>
          </a:p>
        </p:txBody>
      </p:sp>
      <p:sp>
        <p:nvSpPr>
          <p:cNvPr id="22" name="Text 8"/>
          <p:cNvSpPr txBox="1"/>
          <p:nvPr/>
        </p:nvSpPr>
        <p:spPr>
          <a:xfrm>
            <a:off x="8366760" y="3017520"/>
            <a:ext cx="2697480" cy="1188720"/>
          </a:xfrm>
          <a:prstGeom prst="rect">
            <a:avLst/>
          </a:prstGeom>
          <a:noFill/>
          <a:ln/>
        </p:spPr>
        <p:txBody>
          <a:bodyPr wrap="square" lIns="0" tIns="0" rIns="0" bIns="0" rtlCol="0" anchor="t"/>
          <a:lstStyle/>
          <a:p>
            <a:pPr marL="0" indent="0">
              <a:buNone/>
            </a:pPr>
            <a:r>
              <a:rPr lang="en-US" sz="1400" dirty="0">
                <a:latin typeface="Calibri" pitchFamily="34" charset="0"/>
                <a:ea typeface="Calibri" pitchFamily="34" charset="-122"/>
                <a:cs typeface="Calibri" pitchFamily="34" charset="-120"/>
              </a:rPr>
              <a:t>If still tied: least training time to reach the same target.</a:t>
            </a:r>
            <a:endParaRPr lang="en-US" sz="1400" dirty="0"/>
          </a:p>
          <a:p>
            <a:pPr marL="0" indent="0">
              <a:buNone/>
            </a:pPr>
            <a:r>
              <a:rPr lang="en-US" altLang="ko-KR" sz="1400" dirty="0">
                <a:solidFill>
                  <a:srgbClr val="B5303B"/>
                </a:solidFill>
                <a:latin typeface="Calibri" pitchFamily="34" charset="0"/>
                <a:ea typeface="Malgun Gothic"/>
                <a:cs typeface="Calibri" pitchFamily="34" charset="-120"/>
              </a:rPr>
              <a:t>그래도 동률이면: 목표 도달 학습 시간이 가장 짧은 알고리즘</a:t>
            </a:r>
            <a:endParaRPr lang="en-US" sz="1400" dirty="0">
              <a:solidFill>
                <a:srgbClr val="B5303B"/>
              </a:solidFill>
            </a:endParaRPr>
          </a:p>
        </p:txBody>
      </p:sp>
      <p:sp>
        <p:nvSpPr>
          <p:cNvPr id="23" name="Text 8"/>
          <p:cNvSpPr txBox="1"/>
          <p:nvPr/>
        </p:nvSpPr>
        <p:spPr>
          <a:xfrm>
            <a:off x="8366760" y="4206240"/>
            <a:ext cx="2697480" cy="45720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Wall-clock seconds, same laptop for every run</a:t>
            </a:r>
            <a:endParaRPr lang="en-US" sz="1250" dirty="0"/>
          </a:p>
        </p:txBody>
      </p:sp>
      <p:sp>
        <p:nvSpPr>
          <p:cNvPr id="24" name="Shape 2"/>
          <p:cNvSpPr/>
          <p:nvPr/>
        </p:nvSpPr>
        <p:spPr>
          <a:xfrm>
            <a:off x="822960" y="5029200"/>
            <a:ext cx="10515600" cy="868680"/>
          </a:xfrm>
          <a:prstGeom prst="roundRect">
            <a:avLst>
              <a:gd name="adj" fmla="val 6486"/>
            </a:avLst>
          </a:prstGeom>
          <a:solidFill>
            <a:srgbClr val="2C5F2D"/>
          </a:solidFill>
          <a:ln/>
        </p:spPr>
      </p:sp>
      <p:sp>
        <p:nvSpPr>
          <p:cNvPr id="25" name="Text 3"/>
          <p:cNvSpPr txBox="1"/>
          <p:nvPr/>
        </p:nvSpPr>
        <p:spPr>
          <a:xfrm>
            <a:off x="1143000" y="5120640"/>
            <a:ext cx="9875520" cy="685800"/>
          </a:xfrm>
          <a:prstGeom prst="rect">
            <a:avLst/>
          </a:prstGeom>
          <a:noFill/>
          <a:ln/>
        </p:spPr>
        <p:txBody>
          <a:bodyPr wrap="square" lIns="0" tIns="0" rIns="0" bIns="0" rtlCol="0" anchor="ctr"/>
          <a:lstStyle/>
          <a:p>
            <a:pPr marL="0" indent="0">
              <a:lnSpc>
                <a:spcPct val="105000"/>
              </a:lnSpc>
              <a:buNone/>
            </a:pPr>
            <a:r>
              <a:rPr lang="en-US" sz="1600" b="1" dirty="0">
                <a:solidFill>
                  <a:srgbClr val="FFFFFF"/>
                </a:solidFill>
                <a:latin typeface="Cambria" pitchFamily="34" charset="0"/>
                <a:ea typeface="Cambria" pitchFamily="34" charset="-122"/>
                <a:cs typeface="Cambria" pitchFamily="34" charset="-120"/>
              </a:rPr>
              <a:t>If all three criteria are tied, the optimizers are reported as equivalent.</a:t>
            </a:r>
            <a:endParaRPr lang="en-US" sz="2000" dirty="0"/>
          </a:p>
          <a:p>
            <a:pPr marL="0" indent="0">
              <a:lnSpc>
                <a:spcPct val="105000"/>
              </a:lnSpc>
              <a:buNone/>
            </a:pPr>
            <a:r>
              <a:rPr lang="en-US" altLang="ko-KR" sz="1250" dirty="0">
                <a:solidFill>
                  <a:srgbClr val="D9E4CF"/>
                </a:solidFill>
                <a:latin typeface="Calibri" pitchFamily="34" charset="0"/>
                <a:ea typeface="Malgun Gothic"/>
                <a:cs typeface="Calibri" pitchFamily="34" charset="-120"/>
              </a:rPr>
              <a:t>세 기준 모두 동률이면 '동등'으로 보고합니다.</a:t>
            </a:r>
            <a:endParaRPr lang="en-US" sz="2000" dirty="0"/>
          </a:p>
        </p:txBody>
      </p:sp>
      <p:sp>
        <p:nvSpPr>
          <p:cNvPr id="26" name="Text 22"/>
          <p:cNvSpPr txBox="1"/>
          <p:nvPr/>
        </p:nvSpPr>
        <p:spPr>
          <a:xfrm>
            <a:off x="822960" y="6236208"/>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Macro-F1 weights the three diseases equally; angular leaf spot is only 11% of the images.  (macro-F1은 세 질병을 동일한 비중으로 평가 · 각반병은 전체 이미지의 11%)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753D416E-44A2-46E4-9789-EB9B71CB8854}"/>
              </a:ext>
            </a:extLst>
          </p:cNvPr>
          <p:cNvGraphicFramePr>
            <a:graphicFrameLocks noGrp="1"/>
          </p:cNvGraphicFramePr>
          <p:nvPr>
            <p:extLst>
              <p:ext uri="{D42A27DB-BD31-4B8C-83A1-F6EECF244321}">
                <p14:modId xmlns:p14="http://schemas.microsoft.com/office/powerpoint/2010/main" val="566279965"/>
              </p:ext>
            </p:extLst>
          </p:nvPr>
        </p:nvGraphicFramePr>
        <p:xfrm>
          <a:off x="853440" y="1653254"/>
          <a:ext cx="8356600" cy="2346960"/>
        </p:xfrm>
        <a:graphic>
          <a:graphicData uri="http://schemas.openxmlformats.org/drawingml/2006/table">
            <a:tbl>
              <a:tblPr>
                <a:tableStyleId>{8EC20E35-A176-4012-BC5E-935CFFF8708E}</a:tableStyleId>
              </a:tblPr>
              <a:tblGrid>
                <a:gridCol w="1671320">
                  <a:extLst>
                    <a:ext uri="{9D8B030D-6E8A-4147-A177-3AD203B41FA5}">
                      <a16:colId xmlns:a16="http://schemas.microsoft.com/office/drawing/2014/main" val="3482989775"/>
                    </a:ext>
                  </a:extLst>
                </a:gridCol>
                <a:gridCol w="1671320">
                  <a:extLst>
                    <a:ext uri="{9D8B030D-6E8A-4147-A177-3AD203B41FA5}">
                      <a16:colId xmlns:a16="http://schemas.microsoft.com/office/drawing/2014/main" val="2768415907"/>
                    </a:ext>
                  </a:extLst>
                </a:gridCol>
                <a:gridCol w="1671320">
                  <a:extLst>
                    <a:ext uri="{9D8B030D-6E8A-4147-A177-3AD203B41FA5}">
                      <a16:colId xmlns:a16="http://schemas.microsoft.com/office/drawing/2014/main" val="652519482"/>
                    </a:ext>
                  </a:extLst>
                </a:gridCol>
                <a:gridCol w="1671320">
                  <a:extLst>
                    <a:ext uri="{9D8B030D-6E8A-4147-A177-3AD203B41FA5}">
                      <a16:colId xmlns:a16="http://schemas.microsoft.com/office/drawing/2014/main" val="3747015113"/>
                    </a:ext>
                  </a:extLst>
                </a:gridCol>
                <a:gridCol w="1671320">
                  <a:extLst>
                    <a:ext uri="{9D8B030D-6E8A-4147-A177-3AD203B41FA5}">
                      <a16:colId xmlns:a16="http://schemas.microsoft.com/office/drawing/2014/main" val="3738934001"/>
                    </a:ext>
                  </a:extLst>
                </a:gridCol>
              </a:tblGrid>
              <a:tr h="268038">
                <a:tc>
                  <a:txBody>
                    <a:bodyPr/>
                    <a:lstStyle/>
                    <a:p>
                      <a:pPr algn="l"/>
                      <a:r>
                        <a:rPr lang="en-US" sz="1600" b="1" dirty="0">
                          <a:effectLst/>
                        </a:rPr>
                        <a:t>Learning</a:t>
                      </a:r>
                      <a:r>
                        <a:rPr lang="ko-KR" altLang="en-US" sz="1600" b="1" dirty="0">
                          <a:effectLst/>
                        </a:rPr>
                        <a:t> </a:t>
                      </a:r>
                      <a:r>
                        <a:rPr lang="en-US" altLang="ko-KR" sz="1600" b="1" dirty="0">
                          <a:effectLst/>
                        </a:rPr>
                        <a:t>rates</a:t>
                      </a:r>
                      <a:endParaRPr lang="en-US" sz="1600" b="1" dirty="0">
                        <a:effectLst/>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sz="1600" b="1" dirty="0">
                          <a:effectLst/>
                        </a:rPr>
                        <a:t>SGD</a:t>
                      </a:r>
                    </a:p>
                  </a:txBody>
                  <a:tcPr anchor="ctr">
                    <a:lnB w="12700" cap="flat" cmpd="sng" algn="ctr">
                      <a:solidFill>
                        <a:schemeClr val="tx1"/>
                      </a:solidFill>
                      <a:prstDash val="solid"/>
                      <a:round/>
                      <a:headEnd type="none" w="med" len="med"/>
                      <a:tailEnd type="none" w="med" len="med"/>
                    </a:lnB>
                  </a:tcPr>
                </a:tc>
                <a:tc>
                  <a:txBody>
                    <a:bodyPr/>
                    <a:lstStyle/>
                    <a:p>
                      <a:pPr algn="ctr"/>
                      <a:r>
                        <a:rPr lang="en-US" sz="1600" b="1" dirty="0" err="1">
                          <a:effectLst/>
                        </a:rPr>
                        <a:t>Adagrad</a:t>
                      </a:r>
                      <a:endParaRPr lang="en-US" sz="1600" b="1" dirty="0">
                        <a:effectLst/>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sz="1600" b="1" dirty="0">
                          <a:effectLst/>
                        </a:rPr>
                        <a:t>RMSprop</a:t>
                      </a:r>
                    </a:p>
                  </a:txBody>
                  <a:tcPr anchor="ctr">
                    <a:lnB w="12700" cap="flat" cmpd="sng" algn="ctr">
                      <a:solidFill>
                        <a:schemeClr val="tx1"/>
                      </a:solidFill>
                      <a:prstDash val="solid"/>
                      <a:round/>
                      <a:headEnd type="none" w="med" len="med"/>
                      <a:tailEnd type="none" w="med" len="med"/>
                    </a:lnB>
                  </a:tcPr>
                </a:tc>
                <a:tc>
                  <a:txBody>
                    <a:bodyPr/>
                    <a:lstStyle/>
                    <a:p>
                      <a:pPr algn="ctr"/>
                      <a:r>
                        <a:rPr lang="en-US" sz="1600" b="1" dirty="0">
                          <a:effectLst/>
                        </a:rPr>
                        <a:t>Adam</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784012"/>
                  </a:ext>
                </a:extLst>
              </a:tr>
              <a:tr h="268038">
                <a:tc>
                  <a:txBody>
                    <a:bodyPr/>
                    <a:lstStyle/>
                    <a:p>
                      <a:pPr algn="l"/>
                      <a:r>
                        <a:rPr lang="en-US" altLang="ko-KR" sz="1600" b="0" dirty="0">
                          <a:effectLst/>
                        </a:rPr>
                        <a:t>0.1</a:t>
                      </a:r>
                    </a:p>
                  </a:txBody>
                  <a:tcPr anchor="ctr">
                    <a:lnT w="12700" cap="flat" cmpd="sng" algn="ctr">
                      <a:solidFill>
                        <a:schemeClr val="tx1"/>
                      </a:solidFill>
                      <a:prstDash val="solid"/>
                      <a:round/>
                      <a:headEnd type="none" w="med" len="med"/>
                      <a:tailEnd type="none" w="med" len="med"/>
                    </a:lnT>
                  </a:tcPr>
                </a:tc>
                <a:tc>
                  <a:txBody>
                    <a:bodyPr/>
                    <a:lstStyle/>
                    <a:p>
                      <a:pPr algn="ctr"/>
                      <a:r>
                        <a:rPr lang="en-US" altLang="ko-KR" sz="1600" b="1" dirty="0">
                          <a:effectLst/>
                        </a:rPr>
                        <a:t>0.904</a:t>
                      </a:r>
                      <a:endParaRPr lang="ko-KR" altLang="en-US" sz="1600" dirty="0">
                        <a:effectLs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ko-KR" sz="1600" b="0" dirty="0">
                          <a:effectLst/>
                        </a:rPr>
                        <a:t>0.848</a:t>
                      </a:r>
                    </a:p>
                  </a:txBody>
                  <a:tcPr anchor="ctr">
                    <a:lnT w="12700" cap="flat" cmpd="sng" algn="ctr">
                      <a:solidFill>
                        <a:schemeClr val="tx1"/>
                      </a:solidFill>
                      <a:prstDash val="solid"/>
                      <a:round/>
                      <a:headEnd type="none" w="med" len="med"/>
                      <a:tailEnd type="none" w="med" len="med"/>
                    </a:lnT>
                  </a:tcPr>
                </a:tc>
                <a:tc>
                  <a:txBody>
                    <a:bodyPr/>
                    <a:lstStyle/>
                    <a:p>
                      <a:pPr algn="ctr"/>
                      <a:r>
                        <a:rPr lang="en-US" altLang="ko-KR" sz="1600" b="0" dirty="0">
                          <a:effectLst/>
                        </a:rPr>
                        <a:t>0.565</a:t>
                      </a:r>
                    </a:p>
                  </a:txBody>
                  <a:tcPr anchor="ctr">
                    <a:lnT w="12700" cap="flat" cmpd="sng" algn="ctr">
                      <a:solidFill>
                        <a:schemeClr val="tx1"/>
                      </a:solidFill>
                      <a:prstDash val="solid"/>
                      <a:round/>
                      <a:headEnd type="none" w="med" len="med"/>
                      <a:tailEnd type="none" w="med" len="med"/>
                    </a:lnT>
                  </a:tcPr>
                </a:tc>
                <a:tc>
                  <a:txBody>
                    <a:bodyPr/>
                    <a:lstStyle/>
                    <a:p>
                      <a:pPr algn="ctr"/>
                      <a:r>
                        <a:rPr lang="en-US" altLang="ko-KR" sz="1600" b="0">
                          <a:effectLst/>
                        </a:rPr>
                        <a:t>0.224</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9326418"/>
                  </a:ext>
                </a:extLst>
              </a:tr>
              <a:tr h="268038">
                <a:tc>
                  <a:txBody>
                    <a:bodyPr/>
                    <a:lstStyle/>
                    <a:p>
                      <a:pPr algn="l"/>
                      <a:r>
                        <a:rPr lang="en-US" altLang="ko-KR" sz="1600" b="0" dirty="0">
                          <a:effectLst/>
                        </a:rPr>
                        <a:t>0.03</a:t>
                      </a:r>
                    </a:p>
                  </a:txBody>
                  <a:tcPr anchor="ctr"/>
                </a:tc>
                <a:tc>
                  <a:txBody>
                    <a:bodyPr/>
                    <a:lstStyle/>
                    <a:p>
                      <a:pPr algn="ctr"/>
                      <a:r>
                        <a:rPr lang="en-US" altLang="ko-KR" sz="1600" b="0">
                          <a:effectLst/>
                        </a:rPr>
                        <a:t>0.870</a:t>
                      </a:r>
                    </a:p>
                  </a:txBody>
                  <a:tcPr anchor="ctr"/>
                </a:tc>
                <a:tc>
                  <a:txBody>
                    <a:bodyPr/>
                    <a:lstStyle/>
                    <a:p>
                      <a:pPr algn="ctr"/>
                      <a:r>
                        <a:rPr lang="en-US" altLang="ko-KR" sz="1600" b="1" dirty="0">
                          <a:effectLst/>
                        </a:rPr>
                        <a:t>0.923</a:t>
                      </a:r>
                      <a:endParaRPr lang="ko-KR" altLang="en-US" sz="1600" dirty="0">
                        <a:effectLst/>
                      </a:endParaRPr>
                    </a:p>
                  </a:txBody>
                  <a:tcPr anchor="ctr"/>
                </a:tc>
                <a:tc>
                  <a:txBody>
                    <a:bodyPr/>
                    <a:lstStyle/>
                    <a:p>
                      <a:pPr algn="ctr"/>
                      <a:r>
                        <a:rPr lang="en-US" altLang="ko-KR" sz="1600" b="0" dirty="0">
                          <a:effectLst/>
                        </a:rPr>
                        <a:t>0.625</a:t>
                      </a:r>
                    </a:p>
                  </a:txBody>
                  <a:tcPr anchor="ctr"/>
                </a:tc>
                <a:tc>
                  <a:txBody>
                    <a:bodyPr/>
                    <a:lstStyle/>
                    <a:p>
                      <a:pPr algn="ctr"/>
                      <a:r>
                        <a:rPr lang="en-US" altLang="ko-KR" sz="1600" b="0">
                          <a:effectLst/>
                        </a:rPr>
                        <a:t>0.224</a:t>
                      </a:r>
                    </a:p>
                  </a:txBody>
                  <a:tcPr anchor="ctr"/>
                </a:tc>
                <a:extLst>
                  <a:ext uri="{0D108BD9-81ED-4DB2-BD59-A6C34878D82A}">
                    <a16:rowId xmlns:a16="http://schemas.microsoft.com/office/drawing/2014/main" val="2925288856"/>
                  </a:ext>
                </a:extLst>
              </a:tr>
              <a:tr h="268038">
                <a:tc>
                  <a:txBody>
                    <a:bodyPr/>
                    <a:lstStyle/>
                    <a:p>
                      <a:pPr algn="l"/>
                      <a:r>
                        <a:rPr lang="en-US" altLang="ko-KR" sz="1600" b="0" dirty="0">
                          <a:effectLst/>
                        </a:rPr>
                        <a:t>0.01</a:t>
                      </a:r>
                    </a:p>
                  </a:txBody>
                  <a:tcPr anchor="ctr"/>
                </a:tc>
                <a:tc>
                  <a:txBody>
                    <a:bodyPr/>
                    <a:lstStyle/>
                    <a:p>
                      <a:pPr algn="ctr"/>
                      <a:r>
                        <a:rPr lang="en-US" altLang="ko-KR" sz="1600" b="0">
                          <a:effectLst/>
                        </a:rPr>
                        <a:t>0.832</a:t>
                      </a:r>
                    </a:p>
                  </a:txBody>
                  <a:tcPr anchor="ctr"/>
                </a:tc>
                <a:tc>
                  <a:txBody>
                    <a:bodyPr/>
                    <a:lstStyle/>
                    <a:p>
                      <a:pPr algn="ctr"/>
                      <a:r>
                        <a:rPr lang="en-US" altLang="ko-KR" sz="1600" b="0" dirty="0">
                          <a:effectLst/>
                        </a:rPr>
                        <a:t>0.874</a:t>
                      </a:r>
                    </a:p>
                  </a:txBody>
                  <a:tcPr anchor="ctr"/>
                </a:tc>
                <a:tc>
                  <a:txBody>
                    <a:bodyPr/>
                    <a:lstStyle/>
                    <a:p>
                      <a:pPr algn="ctr"/>
                      <a:r>
                        <a:rPr lang="en-US" altLang="ko-KR" sz="1600" b="0" dirty="0">
                          <a:effectLst/>
                        </a:rPr>
                        <a:t>0.853</a:t>
                      </a:r>
                    </a:p>
                  </a:txBody>
                  <a:tcPr anchor="ctr"/>
                </a:tc>
                <a:tc>
                  <a:txBody>
                    <a:bodyPr/>
                    <a:lstStyle/>
                    <a:p>
                      <a:pPr algn="ctr"/>
                      <a:r>
                        <a:rPr lang="en-US" altLang="ko-KR" sz="1600" b="0">
                          <a:effectLst/>
                        </a:rPr>
                        <a:t>0.887</a:t>
                      </a:r>
                    </a:p>
                  </a:txBody>
                  <a:tcPr anchor="ctr"/>
                </a:tc>
                <a:extLst>
                  <a:ext uri="{0D108BD9-81ED-4DB2-BD59-A6C34878D82A}">
                    <a16:rowId xmlns:a16="http://schemas.microsoft.com/office/drawing/2014/main" val="2939108922"/>
                  </a:ext>
                </a:extLst>
              </a:tr>
              <a:tr h="268038">
                <a:tc>
                  <a:txBody>
                    <a:bodyPr/>
                    <a:lstStyle/>
                    <a:p>
                      <a:pPr algn="l"/>
                      <a:r>
                        <a:rPr lang="en-US" altLang="ko-KR" sz="1600" b="0" dirty="0">
                          <a:effectLst/>
                        </a:rPr>
                        <a:t>0.003</a:t>
                      </a:r>
                    </a:p>
                  </a:txBody>
                  <a:tcPr anchor="ctr"/>
                </a:tc>
                <a:tc>
                  <a:txBody>
                    <a:bodyPr/>
                    <a:lstStyle/>
                    <a:p>
                      <a:pPr algn="ctr"/>
                      <a:r>
                        <a:rPr lang="en-US" altLang="ko-KR" sz="1600" b="0" dirty="0">
                          <a:effectLst/>
                        </a:rPr>
                        <a:t>0.262</a:t>
                      </a:r>
                    </a:p>
                  </a:txBody>
                  <a:tcPr anchor="ctr"/>
                </a:tc>
                <a:tc>
                  <a:txBody>
                    <a:bodyPr/>
                    <a:lstStyle/>
                    <a:p>
                      <a:pPr algn="ctr"/>
                      <a:r>
                        <a:rPr lang="en-US" altLang="ko-KR" sz="1600" b="0" dirty="0">
                          <a:effectLst/>
                        </a:rPr>
                        <a:t>0.835</a:t>
                      </a:r>
                    </a:p>
                  </a:txBody>
                  <a:tcPr anchor="ctr"/>
                </a:tc>
                <a:tc>
                  <a:txBody>
                    <a:bodyPr/>
                    <a:lstStyle/>
                    <a:p>
                      <a:pPr algn="ctr"/>
                      <a:r>
                        <a:rPr lang="en-US" altLang="ko-KR" sz="1600" b="0" dirty="0">
                          <a:effectLst/>
                        </a:rPr>
                        <a:t>0.933</a:t>
                      </a:r>
                    </a:p>
                  </a:txBody>
                  <a:tcPr anchor="ctr"/>
                </a:tc>
                <a:tc>
                  <a:txBody>
                    <a:bodyPr/>
                    <a:lstStyle/>
                    <a:p>
                      <a:pPr algn="ctr"/>
                      <a:r>
                        <a:rPr lang="en-US" altLang="ko-KR" sz="1600" b="1" dirty="0">
                          <a:effectLst/>
                        </a:rPr>
                        <a:t>0.922</a:t>
                      </a:r>
                      <a:endParaRPr lang="ko-KR" altLang="en-US" sz="1600" dirty="0">
                        <a:effectLst/>
                      </a:endParaRPr>
                    </a:p>
                  </a:txBody>
                  <a:tcPr anchor="ctr"/>
                </a:tc>
                <a:extLst>
                  <a:ext uri="{0D108BD9-81ED-4DB2-BD59-A6C34878D82A}">
                    <a16:rowId xmlns:a16="http://schemas.microsoft.com/office/drawing/2014/main" val="680270686"/>
                  </a:ext>
                </a:extLst>
              </a:tr>
              <a:tr h="268038">
                <a:tc>
                  <a:txBody>
                    <a:bodyPr/>
                    <a:lstStyle/>
                    <a:p>
                      <a:pPr algn="l"/>
                      <a:r>
                        <a:rPr lang="en-US" altLang="ko-KR" sz="1600" b="0" dirty="0">
                          <a:effectLst/>
                        </a:rPr>
                        <a:t>0.001</a:t>
                      </a:r>
                    </a:p>
                  </a:txBody>
                  <a:tcPr anchor="ctr"/>
                </a:tc>
                <a:tc>
                  <a:txBody>
                    <a:bodyPr/>
                    <a:lstStyle/>
                    <a:p>
                      <a:pPr algn="ctr"/>
                      <a:r>
                        <a:rPr lang="en-US" altLang="ko-KR" sz="1600" b="0">
                          <a:effectLst/>
                        </a:rPr>
                        <a:t>0.449</a:t>
                      </a:r>
                    </a:p>
                  </a:txBody>
                  <a:tcPr anchor="ctr"/>
                </a:tc>
                <a:tc>
                  <a:txBody>
                    <a:bodyPr/>
                    <a:lstStyle/>
                    <a:p>
                      <a:pPr algn="ctr"/>
                      <a:r>
                        <a:rPr lang="en-US" altLang="ko-KR" sz="1600" b="0">
                          <a:effectLst/>
                        </a:rPr>
                        <a:t>0.784</a:t>
                      </a:r>
                    </a:p>
                  </a:txBody>
                  <a:tcPr anchor="ctr"/>
                </a:tc>
                <a:tc>
                  <a:txBody>
                    <a:bodyPr/>
                    <a:lstStyle/>
                    <a:p>
                      <a:pPr algn="ctr"/>
                      <a:r>
                        <a:rPr lang="en-US" altLang="ko-KR" sz="1600" b="1" dirty="0">
                          <a:effectLst/>
                        </a:rPr>
                        <a:t>0.947</a:t>
                      </a:r>
                      <a:endParaRPr lang="ko-KR" altLang="en-US" sz="1600" dirty="0">
                        <a:effectLst/>
                      </a:endParaRPr>
                    </a:p>
                  </a:txBody>
                  <a:tcPr anchor="ctr"/>
                </a:tc>
                <a:tc>
                  <a:txBody>
                    <a:bodyPr/>
                    <a:lstStyle/>
                    <a:p>
                      <a:pPr algn="ctr"/>
                      <a:r>
                        <a:rPr lang="en-US" altLang="ko-KR" sz="1600" b="0" dirty="0">
                          <a:effectLst/>
                        </a:rPr>
                        <a:t>0.886</a:t>
                      </a:r>
                    </a:p>
                  </a:txBody>
                  <a:tcPr anchor="ctr"/>
                </a:tc>
                <a:extLst>
                  <a:ext uri="{0D108BD9-81ED-4DB2-BD59-A6C34878D82A}">
                    <a16:rowId xmlns:a16="http://schemas.microsoft.com/office/drawing/2014/main" val="3623644"/>
                  </a:ext>
                </a:extLst>
              </a:tr>
              <a:tr h="268038">
                <a:tc>
                  <a:txBody>
                    <a:bodyPr/>
                    <a:lstStyle/>
                    <a:p>
                      <a:pPr algn="l"/>
                      <a:r>
                        <a:rPr lang="en-US" altLang="ko-KR" sz="1600" b="0" dirty="0">
                          <a:effectLst/>
                        </a:rPr>
                        <a:t>0.0003</a:t>
                      </a:r>
                    </a:p>
                  </a:txBody>
                  <a:tcPr anchor="ctr"/>
                </a:tc>
                <a:tc>
                  <a:txBody>
                    <a:bodyPr/>
                    <a:lstStyle/>
                    <a:p>
                      <a:pPr algn="ctr"/>
                      <a:r>
                        <a:rPr lang="en-US" altLang="ko-KR" sz="1600" b="0">
                          <a:effectLst/>
                        </a:rPr>
                        <a:t>0.240</a:t>
                      </a:r>
                    </a:p>
                  </a:txBody>
                  <a:tcPr anchor="ctr"/>
                </a:tc>
                <a:tc>
                  <a:txBody>
                    <a:bodyPr/>
                    <a:lstStyle/>
                    <a:p>
                      <a:pPr algn="ctr"/>
                      <a:r>
                        <a:rPr lang="en-US" altLang="ko-KR" sz="1600" b="0">
                          <a:effectLst/>
                        </a:rPr>
                        <a:t>0.573</a:t>
                      </a:r>
                    </a:p>
                  </a:txBody>
                  <a:tcPr anchor="ctr"/>
                </a:tc>
                <a:tc>
                  <a:txBody>
                    <a:bodyPr/>
                    <a:lstStyle/>
                    <a:p>
                      <a:pPr algn="ctr"/>
                      <a:r>
                        <a:rPr lang="en-US" altLang="ko-KR" sz="1600" b="0">
                          <a:effectLst/>
                        </a:rPr>
                        <a:t>0.899</a:t>
                      </a:r>
                    </a:p>
                  </a:txBody>
                  <a:tcPr anchor="ctr"/>
                </a:tc>
                <a:tc>
                  <a:txBody>
                    <a:bodyPr/>
                    <a:lstStyle/>
                    <a:p>
                      <a:pPr algn="ctr"/>
                      <a:r>
                        <a:rPr lang="en-US" altLang="ko-KR" sz="1600" b="0" dirty="0">
                          <a:effectLst/>
                        </a:rPr>
                        <a:t>0.920</a:t>
                      </a:r>
                    </a:p>
                  </a:txBody>
                  <a:tcPr anchor="ctr"/>
                </a:tc>
                <a:extLst>
                  <a:ext uri="{0D108BD9-81ED-4DB2-BD59-A6C34878D82A}">
                    <a16:rowId xmlns:a16="http://schemas.microsoft.com/office/drawing/2014/main" val="4098048824"/>
                  </a:ext>
                </a:extLst>
              </a:tr>
            </a:tbl>
          </a:graphicData>
        </a:graphic>
      </p:graphicFrame>
      <p:graphicFrame>
        <p:nvGraphicFramePr>
          <p:cNvPr id="5" name="표 4">
            <a:extLst>
              <a:ext uri="{FF2B5EF4-FFF2-40B4-BE49-F238E27FC236}">
                <a16:creationId xmlns:a16="http://schemas.microsoft.com/office/drawing/2014/main" id="{1CB7CC3B-EDC3-437B-B7ED-3242C6659199}"/>
              </a:ext>
            </a:extLst>
          </p:cNvPr>
          <p:cNvGraphicFramePr>
            <a:graphicFrameLocks noGrp="1"/>
          </p:cNvGraphicFramePr>
          <p:nvPr>
            <p:extLst>
              <p:ext uri="{D42A27DB-BD31-4B8C-83A1-F6EECF244321}">
                <p14:modId xmlns:p14="http://schemas.microsoft.com/office/powerpoint/2010/main" val="499572625"/>
              </p:ext>
            </p:extLst>
          </p:nvPr>
        </p:nvGraphicFramePr>
        <p:xfrm>
          <a:off x="853440" y="4444773"/>
          <a:ext cx="8352000" cy="1676400"/>
        </p:xfrm>
        <a:graphic>
          <a:graphicData uri="http://schemas.openxmlformats.org/drawingml/2006/table">
            <a:tbl>
              <a:tblPr>
                <a:tableStyleId>{8EC20E35-A176-4012-BC5E-935CFFF8708E}</a:tableStyleId>
              </a:tblPr>
              <a:tblGrid>
                <a:gridCol w="2784000">
                  <a:extLst>
                    <a:ext uri="{9D8B030D-6E8A-4147-A177-3AD203B41FA5}">
                      <a16:colId xmlns:a16="http://schemas.microsoft.com/office/drawing/2014/main" val="1150654413"/>
                    </a:ext>
                  </a:extLst>
                </a:gridCol>
                <a:gridCol w="2784000">
                  <a:extLst>
                    <a:ext uri="{9D8B030D-6E8A-4147-A177-3AD203B41FA5}">
                      <a16:colId xmlns:a16="http://schemas.microsoft.com/office/drawing/2014/main" val="1338003254"/>
                    </a:ext>
                  </a:extLst>
                </a:gridCol>
                <a:gridCol w="2784000">
                  <a:extLst>
                    <a:ext uri="{9D8B030D-6E8A-4147-A177-3AD203B41FA5}">
                      <a16:colId xmlns:a16="http://schemas.microsoft.com/office/drawing/2014/main" val="954996090"/>
                    </a:ext>
                  </a:extLst>
                </a:gridCol>
              </a:tblGrid>
              <a:tr h="0">
                <a:tc>
                  <a:txBody>
                    <a:bodyPr/>
                    <a:lstStyle/>
                    <a:p>
                      <a:pPr algn="l"/>
                      <a:r>
                        <a:rPr lang="en-US" sz="1600" b="1" dirty="0"/>
                        <a:t>Optimizer</a:t>
                      </a:r>
                    </a:p>
                  </a:txBody>
                  <a:tcPr anchor="ctr">
                    <a:lnB w="12700" cap="flat" cmpd="sng" algn="ctr">
                      <a:solidFill>
                        <a:schemeClr val="tx1"/>
                      </a:solidFill>
                      <a:prstDash val="solid"/>
                      <a:round/>
                      <a:headEnd type="none" w="med" len="med"/>
                      <a:tailEnd type="none" w="med" len="med"/>
                    </a:lnB>
                  </a:tcPr>
                </a:tc>
                <a:tc>
                  <a:txBody>
                    <a:bodyPr/>
                    <a:lstStyle/>
                    <a:p>
                      <a:pPr algn="l"/>
                      <a:r>
                        <a:rPr lang="en-US" sz="1600" b="1" dirty="0">
                          <a:solidFill>
                            <a:srgbClr val="FF0000"/>
                          </a:solidFill>
                          <a:effectLst/>
                        </a:rPr>
                        <a:t>Best learning rate</a:t>
                      </a:r>
                    </a:p>
                  </a:txBody>
                  <a:tcPr anchor="ctr">
                    <a:lnB w="12700" cap="flat" cmpd="sng" algn="ctr">
                      <a:solidFill>
                        <a:schemeClr val="tx1"/>
                      </a:solidFill>
                      <a:prstDash val="solid"/>
                      <a:round/>
                      <a:headEnd type="none" w="med" len="med"/>
                      <a:tailEnd type="none" w="med" len="med"/>
                    </a:lnB>
                  </a:tcPr>
                </a:tc>
                <a:tc>
                  <a:txBody>
                    <a:bodyPr/>
                    <a:lstStyle/>
                    <a:p>
                      <a:pPr algn="l"/>
                      <a:r>
                        <a:rPr lang="en-US" sz="1600" b="1" dirty="0">
                          <a:effectLst/>
                        </a:rPr>
                        <a:t>Validation macro-F1</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2923995"/>
                  </a:ext>
                </a:extLst>
              </a:tr>
              <a:tr h="0">
                <a:tc>
                  <a:txBody>
                    <a:bodyPr/>
                    <a:lstStyle/>
                    <a:p>
                      <a:pPr algn="l"/>
                      <a:r>
                        <a:rPr lang="en-US" sz="1600" b="0" dirty="0"/>
                        <a:t>SGD</a:t>
                      </a:r>
                    </a:p>
                  </a:txBody>
                  <a:tcPr anchor="ctr">
                    <a:lnT w="12700" cap="flat" cmpd="sng" algn="ctr">
                      <a:solidFill>
                        <a:schemeClr val="tx1"/>
                      </a:solidFill>
                      <a:prstDash val="solid"/>
                      <a:round/>
                      <a:headEnd type="none" w="med" len="med"/>
                      <a:tailEnd type="none" w="med" len="med"/>
                    </a:lnT>
                  </a:tcPr>
                </a:tc>
                <a:tc>
                  <a:txBody>
                    <a:bodyPr/>
                    <a:lstStyle/>
                    <a:p>
                      <a:pPr algn="l"/>
                      <a:r>
                        <a:rPr lang="en-US" altLang="ko-KR" sz="1600" b="0" dirty="0">
                          <a:effectLst/>
                        </a:rPr>
                        <a:t>0.1</a:t>
                      </a:r>
                    </a:p>
                  </a:txBody>
                  <a:tcPr anchor="ctr">
                    <a:lnT w="12700" cap="flat" cmpd="sng" algn="ctr">
                      <a:solidFill>
                        <a:schemeClr val="tx1"/>
                      </a:solidFill>
                      <a:prstDash val="solid"/>
                      <a:round/>
                      <a:headEnd type="none" w="med" len="med"/>
                      <a:tailEnd type="none" w="med" len="med"/>
                    </a:lnT>
                  </a:tcPr>
                </a:tc>
                <a:tc>
                  <a:txBody>
                    <a:bodyPr/>
                    <a:lstStyle/>
                    <a:p>
                      <a:pPr algn="l"/>
                      <a:r>
                        <a:rPr lang="en-US" altLang="ko-KR" sz="1600" b="0">
                          <a:effectLst/>
                        </a:rPr>
                        <a:t>0.904</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52839302"/>
                  </a:ext>
                </a:extLst>
              </a:tr>
              <a:tr h="0">
                <a:tc>
                  <a:txBody>
                    <a:bodyPr/>
                    <a:lstStyle/>
                    <a:p>
                      <a:pPr algn="l"/>
                      <a:r>
                        <a:rPr lang="en-US" sz="1600" b="0" dirty="0" err="1"/>
                        <a:t>Adagrad</a:t>
                      </a:r>
                      <a:endParaRPr lang="en-US" sz="1600" dirty="0"/>
                    </a:p>
                  </a:txBody>
                  <a:tcPr anchor="ctr"/>
                </a:tc>
                <a:tc>
                  <a:txBody>
                    <a:bodyPr/>
                    <a:lstStyle/>
                    <a:p>
                      <a:pPr algn="l"/>
                      <a:r>
                        <a:rPr lang="en-US" altLang="ko-KR" sz="1600" b="0" dirty="0">
                          <a:effectLst/>
                        </a:rPr>
                        <a:t>0.03</a:t>
                      </a:r>
                    </a:p>
                  </a:txBody>
                  <a:tcPr anchor="ctr"/>
                </a:tc>
                <a:tc>
                  <a:txBody>
                    <a:bodyPr/>
                    <a:lstStyle/>
                    <a:p>
                      <a:pPr algn="l"/>
                      <a:r>
                        <a:rPr lang="en-US" altLang="ko-KR" sz="1600" b="0" dirty="0">
                          <a:effectLst/>
                        </a:rPr>
                        <a:t>0.923</a:t>
                      </a:r>
                    </a:p>
                  </a:txBody>
                  <a:tcPr anchor="ctr"/>
                </a:tc>
                <a:extLst>
                  <a:ext uri="{0D108BD9-81ED-4DB2-BD59-A6C34878D82A}">
                    <a16:rowId xmlns:a16="http://schemas.microsoft.com/office/drawing/2014/main" val="1786964799"/>
                  </a:ext>
                </a:extLst>
              </a:tr>
              <a:tr h="0">
                <a:tc>
                  <a:txBody>
                    <a:bodyPr/>
                    <a:lstStyle/>
                    <a:p>
                      <a:pPr algn="l"/>
                      <a:r>
                        <a:rPr lang="en-US" sz="1600" b="0"/>
                        <a:t>RMSprop</a:t>
                      </a:r>
                    </a:p>
                  </a:txBody>
                  <a:tcPr anchor="ctr"/>
                </a:tc>
                <a:tc>
                  <a:txBody>
                    <a:bodyPr/>
                    <a:lstStyle/>
                    <a:p>
                      <a:pPr algn="l"/>
                      <a:r>
                        <a:rPr lang="en-US" altLang="ko-KR" sz="1600" b="0" dirty="0">
                          <a:effectLst/>
                        </a:rPr>
                        <a:t>0.001</a:t>
                      </a:r>
                    </a:p>
                  </a:txBody>
                  <a:tcPr anchor="ctr"/>
                </a:tc>
                <a:tc>
                  <a:txBody>
                    <a:bodyPr/>
                    <a:lstStyle/>
                    <a:p>
                      <a:pPr algn="l"/>
                      <a:r>
                        <a:rPr lang="en-US" altLang="ko-KR" sz="1600" b="0" dirty="0">
                          <a:effectLst/>
                        </a:rPr>
                        <a:t>0.947</a:t>
                      </a:r>
                    </a:p>
                  </a:txBody>
                  <a:tcPr anchor="ctr"/>
                </a:tc>
                <a:extLst>
                  <a:ext uri="{0D108BD9-81ED-4DB2-BD59-A6C34878D82A}">
                    <a16:rowId xmlns:a16="http://schemas.microsoft.com/office/drawing/2014/main" val="3968056135"/>
                  </a:ext>
                </a:extLst>
              </a:tr>
              <a:tr h="0">
                <a:tc>
                  <a:txBody>
                    <a:bodyPr/>
                    <a:lstStyle/>
                    <a:p>
                      <a:pPr algn="l"/>
                      <a:r>
                        <a:rPr lang="en-US" sz="1600" b="0" dirty="0"/>
                        <a:t>Adam</a:t>
                      </a:r>
                    </a:p>
                  </a:txBody>
                  <a:tcPr anchor="ctr"/>
                </a:tc>
                <a:tc>
                  <a:txBody>
                    <a:bodyPr/>
                    <a:lstStyle/>
                    <a:p>
                      <a:pPr algn="l"/>
                      <a:r>
                        <a:rPr lang="en-US" altLang="ko-KR" sz="1600" b="0" dirty="0">
                          <a:effectLst/>
                        </a:rPr>
                        <a:t>0.003</a:t>
                      </a:r>
                    </a:p>
                  </a:txBody>
                  <a:tcPr anchor="ctr"/>
                </a:tc>
                <a:tc>
                  <a:txBody>
                    <a:bodyPr/>
                    <a:lstStyle/>
                    <a:p>
                      <a:pPr algn="l"/>
                      <a:r>
                        <a:rPr lang="en-US" altLang="ko-KR" sz="1600" b="0" dirty="0">
                          <a:effectLst/>
                        </a:rPr>
                        <a:t>0.922</a:t>
                      </a:r>
                    </a:p>
                  </a:txBody>
                  <a:tcPr anchor="ctr"/>
                </a:tc>
                <a:extLst>
                  <a:ext uri="{0D108BD9-81ED-4DB2-BD59-A6C34878D82A}">
                    <a16:rowId xmlns:a16="http://schemas.microsoft.com/office/drawing/2014/main" val="4233536924"/>
                  </a:ext>
                </a:extLst>
              </a:tr>
            </a:tbl>
          </a:graphicData>
        </a:graphic>
      </p:graphicFrame>
      <p:sp>
        <p:nvSpPr>
          <p:cNvPr id="7" name="TextBox 6">
            <a:extLst>
              <a:ext uri="{FF2B5EF4-FFF2-40B4-BE49-F238E27FC236}">
                <a16:creationId xmlns:a16="http://schemas.microsoft.com/office/drawing/2014/main" id="{EF19930F-7BA9-455E-A08D-5701AF43C048}"/>
              </a:ext>
            </a:extLst>
          </p:cNvPr>
          <p:cNvSpPr txBox="1"/>
          <p:nvPr/>
        </p:nvSpPr>
        <p:spPr>
          <a:xfrm>
            <a:off x="853440" y="4083994"/>
            <a:ext cx="10515600" cy="276999"/>
          </a:xfrm>
          <a:prstGeom prst="rect">
            <a:avLst/>
          </a:prstGeom>
          <a:noFill/>
        </p:spPr>
        <p:txBody>
          <a:bodyPr wrap="square">
            <a:spAutoFit/>
          </a:bodyPr>
          <a:lstStyle/>
          <a:p>
            <a:pPr marL="0" indent="0">
              <a:buNone/>
            </a:pPr>
            <a:r>
              <a:rPr lang="en-US" altLang="ko-KR" sz="1200" i="1" dirty="0">
                <a:solidFill>
                  <a:srgbClr val="5A6B4D"/>
                </a:solidFill>
                <a:latin typeface="Calibri" pitchFamily="34" charset="0"/>
                <a:ea typeface="Calibri" pitchFamily="34" charset="-122"/>
                <a:cs typeface="Calibri" pitchFamily="34" charset="-120"/>
              </a:rPr>
              <a:t>Table 3. Validation macro-F1 per learning rate (bold = best per optimizer; 0.224 = training diverged, model predicted only powdery mildew).</a:t>
            </a:r>
            <a:endParaRPr lang="en-US" altLang="ko-KR" sz="1400" dirty="0"/>
          </a:p>
        </p:txBody>
      </p:sp>
      <p:sp>
        <p:nvSpPr>
          <p:cNvPr id="8" name="TextBox 7">
            <a:extLst>
              <a:ext uri="{FF2B5EF4-FFF2-40B4-BE49-F238E27FC236}">
                <a16:creationId xmlns:a16="http://schemas.microsoft.com/office/drawing/2014/main" id="{9AD9FBDA-64E0-4064-90E0-6798C4530012}"/>
              </a:ext>
            </a:extLst>
          </p:cNvPr>
          <p:cNvSpPr txBox="1"/>
          <p:nvPr/>
        </p:nvSpPr>
        <p:spPr>
          <a:xfrm>
            <a:off x="822960" y="6204953"/>
            <a:ext cx="10515600" cy="276999"/>
          </a:xfrm>
          <a:prstGeom prst="rect">
            <a:avLst/>
          </a:prstGeom>
          <a:noFill/>
        </p:spPr>
        <p:txBody>
          <a:bodyPr wrap="square">
            <a:spAutoFit/>
          </a:bodyPr>
          <a:lstStyle/>
          <a:p>
            <a:pPr marL="0" indent="0">
              <a:buNone/>
            </a:pPr>
            <a:r>
              <a:rPr lang="en-US" altLang="ko-KR" sz="1200" i="1" dirty="0">
                <a:solidFill>
                  <a:srgbClr val="5A6B4D"/>
                </a:solidFill>
                <a:latin typeface="Calibri" pitchFamily="34" charset="0"/>
                <a:ea typeface="Calibri" pitchFamily="34" charset="-122"/>
                <a:cs typeface="Calibri" pitchFamily="34" charset="-120"/>
              </a:rPr>
              <a:t>Table 4. Learning rate chosen for each optimizer. SGD's best value lies at the edge of the grid (0.1).</a:t>
            </a:r>
            <a:endParaRPr lang="en-US" altLang="ko-KR" sz="1400" dirty="0"/>
          </a:p>
        </p:txBody>
      </p:sp>
      <p:sp>
        <p:nvSpPr>
          <p:cNvPr id="9"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LEARNING-RATE SWEEP  (학습률 탐색)</a:t>
            </a:r>
            <a:endParaRPr lang="en-US" sz="1200" dirty="0"/>
          </a:p>
        </p:txBody>
      </p:sp>
      <p:sp>
        <p:nvSpPr>
          <p:cNvPr id="10"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Learning-rate sweep results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학습률 탐색 결과  ·  검증 macro-F1, 학습률당 1회 실행 (시드 100)</a:t>
            </a:r>
            <a:endParaRPr lang="en-US" sz="3000" dirty="0"/>
          </a:p>
        </p:txBody>
      </p:sp>
      <p:sp>
        <p:nvSpPr>
          <p:cNvPr id="2" name="TextBox 1">
            <a:extLst>
              <a:ext uri="{FF2B5EF4-FFF2-40B4-BE49-F238E27FC236}">
                <a16:creationId xmlns:a16="http://schemas.microsoft.com/office/drawing/2014/main" id="{6424C6AB-4104-4CC7-9AB8-61889F2F215E}"/>
              </a:ext>
            </a:extLst>
          </p:cNvPr>
          <p:cNvSpPr txBox="1"/>
          <p:nvPr/>
        </p:nvSpPr>
        <p:spPr>
          <a:xfrm>
            <a:off x="9798885" y="2443549"/>
            <a:ext cx="2107095" cy="2246769"/>
          </a:xfrm>
          <a:prstGeom prst="rect">
            <a:avLst/>
          </a:prstGeom>
          <a:noFill/>
        </p:spPr>
        <p:txBody>
          <a:bodyPr wrap="square" rtlCol="0">
            <a:spAutoFit/>
          </a:bodyPr>
          <a:lstStyle/>
          <a:p>
            <a:pPr marL="171450" indent="-171450">
              <a:buFont typeface="Arial" panose="020B0604020202020204" pitchFamily="34" charset="0"/>
              <a:buChar char="•"/>
            </a:pPr>
            <a:r>
              <a:rPr lang="en-US" altLang="ko-KR" sz="1400" u="sng" dirty="0"/>
              <a:t>Six learning rates </a:t>
            </a:r>
            <a:r>
              <a:rPr lang="en-US" altLang="ko-KR" sz="1400" dirty="0"/>
              <a:t>(seed 100, validation data only). </a:t>
            </a:r>
          </a:p>
          <a:p>
            <a:pPr marL="171450" indent="-171450">
              <a:buFont typeface="Arial" panose="020B0604020202020204" pitchFamily="34" charset="0"/>
              <a:buChar char="•"/>
            </a:pPr>
            <a:r>
              <a:rPr lang="en-US" altLang="ko-KR" sz="1400" u="sng" dirty="0"/>
              <a:t>Too-high</a:t>
            </a:r>
            <a:r>
              <a:rPr lang="en-US" altLang="ko-KR" sz="1400" dirty="0"/>
              <a:t>: Adam at 0.1 and 0.03 diverged and predicted only powdery mildew (0.224). </a:t>
            </a:r>
          </a:p>
          <a:p>
            <a:pPr marL="171450" indent="-171450">
              <a:buFont typeface="Arial" panose="020B0604020202020204" pitchFamily="34" charset="0"/>
              <a:buChar char="•"/>
            </a:pPr>
            <a:r>
              <a:rPr lang="en-US" altLang="ko-KR" sz="1400" u="sng" dirty="0"/>
              <a:t>Too-low rates </a:t>
            </a:r>
            <a:r>
              <a:rPr lang="en-US" altLang="ko-KR" sz="1400" dirty="0"/>
              <a:t>left SGD barely trained (0.24–0.45). </a:t>
            </a:r>
          </a:p>
        </p:txBody>
      </p:sp>
      <p:sp>
        <p:nvSpPr>
          <p:cNvPr id="12" name="Text 7">
            <a:extLst>
              <a:ext uri="{FF2B5EF4-FFF2-40B4-BE49-F238E27FC236}">
                <a16:creationId xmlns:a16="http://schemas.microsoft.com/office/drawing/2014/main" id="{AD00ED46-03DA-4A4F-975E-12748CF98264}"/>
              </a:ext>
            </a:extLst>
          </p:cNvPr>
          <p:cNvSpPr txBox="1"/>
          <p:nvPr/>
        </p:nvSpPr>
        <p:spPr>
          <a:xfrm>
            <a:off x="9901634" y="1737754"/>
            <a:ext cx="3545783"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Key points</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핵심 내용</a:t>
            </a:r>
            <a:endParaRPr lang="en-US" sz="1600" dirty="0"/>
          </a:p>
        </p:txBody>
      </p:sp>
    </p:spTree>
    <p:extLst>
      <p:ext uri="{BB962C8B-B14F-4D97-AF65-F5344CB8AC3E}">
        <p14:creationId xmlns:p14="http://schemas.microsoft.com/office/powerpoint/2010/main" val="670340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3F20D6A8-B5D4-4A57-9C65-8F74DD082DF0}"/>
              </a:ext>
            </a:extLst>
          </p:cNvPr>
          <p:cNvPicPr>
            <a:picLocks noChangeAspect="1"/>
          </p:cNvPicPr>
          <p:nvPr/>
        </p:nvPicPr>
        <p:blipFill>
          <a:blip r:embed="rId3"/>
          <a:stretch>
            <a:fillRect/>
          </a:stretch>
        </p:blipFill>
        <p:spPr>
          <a:xfrm>
            <a:off x="822960" y="1874519"/>
            <a:ext cx="6101137" cy="4251960"/>
          </a:xfrm>
          <a:prstGeom prst="rect">
            <a:avLst/>
          </a:prstGeom>
        </p:spPr>
      </p:pic>
      <p:sp>
        <p:nvSpPr>
          <p:cNvPr id="6"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RESULTS  (결과)</a:t>
            </a:r>
            <a:endParaRPr lang="en-US" sz="1200" dirty="0"/>
          </a:p>
        </p:txBody>
      </p:sp>
      <p:sp>
        <p:nvSpPr>
          <p:cNvPr id="7"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Training curves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학습 곡선  ·  에폭에 따른 각 알고리즘의 학습 과정</a:t>
            </a:r>
            <a:endParaRPr lang="en-US" sz="3000" dirty="0"/>
          </a:p>
        </p:txBody>
      </p:sp>
      <p:sp>
        <p:nvSpPr>
          <p:cNvPr id="9" name="Text 7"/>
          <p:cNvSpPr txBox="1"/>
          <p:nvPr/>
        </p:nvSpPr>
        <p:spPr>
          <a:xfrm>
            <a:off x="7518457" y="2011680"/>
            <a:ext cx="3545783"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Key points</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핵심 내용</a:t>
            </a:r>
            <a:endParaRPr lang="en-US" sz="1600" dirty="0"/>
          </a:p>
        </p:txBody>
      </p:sp>
      <p:sp>
        <p:nvSpPr>
          <p:cNvPr id="10" name="Text 8"/>
          <p:cNvSpPr txBox="1"/>
          <p:nvPr/>
        </p:nvSpPr>
        <p:spPr>
          <a:xfrm>
            <a:off x="7527704" y="2971798"/>
            <a:ext cx="3545783" cy="3246120"/>
          </a:xfrm>
          <a:prstGeom prst="rect">
            <a:avLst/>
          </a:prstGeom>
          <a:noFill/>
          <a:ln/>
        </p:spPr>
        <p:txBody>
          <a:bodyPr wrap="square" lIns="0" tIns="0" rIns="0" bIns="0" rtlCol="0" anchor="t"/>
          <a:lstStyle/>
          <a:p>
            <a:pPr marL="171450" indent="-171450">
              <a:spcBef>
                <a:spcPts val="700"/>
              </a:spcBef>
              <a:buFont typeface="Arial"/>
              <a:buChar char="•"/>
            </a:pPr>
            <a:r>
              <a:rPr lang="en-US" sz="1400" dirty="0">
                <a:latin typeface="Calibri" pitchFamily="34" charset="0"/>
                <a:ea typeface="Calibri" pitchFamily="34" charset="-122"/>
                <a:cs typeface="Calibri" pitchFamily="34" charset="-120"/>
              </a:rPr>
              <a:t>Adam and RMSprop pass validation macro-F1 0.85 first, after about 6 epochs.</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Adam·RMSprop이 약 6 에폭에 목표 도달</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SGD (lr 0.1) learns more slowly, and its validation curves are unstable.</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SGD는 느리고 검증 곡선이 불안정</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Later, training accuracy keeps rising while validation loss levels off: mild overfitting, which early stopping handles.</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후반부 약한 과적합 → 조기 종료로 대응</a:t>
            </a:r>
            <a:endParaRPr lang="en-US" sz="1400" dirty="0"/>
          </a:p>
        </p:txBody>
      </p:sp>
      <p:sp>
        <p:nvSpPr>
          <p:cNvPr id="11"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Each line is the mean of the runs still training at that epoch (5 seeds; runs stop early at different epochs). Dashed line: target validation macro-F1 = 0.85.</a:t>
            </a:r>
            <a:endParaRPr lang="en-US" sz="1100" dirty="0"/>
          </a:p>
        </p:txBody>
      </p:sp>
    </p:spTree>
    <p:extLst>
      <p:ext uri="{BB962C8B-B14F-4D97-AF65-F5344CB8AC3E}">
        <p14:creationId xmlns:p14="http://schemas.microsoft.com/office/powerpoint/2010/main" val="203959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CAB96AD9-77CA-4549-957E-0513CDAF05EF}"/>
              </a:ext>
            </a:extLst>
          </p:cNvPr>
          <p:cNvPicPr>
            <a:picLocks noChangeAspect="1"/>
          </p:cNvPicPr>
          <p:nvPr/>
        </p:nvPicPr>
        <p:blipFill>
          <a:blip r:embed="rId3"/>
          <a:stretch>
            <a:fillRect/>
          </a:stretch>
        </p:blipFill>
        <p:spPr>
          <a:xfrm>
            <a:off x="822960" y="1920240"/>
            <a:ext cx="10727543" cy="4160520"/>
          </a:xfrm>
          <a:prstGeom prst="rect">
            <a:avLst/>
          </a:prstGeom>
        </p:spPr>
      </p:pic>
      <p:sp>
        <p:nvSpPr>
          <p:cNvPr id="8"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RESULTS  (결과)</a:t>
            </a:r>
            <a:endParaRPr lang="en-US" sz="1200" dirty="0"/>
          </a:p>
        </p:txBody>
      </p:sp>
      <p:sp>
        <p:nvSpPr>
          <p:cNvPr id="9"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Test performance</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테스트 성능  ·  Adam 평균 macro-F1 최고 (0.907), SGD 최저 (0.858)</a:t>
            </a:r>
            <a:endParaRPr lang="en-US" sz="3000" dirty="0"/>
          </a:p>
        </p:txBody>
      </p:sp>
      <p:sp>
        <p:nvSpPr>
          <p:cNvPr id="10"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(a) Small markers: individual runs; large marker: mean ± SD (n = 5). (b) Mean ± SD test F1 per disease class. Angular leaf spot separates the optimizers most.</a:t>
            </a:r>
            <a:endParaRPr lang="en-US" sz="1100" dirty="0"/>
          </a:p>
        </p:txBody>
      </p:sp>
      <p:sp>
        <p:nvSpPr>
          <p:cNvPr id="2" name="타원 1">
            <a:extLst>
              <a:ext uri="{FF2B5EF4-FFF2-40B4-BE49-F238E27FC236}">
                <a16:creationId xmlns:a16="http://schemas.microsoft.com/office/drawing/2014/main" id="{437E3206-5B3D-4D14-8486-9D1A15308294}"/>
              </a:ext>
            </a:extLst>
          </p:cNvPr>
          <p:cNvSpPr/>
          <p:nvPr/>
        </p:nvSpPr>
        <p:spPr>
          <a:xfrm>
            <a:off x="1571947" y="4602823"/>
            <a:ext cx="996593" cy="8399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19A94F49-9544-4856-B3D2-2A6B7092EBA5}"/>
              </a:ext>
            </a:extLst>
          </p:cNvPr>
          <p:cNvSpPr/>
          <p:nvPr/>
        </p:nvSpPr>
        <p:spPr>
          <a:xfrm>
            <a:off x="3666163" y="2772310"/>
            <a:ext cx="1481190" cy="14914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D164A3FE-13B6-4798-9F33-FC3A01AAA2F2}"/>
              </a:ext>
            </a:extLst>
          </p:cNvPr>
          <p:cNvSpPr/>
          <p:nvPr/>
        </p:nvSpPr>
        <p:spPr>
          <a:xfrm>
            <a:off x="8280971" y="1726058"/>
            <a:ext cx="1335640" cy="45375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62E18E54-C945-4938-A636-375B1D01237C}"/>
              </a:ext>
            </a:extLst>
          </p:cNvPr>
          <p:cNvSpPr/>
          <p:nvPr/>
        </p:nvSpPr>
        <p:spPr>
          <a:xfrm>
            <a:off x="6244976" y="2248329"/>
            <a:ext cx="996593" cy="8399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a:extLst>
              <a:ext uri="{FF2B5EF4-FFF2-40B4-BE49-F238E27FC236}">
                <a16:creationId xmlns:a16="http://schemas.microsoft.com/office/drawing/2014/main" id="{BEB8E65F-891F-46E0-B99F-CA2AC5D6CB2A}"/>
              </a:ext>
            </a:extLst>
          </p:cNvPr>
          <p:cNvSpPr/>
          <p:nvPr/>
        </p:nvSpPr>
        <p:spPr>
          <a:xfrm>
            <a:off x="6215866" y="4712415"/>
            <a:ext cx="996593" cy="8399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9410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8FFA0ECA-DB6D-43D0-9DA6-981E36AD0272}"/>
              </a:ext>
            </a:extLst>
          </p:cNvPr>
          <p:cNvPicPr>
            <a:picLocks noChangeAspect="1"/>
          </p:cNvPicPr>
          <p:nvPr/>
        </p:nvPicPr>
        <p:blipFill>
          <a:blip r:embed="rId3"/>
          <a:stretch>
            <a:fillRect/>
          </a:stretch>
        </p:blipFill>
        <p:spPr>
          <a:xfrm>
            <a:off x="822960" y="1920240"/>
            <a:ext cx="10521196" cy="4069080"/>
          </a:xfrm>
          <a:prstGeom prst="rect">
            <a:avLst/>
          </a:prstGeom>
        </p:spPr>
      </p:pic>
      <p:sp>
        <p:nvSpPr>
          <p:cNvPr id="6"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RESULTS  (결과)</a:t>
            </a:r>
            <a:endParaRPr lang="en-US" sz="1200" dirty="0"/>
          </a:p>
        </p:txBody>
      </p:sp>
      <p:sp>
        <p:nvSpPr>
          <p:cNvPr id="7"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Convergence and training time</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수렴 속도와 학습 시간  ·  Adam·RMSprop 약 6 에폭, SGD 약 17 에폭에 목표 도달</a:t>
            </a:r>
            <a:endParaRPr lang="en-US" sz="3000" dirty="0"/>
          </a:p>
        </p:txBody>
      </p:sp>
      <p:sp>
        <p:nvSpPr>
          <p:cNvPr id="8"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All 20 runs reached validation macro-F1 ≥ 0.85. Time per epoch is similar for all four (15.7–17.5 s), so the time differences come from the number of epochs needed.</a:t>
            </a:r>
            <a:endParaRPr lang="en-US" sz="1100" dirty="0"/>
          </a:p>
        </p:txBody>
      </p:sp>
    </p:spTree>
    <p:extLst>
      <p:ext uri="{BB962C8B-B14F-4D97-AF65-F5344CB8AC3E}">
        <p14:creationId xmlns:p14="http://schemas.microsoft.com/office/powerpoint/2010/main" val="1027326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EC2B4E0C-A956-414C-9B0B-0AED56A60E39}"/>
              </a:ext>
            </a:extLst>
          </p:cNvPr>
          <p:cNvPicPr>
            <a:picLocks noChangeAspect="1"/>
          </p:cNvPicPr>
          <p:nvPr/>
        </p:nvPicPr>
        <p:blipFill>
          <a:blip r:embed="rId3"/>
          <a:stretch>
            <a:fillRect/>
          </a:stretch>
        </p:blipFill>
        <p:spPr>
          <a:xfrm>
            <a:off x="822960" y="1828800"/>
            <a:ext cx="5104905" cy="4343400"/>
          </a:xfrm>
          <a:prstGeom prst="rect">
            <a:avLst/>
          </a:prstGeom>
        </p:spPr>
      </p:pic>
      <p:sp>
        <p:nvSpPr>
          <p:cNvPr id="5123"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RESULTS  (결과)</a:t>
            </a:r>
            <a:endParaRPr lang="en-US" sz="1200" dirty="0"/>
          </a:p>
        </p:txBody>
      </p:sp>
      <p:sp>
        <p:nvSpPr>
          <p:cNvPr id="5124"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Confusion matrices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혼동 행렬  ·  알고리즘별 오분류 유형</a:t>
            </a:r>
            <a:endParaRPr lang="en-US" sz="3000" dirty="0"/>
          </a:p>
        </p:txBody>
      </p:sp>
      <p:sp>
        <p:nvSpPr>
          <p:cNvPr id="5125" name="Text 8"/>
          <p:cNvSpPr txBox="1"/>
          <p:nvPr/>
        </p:nvSpPr>
        <p:spPr>
          <a:xfrm>
            <a:off x="6293625" y="1874519"/>
            <a:ext cx="5044934" cy="2743200"/>
          </a:xfrm>
          <a:prstGeom prst="rect">
            <a:avLst/>
          </a:prstGeom>
          <a:noFill/>
          <a:ln/>
        </p:spPr>
        <p:txBody>
          <a:bodyPr wrap="square" lIns="0" tIns="0" rIns="0" bIns="0" rtlCol="0" anchor="t"/>
          <a:lstStyle/>
          <a:p>
            <a:pPr marL="171450" indent="-171450">
              <a:spcBef>
                <a:spcPts val="700"/>
              </a:spcBef>
              <a:buFont typeface="Arial"/>
              <a:buChar char="•"/>
            </a:pPr>
            <a:r>
              <a:rPr lang="en-US" sz="1400" dirty="0">
                <a:latin typeface="Calibri" pitchFamily="34" charset="0"/>
                <a:ea typeface="Calibri" pitchFamily="34" charset="-122"/>
                <a:cs typeface="Calibri" pitchFamily="34" charset="-120"/>
              </a:rPr>
              <a:t>Most errors are angular leaf spot </a:t>
            </a:r>
            <a:r>
              <a:rPr lang="en-US" sz="1400" i="1" dirty="0">
                <a:latin typeface="Calibri" pitchFamily="34" charset="0"/>
                <a:ea typeface="Calibri" pitchFamily="34" charset="-122"/>
                <a:cs typeface="Calibri" pitchFamily="34" charset="-120"/>
              </a:rPr>
              <a:t>(</a:t>
            </a:r>
            <a:r>
              <a:rPr lang="en-US" altLang="ko-KR" sz="1400" i="1" dirty="0"/>
              <a:t>Xanthomonas </a:t>
            </a:r>
            <a:r>
              <a:rPr lang="en-US" altLang="ko-KR" sz="1400" i="1" dirty="0" err="1"/>
              <a:t>fragariae</a:t>
            </a:r>
            <a:r>
              <a:rPr lang="en-US" altLang="ko-KR" sz="1400" i="1" dirty="0"/>
              <a:t>) </a:t>
            </a:r>
            <a:r>
              <a:rPr lang="en-US" sz="1400" dirty="0">
                <a:latin typeface="Calibri" pitchFamily="34" charset="0"/>
                <a:ea typeface="Calibri" pitchFamily="34" charset="-122"/>
                <a:cs typeface="Calibri" pitchFamily="34" charset="-120"/>
              </a:rPr>
              <a:t>and leaf spot (</a:t>
            </a:r>
            <a:r>
              <a:rPr lang="en-US" altLang="ko-KR" sz="1400" b="0" i="1" strike="noStrike" dirty="0" err="1">
                <a:effectLst/>
                <a:latin typeface="Google Sans"/>
              </a:rPr>
              <a:t>Mycosphaerella</a:t>
            </a:r>
            <a:r>
              <a:rPr lang="en-US" altLang="ko-KR" sz="1400" b="0" i="1" strike="noStrike" dirty="0">
                <a:effectLst/>
                <a:latin typeface="Google Sans"/>
              </a:rPr>
              <a:t> </a:t>
            </a:r>
            <a:r>
              <a:rPr lang="en-US" altLang="ko-KR" sz="1400" b="0" i="1" strike="noStrike" dirty="0" err="1">
                <a:effectLst/>
                <a:latin typeface="Google Sans"/>
              </a:rPr>
              <a:t>fragariae</a:t>
            </a:r>
            <a:r>
              <a:rPr lang="en-US" altLang="ko-KR" sz="1400" b="0" i="1" strike="noStrike" dirty="0">
                <a:effectLst/>
                <a:latin typeface="Google Sans"/>
              </a:rPr>
              <a:t>) </a:t>
            </a:r>
            <a:r>
              <a:rPr lang="en-US" sz="1400" dirty="0">
                <a:latin typeface="Calibri" pitchFamily="34" charset="0"/>
                <a:ea typeface="Calibri" pitchFamily="34" charset="-122"/>
                <a:cs typeface="Calibri" pitchFamily="34" charset="-120"/>
              </a:rPr>
              <a:t>confused with each other.</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대부분의 오류는 각반병 ↔ 점무늬병 혼동</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Powdery mildew is rarely misclassified (1–5% of its images).</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흰가루병은 거의 오분류되지 않음</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SGD labels 31% of angular leaf spot as leaf spot. RMSprop and Adam recognise 95% and 91% of it, but label more leaf spot as angular leaf spot (12% and 9%)</a:t>
            </a:r>
            <a:r>
              <a:rPr lang="en-US" sz="1400" dirty="0">
                <a:solidFill>
                  <a:srgbClr val="5A6B4D"/>
                </a:solidFill>
                <a:latin typeface="Calibri" pitchFamily="34" charset="0"/>
                <a:ea typeface="Calibri" pitchFamily="34" charset="-122"/>
                <a:cs typeface="Calibri" pitchFamily="34" charset="-120"/>
              </a:rPr>
              <a:t>.</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Adam·RMSprop은 각반병 검출↑, 점무늬병 오분류↑</a:t>
            </a:r>
            <a:endParaRPr lang="en-US" sz="1400" dirty="0"/>
          </a:p>
        </p:txBody>
      </p:sp>
      <p:sp>
        <p:nvSpPr>
          <p:cNvPr id="5127"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One representative run per optimizer (the seed with the median test macro-F1). Cells: count (share of the true class). Test set: 58 angular leaf spot, 205 leaf spot, 275 powdery mildew; one angular leaf spot image ≈ 1.7%.</a:t>
            </a:r>
            <a:endParaRPr lang="en-US" sz="1100" dirty="0"/>
          </a:p>
        </p:txBody>
      </p:sp>
      <p:sp>
        <p:nvSpPr>
          <p:cNvPr id="9" name="타원 8">
            <a:extLst>
              <a:ext uri="{FF2B5EF4-FFF2-40B4-BE49-F238E27FC236}">
                <a16:creationId xmlns:a16="http://schemas.microsoft.com/office/drawing/2014/main" id="{5DA03A5E-E266-45F0-8F4B-363F5A0FD151}"/>
              </a:ext>
            </a:extLst>
          </p:cNvPr>
          <p:cNvSpPr/>
          <p:nvPr/>
        </p:nvSpPr>
        <p:spPr>
          <a:xfrm>
            <a:off x="1571948" y="1828800"/>
            <a:ext cx="863140" cy="812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7715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RESULTS  (결과)</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Per-disease precision, recall and F1</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질병별 정밀도·재현율·F1  ·  소형 CNN, 시드 5개 평균</a:t>
            </a:r>
            <a:endParaRPr lang="en-US" sz="3000" dirty="0"/>
          </a:p>
        </p:txBody>
      </p:sp>
      <p:graphicFrame>
        <p:nvGraphicFramePr>
          <p:cNvPr id="4" name="Table 3"/>
          <p:cNvGraphicFramePr>
            <a:graphicFrameLocks noGrp="1"/>
          </p:cNvGraphicFramePr>
          <p:nvPr/>
        </p:nvGraphicFramePr>
        <p:xfrm>
          <a:off x="822960" y="1965960"/>
          <a:ext cx="10515600" cy="2688336"/>
        </p:xfrm>
        <a:graphic>
          <a:graphicData uri="http://schemas.openxmlformats.org/drawingml/2006/table">
            <a:tbl>
              <a:tblPr/>
              <a:tblGrid>
                <a:gridCol w="17373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731520">
                  <a:extLst>
                    <a:ext uri="{9D8B030D-6E8A-4147-A177-3AD203B41FA5}">
                      <a16:colId xmlns:a16="http://schemas.microsoft.com/office/drawing/2014/main" val="20009"/>
                    </a:ext>
                  </a:extLst>
                </a:gridCol>
                <a:gridCol w="731520">
                  <a:extLst>
                    <a:ext uri="{9D8B030D-6E8A-4147-A177-3AD203B41FA5}">
                      <a16:colId xmlns:a16="http://schemas.microsoft.com/office/drawing/2014/main" val="20010"/>
                    </a:ext>
                  </a:extLst>
                </a:gridCol>
                <a:gridCol w="731520">
                  <a:extLst>
                    <a:ext uri="{9D8B030D-6E8A-4147-A177-3AD203B41FA5}">
                      <a16:colId xmlns:a16="http://schemas.microsoft.com/office/drawing/2014/main" val="20011"/>
                    </a:ext>
                  </a:extLst>
                </a:gridCol>
                <a:gridCol w="731520">
                  <a:extLst>
                    <a:ext uri="{9D8B030D-6E8A-4147-A177-3AD203B41FA5}">
                      <a16:colId xmlns:a16="http://schemas.microsoft.com/office/drawing/2014/main" val="20012"/>
                    </a:ext>
                  </a:extLst>
                </a:gridCol>
              </a:tblGrid>
              <a:tr h="384048">
                <a:tc rowSpan="2">
                  <a:txBody>
                    <a:bodyPr/>
                    <a:lstStyle/>
                    <a:p>
                      <a:r>
                        <a:rPr sz="1100" b="1">
                          <a:solidFill>
                            <a:srgbClr val="23301C"/>
                          </a:solidFill>
                          <a:latin typeface="Calibri"/>
                        </a:rPr>
                        <a:t>Class</a:t>
                      </a: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gridSpan="3">
                  <a:txBody>
                    <a:bodyPr/>
                    <a:lstStyle/>
                    <a:p>
                      <a:pPr algn="ctr"/>
                      <a:r>
                        <a:rPr sz="1100" b="1">
                          <a:solidFill>
                            <a:srgbClr val="23301C"/>
                          </a:solidFill>
                          <a:latin typeface="Calibri"/>
                        </a:rPr>
                        <a:t>SGD</a:t>
                      </a: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gridSpan="3">
                  <a:txBody>
                    <a:bodyPr/>
                    <a:lstStyle/>
                    <a:p>
                      <a:pPr algn="ctr"/>
                      <a:r>
                        <a:rPr sz="1100" b="1">
                          <a:solidFill>
                            <a:srgbClr val="23301C"/>
                          </a:solidFill>
                          <a:latin typeface="Calibri"/>
                        </a:rPr>
                        <a:t>Adagrad</a:t>
                      </a: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gridSpan="3">
                  <a:txBody>
                    <a:bodyPr/>
                    <a:lstStyle/>
                    <a:p>
                      <a:pPr algn="ctr"/>
                      <a:r>
                        <a:rPr sz="1100" b="1">
                          <a:solidFill>
                            <a:srgbClr val="23301C"/>
                          </a:solidFill>
                          <a:latin typeface="Calibri"/>
                        </a:rPr>
                        <a:t>RMSprop</a:t>
                      </a: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gridSpan="3">
                  <a:txBody>
                    <a:bodyPr/>
                    <a:lstStyle/>
                    <a:p>
                      <a:pPr algn="ctr"/>
                      <a:r>
                        <a:rPr sz="1100" b="1">
                          <a:solidFill>
                            <a:srgbClr val="23301C"/>
                          </a:solidFill>
                          <a:latin typeface="Calibri"/>
                        </a:rPr>
                        <a:t>Adam</a:t>
                      </a: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tc hMerge="1">
                  <a:txBody>
                    <a:bodyPr/>
                    <a:lstStyle/>
                    <a:p>
                      <a:pPr algn="ctr"/>
                      <a:endParaRPr/>
                    </a:p>
                  </a:txBody>
                  <a:tcPr marL="54864" marR="54864" marT="27432" marB="27432" anchor="ctr">
                    <a:lnL w="0">
                      <a:noFill/>
                    </a:lnL>
                    <a:lnR w="0">
                      <a:noFill/>
                    </a:lnR>
                    <a:lnT w="19050" cap="flat" cmpd="sng">
                      <a:solidFill>
                        <a:srgbClr val="23301C"/>
                      </a:solidFill>
                    </a:lnT>
                    <a:lnB w="6350" cap="flat" cmpd="sng">
                      <a:solidFill>
                        <a:srgbClr val="E1E4D9"/>
                      </a:solidFill>
                    </a:lnB>
                    <a:noFill/>
                  </a:tcPr>
                </a:tc>
                <a:extLst>
                  <a:ext uri="{0D108BD9-81ED-4DB2-BD59-A6C34878D82A}">
                    <a16:rowId xmlns:a16="http://schemas.microsoft.com/office/drawing/2014/main" val="10000"/>
                  </a:ext>
                </a:extLst>
              </a:tr>
              <a:tr h="384048">
                <a:tc vMerge="1">
                  <a:txBody>
                    <a:bodyPr/>
                    <a:lstStyle/>
                    <a:p>
                      <a:endParaRP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Precision</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2700" cap="flat" cmpd="sng">
                      <a:solidFill>
                        <a:srgbClr val="23301C"/>
                      </a:solidFill>
                    </a:lnB>
                    <a:noFill/>
                  </a:tcPr>
                </a:tc>
                <a:tc>
                  <a:txBody>
                    <a:bodyPr/>
                    <a:lstStyle/>
                    <a:p>
                      <a:pPr algn="ctr"/>
                      <a:r>
                        <a:rPr sz="1100" b="1">
                          <a:solidFill>
                            <a:srgbClr val="23301C"/>
                          </a:solidFill>
                          <a:latin typeface="Calibri"/>
                        </a:rPr>
                        <a:t>Recall</a:t>
                      </a: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F1</a:t>
                      </a: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Precision</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2700" cap="flat" cmpd="sng">
                      <a:solidFill>
                        <a:srgbClr val="23301C"/>
                      </a:solidFill>
                    </a:lnB>
                    <a:noFill/>
                  </a:tcPr>
                </a:tc>
                <a:tc>
                  <a:txBody>
                    <a:bodyPr/>
                    <a:lstStyle/>
                    <a:p>
                      <a:pPr algn="ctr"/>
                      <a:r>
                        <a:rPr sz="1100" b="1">
                          <a:solidFill>
                            <a:srgbClr val="23301C"/>
                          </a:solidFill>
                          <a:latin typeface="Calibri"/>
                        </a:rPr>
                        <a:t>Recall</a:t>
                      </a: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F1</a:t>
                      </a: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Precision</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2700" cap="flat" cmpd="sng">
                      <a:solidFill>
                        <a:srgbClr val="23301C"/>
                      </a:solidFill>
                    </a:lnB>
                    <a:noFill/>
                  </a:tcPr>
                </a:tc>
                <a:tc>
                  <a:txBody>
                    <a:bodyPr/>
                    <a:lstStyle/>
                    <a:p>
                      <a:pPr algn="ctr"/>
                      <a:r>
                        <a:rPr sz="1100" b="1">
                          <a:solidFill>
                            <a:srgbClr val="23301C"/>
                          </a:solidFill>
                          <a:latin typeface="Calibri"/>
                        </a:rPr>
                        <a:t>Recall</a:t>
                      </a: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F1</a:t>
                      </a: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Precision</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2700" cap="flat" cmpd="sng">
                      <a:solidFill>
                        <a:srgbClr val="23301C"/>
                      </a:solidFill>
                    </a:lnB>
                    <a:noFill/>
                  </a:tcPr>
                </a:tc>
                <a:tc>
                  <a:txBody>
                    <a:bodyPr/>
                    <a:lstStyle/>
                    <a:p>
                      <a:pPr algn="ctr"/>
                      <a:r>
                        <a:rPr sz="1100" b="1">
                          <a:solidFill>
                            <a:srgbClr val="23301C"/>
                          </a:solidFill>
                          <a:latin typeface="Calibri"/>
                        </a:rPr>
                        <a:t>Recall</a:t>
                      </a:r>
                    </a:p>
                  </a:txBody>
                  <a:tcPr marL="54864" marR="54864" marT="27432" marB="27432" anchor="ctr">
                    <a:lnL w="0">
                      <a:noFill/>
                    </a:lnL>
                    <a:lnR w="0">
                      <a:noFill/>
                    </a:lnR>
                    <a:lnT w="0">
                      <a:noFill/>
                    </a:lnT>
                    <a:lnB w="12700" cap="flat" cmpd="sng">
                      <a:solidFill>
                        <a:srgbClr val="23301C"/>
                      </a:solidFill>
                    </a:lnB>
                    <a:noFill/>
                  </a:tcPr>
                </a:tc>
                <a:tc>
                  <a:txBody>
                    <a:bodyPr/>
                    <a:lstStyle/>
                    <a:p>
                      <a:pPr algn="ctr"/>
                      <a:r>
                        <a:rPr sz="1100" b="1">
                          <a:solidFill>
                            <a:srgbClr val="23301C"/>
                          </a:solidFill>
                          <a:latin typeface="Calibri"/>
                        </a:rPr>
                        <a:t>F1</a:t>
                      </a:r>
                    </a:p>
                  </a:txBody>
                  <a:tcPr marL="54864" marR="54864" marT="27432" marB="27432" anchor="ctr">
                    <a:lnL w="0">
                      <a:noFill/>
                    </a:lnL>
                    <a:lnR w="0">
                      <a:noFill/>
                    </a:lnR>
                    <a:lnT w="0">
                      <a:noFill/>
                    </a:lnT>
                    <a:lnB w="12700" cap="flat" cmpd="sng">
                      <a:solidFill>
                        <a:srgbClr val="23301C"/>
                      </a:solidFill>
                    </a:lnB>
                    <a:noFill/>
                  </a:tcPr>
                </a:tc>
                <a:extLst>
                  <a:ext uri="{0D108BD9-81ED-4DB2-BD59-A6C34878D82A}">
                    <a16:rowId xmlns:a16="http://schemas.microsoft.com/office/drawing/2014/main" val="10001"/>
                  </a:ext>
                </a:extLst>
              </a:tr>
              <a:tr h="384048">
                <a:tc>
                  <a:txBody>
                    <a:bodyPr/>
                    <a:lstStyle/>
                    <a:p>
                      <a:r>
                        <a:rPr sz="1100" b="0">
                          <a:solidFill>
                            <a:srgbClr val="23301C"/>
                          </a:solidFill>
                          <a:latin typeface="Calibri"/>
                        </a:rPr>
                        <a:t>Angular leaf spot</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0.742</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0.683</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0.711</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0.777</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0.762</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0.768</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0.778</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0.841</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0.803</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0.788</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0">
                          <a:solidFill>
                            <a:srgbClr val="23301C"/>
                          </a:solidFill>
                          <a:latin typeface="Calibri"/>
                        </a:rPr>
                        <a:t>0.866</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tc>
                  <a:txBody>
                    <a:bodyPr/>
                    <a:lstStyle/>
                    <a:p>
                      <a:pPr algn="ctr"/>
                      <a:r>
                        <a:rPr sz="1100" b="1">
                          <a:solidFill>
                            <a:srgbClr val="23301C"/>
                          </a:solidFill>
                          <a:latin typeface="Calibri"/>
                        </a:rPr>
                        <a:t>0.822</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solidFill>
                      <a:srgbClr val="EEF2E6"/>
                    </a:solidFill>
                  </a:tcPr>
                </a:tc>
                <a:extLst>
                  <a:ext uri="{0D108BD9-81ED-4DB2-BD59-A6C34878D82A}">
                    <a16:rowId xmlns:a16="http://schemas.microsoft.com/office/drawing/2014/main" val="10002"/>
                  </a:ext>
                </a:extLst>
              </a:tr>
              <a:tr h="384048">
                <a:tc>
                  <a:txBody>
                    <a:bodyPr/>
                    <a:lstStyle/>
                    <a:p>
                      <a:r>
                        <a:rPr sz="1100" b="0">
                          <a:solidFill>
                            <a:srgbClr val="23301C"/>
                          </a:solidFill>
                          <a:latin typeface="Calibri"/>
                        </a:rPr>
                        <a:t>Leaf spot</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0.869</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0.913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0.890</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0.905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0.902</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0.904</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0.932</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0.898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0.914</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0.936</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0.905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1">
                          <a:solidFill>
                            <a:srgbClr val="23301C"/>
                          </a:solidFill>
                          <a:latin typeface="Calibri"/>
                        </a:rPr>
                        <a:t>0.920</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3"/>
                  </a:ext>
                </a:extLst>
              </a:tr>
              <a:tr h="384048">
                <a:tc>
                  <a:txBody>
                    <a:bodyPr/>
                    <a:lstStyle/>
                    <a:p>
                      <a:r>
                        <a:rPr sz="1100" b="0">
                          <a:solidFill>
                            <a:srgbClr val="23301C"/>
                          </a:solidFill>
                          <a:latin typeface="Calibri"/>
                        </a:rPr>
                        <a:t>Powdery mildew</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0.983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0.961</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0.972</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0.973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0.978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0.976</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0.974</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0.980</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0.977</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0.978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0.980</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1">
                          <a:solidFill>
                            <a:srgbClr val="23301C"/>
                          </a:solidFill>
                          <a:latin typeface="Calibri"/>
                        </a:rPr>
                        <a:t>0.979</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4"/>
                  </a:ext>
                </a:extLst>
              </a:tr>
              <a:tr h="384048">
                <a:tc>
                  <a:txBody>
                    <a:bodyPr/>
                    <a:lstStyle/>
                    <a:p>
                      <a:r>
                        <a:rPr sz="1100" b="0">
                          <a:solidFill>
                            <a:srgbClr val="23301C"/>
                          </a:solidFill>
                          <a:latin typeface="Calibri"/>
                        </a:rPr>
                        <a:t>Macro avg.</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0.865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0.852</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0.858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0.885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0.881</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0.883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0.895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0.906</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0.898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0.901</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0">
                          <a:solidFill>
                            <a:srgbClr val="23301C"/>
                          </a:solidFill>
                          <a:latin typeface="Calibri"/>
                        </a:rPr>
                        <a:t>0.917</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100" b="1">
                          <a:solidFill>
                            <a:srgbClr val="23301C"/>
                          </a:solidFill>
                          <a:latin typeface="Calibri"/>
                        </a:rPr>
                        <a:t>0.907</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5"/>
                  </a:ext>
                </a:extLst>
              </a:tr>
              <a:tr h="384048">
                <a:tc>
                  <a:txBody>
                    <a:bodyPr/>
                    <a:lstStyle/>
                    <a:p>
                      <a:r>
                        <a:rPr sz="1100" b="0">
                          <a:solidFill>
                            <a:srgbClr val="23301C"/>
                          </a:solidFill>
                          <a:latin typeface="Calibri"/>
                        </a:rPr>
                        <a:t>Weighted avg.</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0.913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0.913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0.913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0.926</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0.926</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0.926</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0.937</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0.933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0.934</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0.941</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0">
                          <a:solidFill>
                            <a:srgbClr val="23301C"/>
                          </a:solidFill>
                          <a:latin typeface="Calibri"/>
                        </a:rPr>
                        <a:t>0.939</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100" b="1">
                          <a:solidFill>
                            <a:srgbClr val="23301C"/>
                          </a:solidFill>
                          <a:latin typeface="Calibri"/>
                        </a:rPr>
                        <a:t>0.939</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extLst>
                  <a:ext uri="{0D108BD9-81ED-4DB2-BD59-A6C34878D82A}">
                    <a16:rowId xmlns:a16="http://schemas.microsoft.com/office/drawing/2014/main" val="10006"/>
                  </a:ext>
                </a:extLst>
              </a:tr>
            </a:tbl>
          </a:graphicData>
        </a:graphic>
      </p:graphicFrame>
      <p:sp>
        <p:nvSpPr>
          <p:cNvPr id="5" name="Text 8"/>
          <p:cNvSpPr txBox="1"/>
          <p:nvPr/>
        </p:nvSpPr>
        <p:spPr>
          <a:xfrm>
            <a:off x="822960" y="4800600"/>
            <a:ext cx="10515600" cy="1280160"/>
          </a:xfrm>
          <a:prstGeom prst="rect">
            <a:avLst/>
          </a:prstGeom>
          <a:noFill/>
          <a:ln/>
        </p:spPr>
        <p:txBody>
          <a:bodyPr wrap="square" lIns="0" tIns="0" rIns="0" bIns="0" rtlCol="0" anchor="t"/>
          <a:lstStyle/>
          <a:p>
            <a:pPr marL="171450" indent="-171450">
              <a:spcBef>
                <a:spcPts val="400"/>
              </a:spcBef>
              <a:buFont typeface="Arial"/>
              <a:buChar char="•"/>
            </a:pPr>
            <a:r>
              <a:rPr lang="en-US" sz="1400" dirty="0">
                <a:latin typeface="Calibri" pitchFamily="34" charset="0"/>
                <a:ea typeface="Calibri" pitchFamily="34" charset="-122"/>
                <a:cs typeface="Calibri" pitchFamily="34" charset="-120"/>
              </a:rPr>
              <a:t>For angular leaf spot, the optimizers differ mainly in recall: SGD finds 68% of these images, Adam 87%.</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각반병: 재현율 차이가 가장 큼 (SGD 68% → Adam 87%)</a:t>
            </a:r>
            <a:endParaRPr lang="en-US" sz="1400" dirty="0">
              <a:solidFill>
                <a:srgbClr val="B5303B"/>
              </a:solidFill>
            </a:endParaRPr>
          </a:p>
          <a:p>
            <a:pPr marL="171450" indent="-171450">
              <a:spcBef>
                <a:spcPts val="400"/>
              </a:spcBef>
              <a:buFont typeface="Arial"/>
              <a:buChar char="•"/>
            </a:pPr>
            <a:r>
              <a:rPr lang="en-US" sz="1400" dirty="0">
                <a:latin typeface="Calibri" pitchFamily="34" charset="0"/>
                <a:ea typeface="Calibri" pitchFamily="34" charset="-122"/>
                <a:cs typeface="Calibri" pitchFamily="34" charset="-120"/>
              </a:rPr>
              <a:t>Precision stays at 0.74–0.79, so the adaptive optimizers find more angular leaf spot rather than becoming more precise.</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정밀도는 비슷함 → 각반병을 더 많이 찾아냄</a:t>
            </a:r>
            <a:endParaRPr lang="en-US" sz="1400" dirty="0">
              <a:solidFill>
                <a:srgbClr val="B5303B"/>
              </a:solidFill>
            </a:endParaRPr>
          </a:p>
        </p:txBody>
      </p:sp>
      <p:sp>
        <p:nvSpPr>
          <p:cNvPr id="6"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Mean of 5 seeds on the test set (58 angular leaf spot, 205 leaf spot, 275 powdery mildew images). Bold = best F1 per row. Standard deviations are in per_class_metrics.csv.</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DFE366E4-635E-4910-9A1A-36A43C673667}"/>
              </a:ext>
            </a:extLst>
          </p:cNvPr>
          <p:cNvPicPr>
            <a:picLocks noChangeAspect="1"/>
          </p:cNvPicPr>
          <p:nvPr/>
        </p:nvPicPr>
        <p:blipFill>
          <a:blip r:embed="rId3"/>
          <a:stretch>
            <a:fillRect/>
          </a:stretch>
        </p:blipFill>
        <p:spPr>
          <a:xfrm>
            <a:off x="822960" y="1920240"/>
            <a:ext cx="9991527" cy="4114800"/>
          </a:xfrm>
          <a:prstGeom prst="rect">
            <a:avLst/>
          </a:prstGeom>
        </p:spPr>
      </p:pic>
      <p:sp>
        <p:nvSpPr>
          <p:cNvPr id="8"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RESULTS  (결과)</a:t>
            </a:r>
            <a:endParaRPr lang="en-US" sz="1200" dirty="0"/>
          </a:p>
        </p:txBody>
      </p:sp>
      <p:sp>
        <p:nvSpPr>
          <p:cNvPr id="9"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Generalisation</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일반화  ·  검증 점수는 테스트 점수를 약간 과대평가함</a:t>
            </a:r>
            <a:endParaRPr lang="en-US" sz="3000" dirty="0"/>
          </a:p>
        </p:txBody>
      </p:sp>
      <p:sp>
        <p:nvSpPr>
          <p:cNvPr id="10"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(a) Mean ± SD of 5 runs; training accuracy is averaged during each epoch, so it can sit below validation accuracy (SGD). (b) Each point is one run; dashed line = equal scores.</a:t>
            </a:r>
            <a:endParaRPr lang="en-US" sz="1100" dirty="0"/>
          </a:p>
        </p:txBody>
      </p:sp>
      <p:sp>
        <p:nvSpPr>
          <p:cNvPr id="5" name="Rectangle 3">
            <a:extLst>
              <a:ext uri="{FF2B5EF4-FFF2-40B4-BE49-F238E27FC236}">
                <a16:creationId xmlns:a16="http://schemas.microsoft.com/office/drawing/2014/main" id="{B0C7FF54-F512-4530-9FC2-A03269FCBF48}"/>
              </a:ext>
            </a:extLst>
          </p:cNvPr>
          <p:cNvSpPr>
            <a:spLocks noChangeArrowheads="1"/>
          </p:cNvSpPr>
          <p:nvPr/>
        </p:nvSpPr>
        <p:spPr bwMode="auto">
          <a:xfrm>
            <a:off x="6430617" y="1168155"/>
            <a:ext cx="23853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100" b="0" i="0" u="none" strike="noStrike" cap="none" normalizeH="0" baseline="0" dirty="0">
                <a:ln>
                  <a:noFill/>
                </a:ln>
                <a:solidFill>
                  <a:schemeClr val="tx1"/>
                </a:solidFill>
                <a:effectLst/>
                <a:latin typeface="Arial" panose="020B0604020202020204" pitchFamily="34" charset="0"/>
              </a:rPr>
              <a:t>r = 0.61: a positive relationship, but not a very strong one.</a:t>
            </a:r>
            <a:endParaRPr kumimoji="0" lang="en-US" altLang="ko-KR" sz="11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1CB3AE2-3123-49EC-AB52-6288CD0EF076}"/>
              </a:ext>
            </a:extLst>
          </p:cNvPr>
          <p:cNvSpPr txBox="1"/>
          <p:nvPr/>
        </p:nvSpPr>
        <p:spPr>
          <a:xfrm>
            <a:off x="7623312" y="2912975"/>
            <a:ext cx="1292088" cy="1200329"/>
          </a:xfrm>
          <a:prstGeom prst="rect">
            <a:avLst/>
          </a:prstGeom>
          <a:noFill/>
        </p:spPr>
        <p:txBody>
          <a:bodyPr wrap="square" rtlCol="0">
            <a:spAutoFit/>
          </a:bodyPr>
          <a:lstStyle/>
          <a:p>
            <a:r>
              <a:rPr lang="en-US" altLang="ko-KR" sz="1200" dirty="0"/>
              <a:t>Most runs sit below the line: validation scores are a bit higher than test scores.</a:t>
            </a:r>
            <a:endParaRPr lang="ko-KR" altLang="en-US" sz="1200" dirty="0"/>
          </a:p>
        </p:txBody>
      </p:sp>
    </p:spTree>
    <p:extLst>
      <p:ext uri="{BB962C8B-B14F-4D97-AF65-F5344CB8AC3E}">
        <p14:creationId xmlns:p14="http://schemas.microsoft.com/office/powerpoint/2010/main" val="11766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RESULTS  (결과)</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Final results: summary table</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최종 결과 요약  ·  소형 CNN, 시드 5개 평균 ± 표준편차</a:t>
            </a:r>
            <a:endParaRPr lang="en-US" sz="3000" dirty="0"/>
          </a:p>
        </p:txBody>
      </p:sp>
      <p:graphicFrame>
        <p:nvGraphicFramePr>
          <p:cNvPr id="4" name="Table 3"/>
          <p:cNvGraphicFramePr>
            <a:graphicFrameLocks noGrp="1"/>
          </p:cNvGraphicFramePr>
          <p:nvPr/>
        </p:nvGraphicFramePr>
        <p:xfrm>
          <a:off x="822960" y="2011680"/>
          <a:ext cx="10515600" cy="2286000"/>
        </p:xfrm>
        <a:graphic>
          <a:graphicData uri="http://schemas.openxmlformats.org/drawingml/2006/table">
            <a:tbl>
              <a:tblPr/>
              <a:tblGrid>
                <a:gridCol w="105156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1234440">
                  <a:extLst>
                    <a:ext uri="{9D8B030D-6E8A-4147-A177-3AD203B41FA5}">
                      <a16:colId xmlns:a16="http://schemas.microsoft.com/office/drawing/2014/main" val="20007"/>
                    </a:ext>
                  </a:extLst>
                </a:gridCol>
                <a:gridCol w="868680">
                  <a:extLst>
                    <a:ext uri="{9D8B030D-6E8A-4147-A177-3AD203B41FA5}">
                      <a16:colId xmlns:a16="http://schemas.microsoft.com/office/drawing/2014/main" val="20008"/>
                    </a:ext>
                  </a:extLst>
                </a:gridCol>
                <a:gridCol w="1097280">
                  <a:extLst>
                    <a:ext uri="{9D8B030D-6E8A-4147-A177-3AD203B41FA5}">
                      <a16:colId xmlns:a16="http://schemas.microsoft.com/office/drawing/2014/main" val="20009"/>
                    </a:ext>
                  </a:extLst>
                </a:gridCol>
              </a:tblGrid>
              <a:tr h="457200">
                <a:tc>
                  <a:txBody>
                    <a:bodyPr/>
                    <a:lstStyle/>
                    <a:p>
                      <a:r>
                        <a:rPr sz="1200" b="1">
                          <a:solidFill>
                            <a:srgbClr val="23301C"/>
                          </a:solidFill>
                          <a:latin typeface="Calibri"/>
                        </a:rPr>
                        <a:t>Optimizer</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LR</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Test macro-F1</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Test acc.</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Train acc.</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Val. acc.</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Epochs to 0.85</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Time to 0.85 (s)</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s/epoch*</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tc>
                  <a:txBody>
                    <a:bodyPr/>
                    <a:lstStyle/>
                    <a:p>
                      <a:pPr algn="ctr"/>
                      <a:r>
                        <a:rPr sz="1200" b="1">
                          <a:solidFill>
                            <a:srgbClr val="23301C"/>
                          </a:solidFill>
                          <a:latin typeface="Calibri"/>
                        </a:rPr>
                        <a:t>Best epoch</a:t>
                      </a:r>
                    </a:p>
                  </a:txBody>
                  <a:tcPr marL="54864" marR="54864" marT="27432" marB="27432" anchor="ctr">
                    <a:lnL w="0">
                      <a:noFill/>
                    </a:lnL>
                    <a:lnR w="0">
                      <a:noFill/>
                    </a:lnR>
                    <a:lnT w="19050" cap="flat" cmpd="sng">
                      <a:solidFill>
                        <a:srgbClr val="23301C"/>
                      </a:solidFill>
                    </a:lnT>
                    <a:lnB w="12700" cap="flat" cmpd="sng">
                      <a:solidFill>
                        <a:srgbClr val="23301C"/>
                      </a:solidFill>
                    </a:lnB>
                    <a:noFill/>
                  </a:tcPr>
                </a:tc>
                <a:extLst>
                  <a:ext uri="{0D108BD9-81ED-4DB2-BD59-A6C34878D82A}">
                    <a16:rowId xmlns:a16="http://schemas.microsoft.com/office/drawing/2014/main" val="10000"/>
                  </a:ext>
                </a:extLst>
              </a:tr>
              <a:tr h="457200">
                <a:tc>
                  <a:txBody>
                    <a:bodyPr/>
                    <a:lstStyle/>
                    <a:p>
                      <a:r>
                        <a:rPr sz="1200" b="0">
                          <a:solidFill>
                            <a:srgbClr val="23301C"/>
                          </a:solidFill>
                          <a:latin typeface="Calibri"/>
                        </a:rPr>
                        <a:t>SGD</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0.1</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0.858 ± 0.008</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0.913 ± 0.006</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0.912</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0.936</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17.4 ± 2.1</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292</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17.5</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27.0</a:t>
                      </a:r>
                    </a:p>
                  </a:txBody>
                  <a:tcPr marL="54864" marR="54864" marT="27432" marB="27432"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1"/>
                  </a:ext>
                </a:extLst>
              </a:tr>
              <a:tr h="457200">
                <a:tc>
                  <a:txBody>
                    <a:bodyPr/>
                    <a:lstStyle/>
                    <a:p>
                      <a:r>
                        <a:rPr sz="1200" b="0">
                          <a:solidFill>
                            <a:srgbClr val="23301C"/>
                          </a:solidFill>
                          <a:latin typeface="Calibri"/>
                        </a:rPr>
                        <a:t>Adagrad</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0.03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0.883 ± 0.015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0.926 ± 0.011</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0.950</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0.939</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10.4 ± 2.6</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172</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16.4</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24.4</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2"/>
                  </a:ext>
                </a:extLst>
              </a:tr>
              <a:tr h="457200">
                <a:tc>
                  <a:txBody>
                    <a:bodyPr/>
                    <a:lstStyle/>
                    <a:p>
                      <a:r>
                        <a:rPr sz="1200" b="0">
                          <a:solidFill>
                            <a:srgbClr val="23301C"/>
                          </a:solidFill>
                          <a:latin typeface="Calibri"/>
                        </a:rPr>
                        <a:t>RMSprop</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0.001</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0.898 ± 0.025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0.933 ± 0.017</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0.958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0.948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6.2 ± 2.2</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112</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1">
                          <a:solidFill>
                            <a:srgbClr val="23301C"/>
                          </a:solidFill>
                          <a:latin typeface="Calibri"/>
                        </a:rPr>
                        <a:t>15.7</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pPr algn="ctr"/>
                      <a:r>
                        <a:rPr sz="1200" b="0">
                          <a:solidFill>
                            <a:srgbClr val="23301C"/>
                          </a:solidFill>
                          <a:latin typeface="Calibri"/>
                        </a:rPr>
                        <a:t>23.8</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3"/>
                  </a:ext>
                </a:extLst>
              </a:tr>
              <a:tr h="457200">
                <a:tc>
                  <a:txBody>
                    <a:bodyPr/>
                    <a:lstStyle/>
                    <a:p>
                      <a:r>
                        <a:rPr sz="1200" b="0">
                          <a:solidFill>
                            <a:srgbClr val="23301C"/>
                          </a:solidFill>
                          <a:latin typeface="Calibri"/>
                        </a:rPr>
                        <a:t>Adam</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0">
                          <a:solidFill>
                            <a:srgbClr val="23301C"/>
                          </a:solidFill>
                          <a:latin typeface="Calibri"/>
                        </a:rPr>
                        <a:t>0.003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1">
                          <a:solidFill>
                            <a:srgbClr val="23301C"/>
                          </a:solidFill>
                          <a:latin typeface="Calibri"/>
                        </a:rPr>
                        <a:t>0.907 ± 0.023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1">
                          <a:solidFill>
                            <a:srgbClr val="23301C"/>
                          </a:solidFill>
                          <a:latin typeface="Calibri"/>
                        </a:rPr>
                        <a:t>0.939 ± 0.013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0">
                          <a:solidFill>
                            <a:srgbClr val="23301C"/>
                          </a:solidFill>
                          <a:latin typeface="Calibri"/>
                        </a:rPr>
                        <a:t>0.974</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1">
                          <a:solidFill>
                            <a:srgbClr val="23301C"/>
                          </a:solidFill>
                          <a:latin typeface="Calibri"/>
                        </a:rPr>
                        <a:t>0.953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1">
                          <a:solidFill>
                            <a:srgbClr val="23301C"/>
                          </a:solidFill>
                          <a:latin typeface="Calibri"/>
                        </a:rPr>
                        <a:t>6.0 ± 1.9</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1">
                          <a:solidFill>
                            <a:srgbClr val="23301C"/>
                          </a:solidFill>
                          <a:latin typeface="Calibri"/>
                        </a:rPr>
                        <a:t>103</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0">
                          <a:solidFill>
                            <a:srgbClr val="23301C"/>
                          </a:solidFill>
                          <a:latin typeface="Calibri"/>
                        </a:rPr>
                        <a:t>16.5</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pPr algn="ctr"/>
                      <a:r>
                        <a:rPr sz="1200" b="0" dirty="0">
                          <a:solidFill>
                            <a:srgbClr val="23301C"/>
                          </a:solidFill>
                          <a:latin typeface="Calibri"/>
                        </a:rPr>
                        <a:t>28.0</a:t>
                      </a:r>
                    </a:p>
                  </a:txBody>
                  <a:tcPr marL="54864" marR="54864" marT="27432" marB="27432"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extLst>
                  <a:ext uri="{0D108BD9-81ED-4DB2-BD59-A6C34878D82A}">
                    <a16:rowId xmlns:a16="http://schemas.microsoft.com/office/drawing/2014/main" val="10004"/>
                  </a:ext>
                </a:extLst>
              </a:tr>
            </a:tbl>
          </a:graphicData>
        </a:graphic>
      </p:graphicFrame>
      <p:sp>
        <p:nvSpPr>
          <p:cNvPr id="5" name="Text 8"/>
          <p:cNvSpPr txBox="1"/>
          <p:nvPr/>
        </p:nvSpPr>
        <p:spPr>
          <a:xfrm>
            <a:off x="822960" y="4709160"/>
            <a:ext cx="10515600" cy="1371600"/>
          </a:xfrm>
          <a:prstGeom prst="rect">
            <a:avLst/>
          </a:prstGeom>
          <a:noFill/>
          <a:ln/>
        </p:spPr>
        <p:txBody>
          <a:bodyPr wrap="square" lIns="0" tIns="0" rIns="0" bIns="0" rtlCol="0" anchor="t"/>
          <a:lstStyle/>
          <a:p>
            <a:pPr marL="171450" indent="-171450">
              <a:spcBef>
                <a:spcPts val="400"/>
              </a:spcBef>
              <a:buFont typeface="Arial"/>
              <a:buChar char="•"/>
            </a:pPr>
            <a:r>
              <a:rPr lang="en-US" sz="1400" dirty="0">
                <a:latin typeface="Calibri" pitchFamily="34" charset="0"/>
                <a:ea typeface="Calibri" pitchFamily="34" charset="-122"/>
                <a:cs typeface="Calibri" pitchFamily="34" charset="-120"/>
              </a:rPr>
              <a:t>Adam has the best mean on accuracy, epochs to target and time to target; RMSprop is close behind on all three.</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Adam이 세 기준 모두 평균 1위, RMSprop이 근소한 2위</a:t>
            </a:r>
            <a:endParaRPr lang="en-US" sz="1400" dirty="0"/>
          </a:p>
          <a:p>
            <a:pPr marL="171450" indent="-171450">
              <a:spcBef>
                <a:spcPts val="400"/>
              </a:spcBef>
              <a:buFont typeface="Arial"/>
              <a:buChar char="•"/>
            </a:pPr>
            <a:r>
              <a:rPr lang="en-US" sz="1400" dirty="0">
                <a:latin typeface="Calibri" pitchFamily="34" charset="0"/>
                <a:ea typeface="Calibri" pitchFamily="34" charset="-122"/>
                <a:cs typeface="Calibri" pitchFamily="34" charset="-120"/>
              </a:rPr>
              <a:t>Time per epoch is about the same for all four, so the time differences come from the number of epochs.</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에폭당 시간은 비슷함 → 시간 차이는 에폭 수에서 비롯됨</a:t>
            </a:r>
            <a:endParaRPr lang="en-US" sz="1400" dirty="0"/>
          </a:p>
        </p:txBody>
      </p:sp>
      <p:sp>
        <p:nvSpPr>
          <p:cNvPr id="6"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Bold = best per column. Time to 0.85 = mean seconds to reach validation macro-F1 ≥ 0.85. *Median: three runs (SGD seeds 0 and 3, Adagrad seed 3) each had one very long epoch from a laptop pause, after they had already reached the target.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6"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DECISION  (선정 결과)</a:t>
            </a:r>
            <a:endParaRPr lang="en-US" sz="1200" dirty="0"/>
          </a:p>
        </p:txBody>
      </p:sp>
      <p:sp>
        <p:nvSpPr>
          <p:cNvPr id="7"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Decision: no single best optimizer</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선정 결과: 단일 최적 알고리즘 없음  ·  사전 확정 기준 적용</a:t>
            </a:r>
            <a:endParaRPr lang="en-US" sz="3000" dirty="0"/>
          </a:p>
        </p:txBody>
      </p:sp>
      <p:sp>
        <p:nvSpPr>
          <p:cNvPr id="8" name="Shape 4"/>
          <p:cNvSpPr/>
          <p:nvPr/>
        </p:nvSpPr>
        <p:spPr>
          <a:xfrm>
            <a:off x="822960" y="1874519"/>
            <a:ext cx="3291840" cy="2926080"/>
          </a:xfrm>
          <a:prstGeom prst="roundRect">
            <a:avLst>
              <a:gd name="adj" fmla="val 4167"/>
            </a:avLst>
          </a:prstGeom>
          <a:solidFill>
            <a:srgbClr val="FFFFFF"/>
          </a:solidFill>
          <a:ln w="12700">
            <a:solidFill>
              <a:srgbClr val="97BC62"/>
            </a:solidFill>
            <a:prstDash val="solid"/>
          </a:ln>
        </p:spPr>
        <p:txBody>
          <a:bodyPr/>
          <a:lstStyle/>
          <a:p>
            <a:endParaRPr/>
          </a:p>
        </p:txBody>
      </p:sp>
      <p:sp>
        <p:nvSpPr>
          <p:cNvPr id="9" name="Shape 5"/>
          <p:cNvSpPr/>
          <p:nvPr/>
        </p:nvSpPr>
        <p:spPr>
          <a:xfrm>
            <a:off x="1143000" y="2148840"/>
            <a:ext cx="502920" cy="502920"/>
          </a:xfrm>
          <a:prstGeom prst="ellipse">
            <a:avLst/>
          </a:prstGeom>
          <a:solidFill>
            <a:srgbClr val="2C5F2D"/>
          </a:solidFill>
          <a:ln/>
        </p:spPr>
        <p:txBody>
          <a:bodyPr/>
          <a:lstStyle/>
          <a:p>
            <a:endParaRPr/>
          </a:p>
        </p:txBody>
      </p:sp>
      <p:sp>
        <p:nvSpPr>
          <p:cNvPr id="10" name="Text 6"/>
          <p:cNvSpPr txBox="1"/>
          <p:nvPr/>
        </p:nvSpPr>
        <p:spPr>
          <a:xfrm>
            <a:off x="114300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1" name="Text 7"/>
          <p:cNvSpPr txBox="1"/>
          <p:nvPr/>
        </p:nvSpPr>
        <p:spPr>
          <a:xfrm>
            <a:off x="178308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Accuracy</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정확도</a:t>
            </a:r>
            <a:endParaRPr lang="en-US" sz="1600" dirty="0"/>
          </a:p>
        </p:txBody>
      </p:sp>
      <p:sp>
        <p:nvSpPr>
          <p:cNvPr id="13" name="Text 8"/>
          <p:cNvSpPr txBox="1"/>
          <p:nvPr/>
        </p:nvSpPr>
        <p:spPr>
          <a:xfrm>
            <a:off x="114300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Adam, RMSprop and Adagrad not significantly different*</a:t>
            </a:r>
            <a:endParaRPr lang="en-US" sz="1250" dirty="0"/>
          </a:p>
        </p:txBody>
      </p:sp>
      <p:sp>
        <p:nvSpPr>
          <p:cNvPr id="14" name="Shape 4"/>
          <p:cNvSpPr/>
          <p:nvPr/>
        </p:nvSpPr>
        <p:spPr>
          <a:xfrm>
            <a:off x="4434840" y="1874519"/>
            <a:ext cx="3291840" cy="2926080"/>
          </a:xfrm>
          <a:prstGeom prst="roundRect">
            <a:avLst>
              <a:gd name="adj" fmla="val 4167"/>
            </a:avLst>
          </a:prstGeom>
          <a:solidFill>
            <a:srgbClr val="FFFFFF"/>
          </a:solidFill>
          <a:ln w="12700">
            <a:solidFill>
              <a:srgbClr val="97BC62"/>
            </a:solidFill>
            <a:prstDash val="solid"/>
          </a:ln>
        </p:spPr>
        <p:txBody>
          <a:bodyPr/>
          <a:lstStyle/>
          <a:p>
            <a:endParaRPr/>
          </a:p>
        </p:txBody>
      </p:sp>
      <p:sp>
        <p:nvSpPr>
          <p:cNvPr id="15" name="Shape 10"/>
          <p:cNvSpPr/>
          <p:nvPr/>
        </p:nvSpPr>
        <p:spPr>
          <a:xfrm>
            <a:off x="4754880" y="2148840"/>
            <a:ext cx="502920" cy="502920"/>
          </a:xfrm>
          <a:prstGeom prst="ellipse">
            <a:avLst/>
          </a:prstGeom>
          <a:solidFill>
            <a:srgbClr val="6B8E3D"/>
          </a:solidFill>
          <a:ln/>
        </p:spPr>
        <p:txBody>
          <a:bodyPr/>
          <a:lstStyle/>
          <a:p>
            <a:endParaRPr/>
          </a:p>
        </p:txBody>
      </p:sp>
      <p:sp>
        <p:nvSpPr>
          <p:cNvPr id="16" name="Text 6"/>
          <p:cNvSpPr txBox="1"/>
          <p:nvPr/>
        </p:nvSpPr>
        <p:spPr>
          <a:xfrm>
            <a:off x="475488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7" name="Text 7"/>
          <p:cNvSpPr txBox="1"/>
          <p:nvPr/>
        </p:nvSpPr>
        <p:spPr>
          <a:xfrm>
            <a:off x="539496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Convergence</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수렴 속도</a:t>
            </a:r>
            <a:endParaRPr lang="en-US" sz="1600" dirty="0"/>
          </a:p>
        </p:txBody>
      </p:sp>
      <p:sp>
        <p:nvSpPr>
          <p:cNvPr id="19" name="Text 8"/>
          <p:cNvSpPr txBox="1"/>
          <p:nvPr/>
        </p:nvSpPr>
        <p:spPr>
          <a:xfrm>
            <a:off x="475488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No significant difference among the tied optimizers* (Adam vs Adagrad: p = 0.06)</a:t>
            </a:r>
            <a:endParaRPr lang="en-US" sz="1250" dirty="0"/>
          </a:p>
        </p:txBody>
      </p:sp>
      <p:sp>
        <p:nvSpPr>
          <p:cNvPr id="20" name="Shape 4"/>
          <p:cNvSpPr/>
          <p:nvPr/>
        </p:nvSpPr>
        <p:spPr>
          <a:xfrm>
            <a:off x="8046720" y="1874519"/>
            <a:ext cx="3291840" cy="2926080"/>
          </a:xfrm>
          <a:prstGeom prst="roundRect">
            <a:avLst>
              <a:gd name="adj" fmla="val 4167"/>
            </a:avLst>
          </a:prstGeom>
          <a:solidFill>
            <a:srgbClr val="FFFFFF"/>
          </a:solidFill>
          <a:ln w="12700">
            <a:solidFill>
              <a:srgbClr val="97BC62"/>
            </a:solidFill>
            <a:prstDash val="solid"/>
          </a:ln>
        </p:spPr>
        <p:txBody>
          <a:bodyPr/>
          <a:lstStyle/>
          <a:p>
            <a:endParaRPr/>
          </a:p>
        </p:txBody>
      </p:sp>
      <p:sp>
        <p:nvSpPr>
          <p:cNvPr id="21" name="Shape 15"/>
          <p:cNvSpPr/>
          <p:nvPr/>
        </p:nvSpPr>
        <p:spPr>
          <a:xfrm>
            <a:off x="8366760" y="2148840"/>
            <a:ext cx="502920" cy="502920"/>
          </a:xfrm>
          <a:prstGeom prst="ellipse">
            <a:avLst/>
          </a:prstGeom>
          <a:solidFill>
            <a:srgbClr val="B5303B"/>
          </a:solidFill>
          <a:ln/>
        </p:spPr>
        <p:txBody>
          <a:bodyPr/>
          <a:lstStyle/>
          <a:p>
            <a:endParaRPr/>
          </a:p>
        </p:txBody>
      </p:sp>
      <p:sp>
        <p:nvSpPr>
          <p:cNvPr id="22" name="Text 6"/>
          <p:cNvSpPr txBox="1"/>
          <p:nvPr/>
        </p:nvSpPr>
        <p:spPr>
          <a:xfrm>
            <a:off x="836676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Text 7"/>
          <p:cNvSpPr txBox="1"/>
          <p:nvPr/>
        </p:nvSpPr>
        <p:spPr>
          <a:xfrm>
            <a:off x="900684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Training time</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학습 시간</a:t>
            </a:r>
            <a:endParaRPr lang="en-US" sz="1600" dirty="0"/>
          </a:p>
        </p:txBody>
      </p:sp>
      <p:sp>
        <p:nvSpPr>
          <p:cNvPr id="25" name="Text 8"/>
          <p:cNvSpPr txBox="1"/>
          <p:nvPr/>
        </p:nvSpPr>
        <p:spPr>
          <a:xfrm>
            <a:off x="836676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No significant difference among the tied optimizers*</a:t>
            </a:r>
            <a:endParaRPr lang="en-US" sz="1250" dirty="0"/>
          </a:p>
        </p:txBody>
      </p:sp>
      <p:sp>
        <p:nvSpPr>
          <p:cNvPr id="26" name="Shape 2"/>
          <p:cNvSpPr/>
          <p:nvPr/>
        </p:nvSpPr>
        <p:spPr>
          <a:xfrm>
            <a:off x="822960" y="4983480"/>
            <a:ext cx="10515600" cy="1005840"/>
          </a:xfrm>
          <a:prstGeom prst="roundRect">
            <a:avLst>
              <a:gd name="adj" fmla="val 6486"/>
            </a:avLst>
          </a:prstGeom>
          <a:solidFill>
            <a:srgbClr val="2C5F2D"/>
          </a:solidFill>
          <a:ln/>
        </p:spPr>
        <p:txBody>
          <a:bodyPr/>
          <a:lstStyle/>
          <a:p>
            <a:endParaRPr/>
          </a:p>
        </p:txBody>
      </p:sp>
      <p:sp>
        <p:nvSpPr>
          <p:cNvPr id="27" name="Text 3"/>
          <p:cNvSpPr txBox="1"/>
          <p:nvPr/>
        </p:nvSpPr>
        <p:spPr>
          <a:xfrm>
            <a:off x="1143000" y="5047488"/>
            <a:ext cx="9875520" cy="877824"/>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Cambria" pitchFamily="34" charset="0"/>
                <a:ea typeface="Cambria" pitchFamily="34" charset="-122"/>
                <a:cs typeface="Cambria" pitchFamily="34" charset="-120"/>
              </a:rPr>
              <a:t>Adam leads on every criterion on average, but not significantly: Adam (lr 0.003) and RMSprop (lr 0.001) are both sound choices; SGD is the weakest.</a:t>
            </a:r>
            <a:endParaRPr lang="en-US" sz="2000" dirty="0"/>
          </a:p>
          <a:p>
            <a:pPr marL="0" indent="0">
              <a:lnSpc>
                <a:spcPct val="105000"/>
              </a:lnSpc>
              <a:buNone/>
            </a:pPr>
            <a:r>
              <a:rPr lang="en-US" altLang="ko-KR" sz="1200" dirty="0">
                <a:solidFill>
                  <a:srgbClr val="D9E4CF"/>
                </a:solidFill>
                <a:latin typeface="Calibri" pitchFamily="34" charset="0"/>
                <a:ea typeface="Malgun Gothic"/>
                <a:cs typeface="Calibri" pitchFamily="34" charset="-120"/>
              </a:rPr>
              <a:t>Adam이 모든 기준에서 평균 1위이나 유의차 없음 · Adam 또는 RMSprop 권장 · SGD가 가장 낮음</a:t>
            </a:r>
            <a:endParaRPr lang="en-US" sz="2000" dirty="0"/>
          </a:p>
        </p:txBody>
      </p:sp>
      <p:sp>
        <p:nvSpPr>
          <p:cNvPr id="28" name="Text 22"/>
          <p:cNvSpPr txBox="1"/>
          <p:nvPr/>
        </p:nvSpPr>
        <p:spPr>
          <a:xfrm>
            <a:off x="822960" y="617220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*Paired t-tests over 5 seeds, Holm-corrected, α = 0.05. A Friedman test across all four optimizers gives p = 0.0136: performance differs overall, mainly because SGD scores lowest.</a:t>
            </a:r>
            <a:endParaRPr lang="en-US" sz="1100" dirty="0"/>
          </a:p>
        </p:txBody>
      </p:sp>
      <p:sp>
        <p:nvSpPr>
          <p:cNvPr id="29" name="Text 8"/>
          <p:cNvSpPr txBox="1"/>
          <p:nvPr/>
        </p:nvSpPr>
        <p:spPr>
          <a:xfrm>
            <a:off x="1143000" y="2926080"/>
            <a:ext cx="2697480" cy="1188720"/>
          </a:xfrm>
          <a:prstGeom prst="rect">
            <a:avLst/>
          </a:prstGeom>
          <a:noFill/>
          <a:ln/>
        </p:spPr>
        <p:txBody>
          <a:bodyPr wrap="square" lIns="0" tIns="0" rIns="0" bIns="0" rtlCol="0" anchor="t"/>
          <a:lstStyle/>
          <a:p>
            <a:pPr marL="0" indent="0">
              <a:buNone/>
            </a:pPr>
            <a:r>
              <a:rPr lang="en-US" sz="1400" dirty="0">
                <a:latin typeface="Calibri" pitchFamily="34" charset="0"/>
                <a:ea typeface="Calibri" pitchFamily="34" charset="-122"/>
                <a:cs typeface="Calibri" pitchFamily="34" charset="-120"/>
              </a:rPr>
              <a:t>Mean test macro-F1: Adam 0.907, RMSprop 0.898, Adagrad 0.883, SGD 0.858.</a:t>
            </a:r>
            <a:endParaRPr lang="en-US" sz="1400" dirty="0"/>
          </a:p>
          <a:p>
            <a:pPr marL="0" indent="0">
              <a:buNone/>
            </a:pPr>
            <a:r>
              <a:rPr lang="en-US" sz="1400" dirty="0">
                <a:solidFill>
                  <a:srgbClr val="B5303B"/>
                </a:solidFill>
                <a:latin typeface="Calibri" pitchFamily="34" charset="0"/>
                <a:ea typeface="Malgun Gothic"/>
                <a:cs typeface="Calibri" pitchFamily="34" charset="-120"/>
              </a:rPr>
              <a:t>Adam 평균 최고, 그러나 유의차 없음</a:t>
            </a:r>
            <a:endParaRPr lang="en-US" sz="1400" dirty="0">
              <a:solidFill>
                <a:srgbClr val="B5303B"/>
              </a:solidFill>
            </a:endParaRPr>
          </a:p>
        </p:txBody>
      </p:sp>
      <p:sp>
        <p:nvSpPr>
          <p:cNvPr id="30" name="Text 8"/>
          <p:cNvSpPr txBox="1"/>
          <p:nvPr/>
        </p:nvSpPr>
        <p:spPr>
          <a:xfrm>
            <a:off x="4754879" y="2926080"/>
            <a:ext cx="2697480" cy="1188720"/>
          </a:xfrm>
          <a:prstGeom prst="rect">
            <a:avLst/>
          </a:prstGeom>
          <a:noFill/>
          <a:ln/>
        </p:spPr>
        <p:txBody>
          <a:bodyPr wrap="square" lIns="0" tIns="0" rIns="0" bIns="0" rtlCol="0" anchor="t"/>
          <a:lstStyle/>
          <a:p>
            <a:pPr marL="0" indent="0">
              <a:buNone/>
            </a:pPr>
            <a:r>
              <a:rPr lang="en-US" sz="1400" dirty="0">
                <a:latin typeface="Calibri" pitchFamily="34" charset="0"/>
                <a:ea typeface="Calibri" pitchFamily="34" charset="-122"/>
                <a:cs typeface="Calibri" pitchFamily="34" charset="-120"/>
              </a:rPr>
              <a:t>Mean epochs to 0.85: Adam 6.0, RMSprop 6.2, Adagrad 10.4, SGD 17.4.</a:t>
            </a:r>
            <a:endParaRPr lang="en-US" sz="1400" dirty="0"/>
          </a:p>
          <a:p>
            <a:pPr marL="0" indent="0">
              <a:buNone/>
            </a:pPr>
            <a:r>
              <a:rPr lang="en-US" sz="1400" dirty="0">
                <a:solidFill>
                  <a:srgbClr val="B5303B"/>
                </a:solidFill>
                <a:latin typeface="Calibri" pitchFamily="34" charset="0"/>
                <a:ea typeface="Malgun Gothic"/>
                <a:cs typeface="Calibri" pitchFamily="34" charset="-120"/>
              </a:rPr>
              <a:t>Adam·RMSprop이 가장 빠름</a:t>
            </a:r>
            <a:endParaRPr lang="en-US" sz="1400" dirty="0">
              <a:solidFill>
                <a:srgbClr val="B5303B"/>
              </a:solidFill>
            </a:endParaRPr>
          </a:p>
        </p:txBody>
      </p:sp>
      <p:sp>
        <p:nvSpPr>
          <p:cNvPr id="31" name="Text 8"/>
          <p:cNvSpPr txBox="1"/>
          <p:nvPr/>
        </p:nvSpPr>
        <p:spPr>
          <a:xfrm>
            <a:off x="8366760" y="2926080"/>
            <a:ext cx="2697480" cy="1188720"/>
          </a:xfrm>
          <a:prstGeom prst="rect">
            <a:avLst/>
          </a:prstGeom>
          <a:noFill/>
          <a:ln/>
        </p:spPr>
        <p:txBody>
          <a:bodyPr wrap="square" lIns="0" tIns="0" rIns="0" bIns="0" rtlCol="0" anchor="t"/>
          <a:lstStyle/>
          <a:p>
            <a:pPr marL="0" indent="0">
              <a:buNone/>
            </a:pPr>
            <a:r>
              <a:rPr lang="en-US" sz="1400" dirty="0">
                <a:latin typeface="Calibri" pitchFamily="34" charset="0"/>
                <a:ea typeface="Calibri" pitchFamily="34" charset="-122"/>
                <a:cs typeface="Calibri" pitchFamily="34" charset="-120"/>
              </a:rPr>
              <a:t>Mean time to 0.85: Adam ≈ 103 s, RMSprop ≈ 112 s, Adagrad ≈ 172 s, SGD ≈ 292 s.</a:t>
            </a:r>
            <a:endParaRPr lang="en-US" sz="1400" dirty="0"/>
          </a:p>
          <a:p>
            <a:pPr marL="0" indent="0">
              <a:buNone/>
            </a:pPr>
            <a:r>
              <a:rPr lang="en-US" sz="1400" dirty="0">
                <a:solidFill>
                  <a:srgbClr val="B5303B"/>
                </a:solidFill>
                <a:latin typeface="Calibri" pitchFamily="34" charset="0"/>
                <a:ea typeface="Malgun Gothic"/>
                <a:cs typeface="Calibri" pitchFamily="34" charset="-120"/>
              </a:rPr>
              <a:t>시간 차이는 에폭 수에서 비롯됨</a:t>
            </a:r>
            <a:endParaRPr lang="en-US" sz="1400" dirty="0">
              <a:solidFill>
                <a:srgbClr val="B5303B"/>
              </a:solidFill>
            </a:endParaRPr>
          </a:p>
        </p:txBody>
      </p:sp>
    </p:spTree>
    <p:extLst>
      <p:ext uri="{BB962C8B-B14F-4D97-AF65-F5344CB8AC3E}">
        <p14:creationId xmlns:p14="http://schemas.microsoft.com/office/powerpoint/2010/main" val="2202367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4"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RESNET-18 COMPARISON  (ResNet-18 비교)</a:t>
            </a:r>
            <a:endParaRPr lang="en-US" sz="1200" dirty="0"/>
          </a:p>
        </p:txBody>
      </p:sp>
      <p:sp>
        <p:nvSpPr>
          <p:cNvPr id="5"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Why compare with ResNet-18?</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ResNet-18을 선택한 이유  ·  더 강한 모델로 Adam과 RMSprop을 구분할 수 있을까?</a:t>
            </a:r>
            <a:endParaRPr lang="en-US" sz="3000" dirty="0"/>
          </a:p>
        </p:txBody>
      </p:sp>
      <p:sp>
        <p:nvSpPr>
          <p:cNvPr id="6" name="Shape 4"/>
          <p:cNvSpPr/>
          <p:nvPr/>
        </p:nvSpPr>
        <p:spPr>
          <a:xfrm>
            <a:off x="822960" y="1874519"/>
            <a:ext cx="5120640" cy="4206240"/>
          </a:xfrm>
          <a:prstGeom prst="roundRect">
            <a:avLst>
              <a:gd name="adj" fmla="val 4167"/>
            </a:avLst>
          </a:prstGeom>
          <a:solidFill>
            <a:srgbClr val="FFFFFF"/>
          </a:solidFill>
          <a:ln w="12700">
            <a:solidFill>
              <a:srgbClr val="97BC62"/>
            </a:solidFill>
            <a:prstDash val="solid"/>
          </a:ln>
        </p:spPr>
      </p:sp>
      <p:sp>
        <p:nvSpPr>
          <p:cNvPr id="7" name="Text 7"/>
          <p:cNvSpPr txBox="1"/>
          <p:nvPr/>
        </p:nvSpPr>
        <p:spPr>
          <a:xfrm>
            <a:off x="1097280" y="2011680"/>
            <a:ext cx="4480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Why this model</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선택 이유</a:t>
            </a:r>
            <a:endParaRPr lang="en-US" sz="1600" dirty="0"/>
          </a:p>
        </p:txBody>
      </p:sp>
      <p:sp>
        <p:nvSpPr>
          <p:cNvPr id="8" name="Text 8"/>
          <p:cNvSpPr txBox="1"/>
          <p:nvPr/>
        </p:nvSpPr>
        <p:spPr>
          <a:xfrm>
            <a:off x="1097280" y="2697480"/>
            <a:ext cx="4572000" cy="3291840"/>
          </a:xfrm>
          <a:prstGeom prst="rect">
            <a:avLst/>
          </a:prstGeom>
          <a:noFill/>
          <a:ln/>
        </p:spPr>
        <p:txBody>
          <a:bodyPr wrap="square" lIns="0" tIns="0" rIns="0" bIns="0" rtlCol="0" anchor="t"/>
          <a:lstStyle/>
          <a:p>
            <a:pPr marL="171450" indent="-171450">
              <a:spcBef>
                <a:spcPts val="500"/>
              </a:spcBef>
              <a:buFont typeface="Arial"/>
              <a:buChar char="•"/>
            </a:pPr>
            <a:r>
              <a:rPr lang="en-US" sz="1400" dirty="0">
                <a:latin typeface="Calibri" pitchFamily="34" charset="0"/>
                <a:ea typeface="Calibri" pitchFamily="34" charset="-122"/>
                <a:cs typeface="Calibri" pitchFamily="34" charset="-120"/>
              </a:rPr>
              <a:t>The project is about optimizers, so ResNet-18 is a test condition, not a competitor.</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Both are convolutional networks, so staying in the same model family keeps the comparison easy to interpret.</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Pretrained on ImageNet, it suits a small dataset like mine (about 2,400 training crops).</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It's the smallest standard ResNet, so it fit on my 2 GB GPU and made all 44 runs possible.</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It's a widely used reference model in image classification, including plant-disease studies.</a:t>
            </a:r>
            <a:endParaRPr lang="en-US" sz="1400" dirty="0"/>
          </a:p>
        </p:txBody>
      </p:sp>
      <p:sp>
        <p:nvSpPr>
          <p:cNvPr id="9" name="Shape 4"/>
          <p:cNvSpPr/>
          <p:nvPr/>
        </p:nvSpPr>
        <p:spPr>
          <a:xfrm>
            <a:off x="6217920" y="1874519"/>
            <a:ext cx="5120640" cy="4206240"/>
          </a:xfrm>
          <a:prstGeom prst="roundRect">
            <a:avLst>
              <a:gd name="adj" fmla="val 4167"/>
            </a:avLst>
          </a:prstGeom>
          <a:solidFill>
            <a:srgbClr val="FFFFFF"/>
          </a:solidFill>
          <a:ln w="12700">
            <a:solidFill>
              <a:srgbClr val="B5303B"/>
            </a:solidFill>
            <a:prstDash val="solid"/>
          </a:ln>
        </p:spPr>
      </p:sp>
      <p:sp>
        <p:nvSpPr>
          <p:cNvPr id="10" name="Text 7"/>
          <p:cNvSpPr txBox="1"/>
          <p:nvPr/>
        </p:nvSpPr>
        <p:spPr>
          <a:xfrm>
            <a:off x="6492240" y="2011680"/>
            <a:ext cx="4480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Setup</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실험 설정</a:t>
            </a:r>
            <a:endParaRPr lang="en-US" sz="1600" dirty="0"/>
          </a:p>
        </p:txBody>
      </p:sp>
      <p:sp>
        <p:nvSpPr>
          <p:cNvPr id="11" name="Text 8"/>
          <p:cNvSpPr txBox="1"/>
          <p:nvPr/>
        </p:nvSpPr>
        <p:spPr>
          <a:xfrm>
            <a:off x="6492240" y="2697480"/>
            <a:ext cx="4572000" cy="3291840"/>
          </a:xfrm>
          <a:prstGeom prst="rect">
            <a:avLst/>
          </a:prstGeom>
          <a:noFill/>
          <a:ln/>
        </p:spPr>
        <p:txBody>
          <a:bodyPr wrap="square" lIns="0" tIns="0" rIns="0" bIns="0" rtlCol="0" anchor="t"/>
          <a:lstStyle/>
          <a:p>
            <a:pPr marL="171450" indent="-171450">
              <a:spcBef>
                <a:spcPts val="500"/>
              </a:spcBef>
              <a:buFont typeface="Arial"/>
              <a:buChar char="•"/>
            </a:pPr>
            <a:r>
              <a:rPr lang="en-US" sz="1400" dirty="0">
                <a:latin typeface="Calibri" pitchFamily="34" charset="0"/>
                <a:ea typeface="Calibri" pitchFamily="34" charset="-122"/>
                <a:cs typeface="Calibri" pitchFamily="34" charset="-120"/>
              </a:rPr>
              <a:t>ImageNet-pretrained ResNet-18; only the last block (layer4) and a new 3-class output layer are trained.</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Input 224×224 with ImageNet normalisation.</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Same split, same 538 test images, 40-epoch budget and early stopping as the small CNN.</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Same procedure: learning-rate sweep (0.01 to 0.00003, seed 100), then 5 paired seeds.</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Chosen learning rates: SGD 0.01, Adagrad 0.001, RMSprop 0.0001, Adam 0.0003.</a:t>
            </a:r>
            <a:endParaRPr lang="en-US" sz="1400" dirty="0"/>
          </a:p>
        </p:txBody>
      </p:sp>
      <p:sp>
        <p:nvSpPr>
          <p:cNvPr id="12"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ResNet-18 was preferred over e.g. MobileNetV2 or EfficientNet-B0 for its simpler design and wider use as a baseline.</a:t>
            </a:r>
            <a:endParaRPr lang="en-US" sz="1100" dirty="0"/>
          </a:p>
        </p:txBody>
      </p:sp>
    </p:spTree>
    <p:extLst>
      <p:ext uri="{BB962C8B-B14F-4D97-AF65-F5344CB8AC3E}">
        <p14:creationId xmlns:p14="http://schemas.microsoft.com/office/powerpoint/2010/main" val="478007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A2E75965-01C9-46C9-85D9-3FB0947D1712}"/>
              </a:ext>
            </a:extLst>
          </p:cNvPr>
          <p:cNvGraphicFramePr>
            <a:graphicFrameLocks noGrp="1"/>
          </p:cNvGraphicFramePr>
          <p:nvPr>
            <p:extLst>
              <p:ext uri="{D42A27DB-BD31-4B8C-83A1-F6EECF244321}">
                <p14:modId xmlns:p14="http://schemas.microsoft.com/office/powerpoint/2010/main" val="1745289131"/>
              </p:ext>
            </p:extLst>
          </p:nvPr>
        </p:nvGraphicFramePr>
        <p:xfrm>
          <a:off x="1138679" y="1841536"/>
          <a:ext cx="9587095" cy="2103120"/>
        </p:xfrm>
        <a:graphic>
          <a:graphicData uri="http://schemas.openxmlformats.org/drawingml/2006/table">
            <a:tbl>
              <a:tblPr>
                <a:tableStyleId>{8EC20E35-A176-4012-BC5E-935CFFF8708E}</a:tableStyleId>
              </a:tblPr>
              <a:tblGrid>
                <a:gridCol w="1917419">
                  <a:extLst>
                    <a:ext uri="{9D8B030D-6E8A-4147-A177-3AD203B41FA5}">
                      <a16:colId xmlns:a16="http://schemas.microsoft.com/office/drawing/2014/main" val="2064577717"/>
                    </a:ext>
                  </a:extLst>
                </a:gridCol>
                <a:gridCol w="1917419">
                  <a:extLst>
                    <a:ext uri="{9D8B030D-6E8A-4147-A177-3AD203B41FA5}">
                      <a16:colId xmlns:a16="http://schemas.microsoft.com/office/drawing/2014/main" val="1555808720"/>
                    </a:ext>
                  </a:extLst>
                </a:gridCol>
                <a:gridCol w="1917419">
                  <a:extLst>
                    <a:ext uri="{9D8B030D-6E8A-4147-A177-3AD203B41FA5}">
                      <a16:colId xmlns:a16="http://schemas.microsoft.com/office/drawing/2014/main" val="2637355811"/>
                    </a:ext>
                  </a:extLst>
                </a:gridCol>
                <a:gridCol w="1917419">
                  <a:extLst>
                    <a:ext uri="{9D8B030D-6E8A-4147-A177-3AD203B41FA5}">
                      <a16:colId xmlns:a16="http://schemas.microsoft.com/office/drawing/2014/main" val="594504086"/>
                    </a:ext>
                  </a:extLst>
                </a:gridCol>
                <a:gridCol w="1917419">
                  <a:extLst>
                    <a:ext uri="{9D8B030D-6E8A-4147-A177-3AD203B41FA5}">
                      <a16:colId xmlns:a16="http://schemas.microsoft.com/office/drawing/2014/main" val="3979696717"/>
                    </a:ext>
                  </a:extLst>
                </a:gridCol>
              </a:tblGrid>
              <a:tr h="556591">
                <a:tc>
                  <a:txBody>
                    <a:bodyPr/>
                    <a:lstStyle/>
                    <a:p>
                      <a:r>
                        <a:rPr lang="en-US" b="1" dirty="0"/>
                        <a:t>Optimizer</a:t>
                      </a:r>
                    </a:p>
                  </a:txBody>
                  <a:tcPr anchor="ctr">
                    <a:lnB w="12700" cap="flat" cmpd="sng" algn="ctr">
                      <a:solidFill>
                        <a:schemeClr val="tx1"/>
                      </a:solidFill>
                      <a:prstDash val="solid"/>
                      <a:round/>
                      <a:headEnd type="none" w="med" len="med"/>
                      <a:tailEnd type="none" w="med" len="med"/>
                    </a:lnB>
                  </a:tcPr>
                </a:tc>
                <a:tc>
                  <a:txBody>
                    <a:bodyPr/>
                    <a:lstStyle/>
                    <a:p>
                      <a:r>
                        <a:rPr lang="en-US" b="1" dirty="0"/>
                        <a:t>Small CNN macro-F1</a:t>
                      </a:r>
                    </a:p>
                  </a:txBody>
                  <a:tcPr anchor="ctr">
                    <a:lnB w="12700" cap="flat" cmpd="sng" algn="ctr">
                      <a:solidFill>
                        <a:schemeClr val="tx1"/>
                      </a:solidFill>
                      <a:prstDash val="solid"/>
                      <a:round/>
                      <a:headEnd type="none" w="med" len="med"/>
                      <a:tailEnd type="none" w="med" len="med"/>
                    </a:lnB>
                  </a:tcPr>
                </a:tc>
                <a:tc>
                  <a:txBody>
                    <a:bodyPr/>
                    <a:lstStyle/>
                    <a:p>
                      <a:r>
                        <a:rPr lang="en-US" b="1" dirty="0"/>
                        <a:t>ResNet-18 macro-F1</a:t>
                      </a:r>
                    </a:p>
                  </a:txBody>
                  <a:tcPr anchor="ctr">
                    <a:lnB w="12700" cap="flat" cmpd="sng" algn="ctr">
                      <a:solidFill>
                        <a:schemeClr val="tx1"/>
                      </a:solidFill>
                      <a:prstDash val="solid"/>
                      <a:round/>
                      <a:headEnd type="none" w="med" len="med"/>
                      <a:tailEnd type="none" w="med" len="med"/>
                    </a:lnB>
                  </a:tcPr>
                </a:tc>
                <a:tc>
                  <a:txBody>
                    <a:bodyPr/>
                    <a:lstStyle/>
                    <a:p>
                      <a:r>
                        <a:rPr lang="en-US" b="1" dirty="0"/>
                        <a:t>Small CNN test errors</a:t>
                      </a:r>
                    </a:p>
                  </a:txBody>
                  <a:tcPr anchor="ctr">
                    <a:lnB w="12700" cap="flat" cmpd="sng" algn="ctr">
                      <a:solidFill>
                        <a:schemeClr val="tx1"/>
                      </a:solidFill>
                      <a:prstDash val="solid"/>
                      <a:round/>
                      <a:headEnd type="none" w="med" len="med"/>
                      <a:tailEnd type="none" w="med" len="med"/>
                    </a:lnB>
                  </a:tcPr>
                </a:tc>
                <a:tc>
                  <a:txBody>
                    <a:bodyPr/>
                    <a:lstStyle/>
                    <a:p>
                      <a:r>
                        <a:rPr lang="en-US" b="1" dirty="0"/>
                        <a:t>ResNet-18 test errors</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2269465"/>
                  </a:ext>
                </a:extLst>
              </a:tr>
              <a:tr h="318052">
                <a:tc>
                  <a:txBody>
                    <a:bodyPr/>
                    <a:lstStyle/>
                    <a:p>
                      <a:r>
                        <a:rPr lang="en-US" b="0"/>
                        <a:t>SGD</a:t>
                      </a:r>
                    </a:p>
                  </a:txBody>
                  <a:tcPr anchor="ctr">
                    <a:lnT w="12700" cap="flat" cmpd="sng" algn="ctr">
                      <a:solidFill>
                        <a:schemeClr val="tx1"/>
                      </a:solidFill>
                      <a:prstDash val="solid"/>
                      <a:round/>
                      <a:headEnd type="none" w="med" len="med"/>
                      <a:tailEnd type="none" w="med" len="med"/>
                    </a:lnT>
                  </a:tcPr>
                </a:tc>
                <a:tc>
                  <a:txBody>
                    <a:bodyPr/>
                    <a:lstStyle/>
                    <a:p>
                      <a:r>
                        <a:rPr lang="en-US" altLang="ko-KR" b="0" dirty="0"/>
                        <a:t>0.858 ± 0.008</a:t>
                      </a:r>
                    </a:p>
                  </a:txBody>
                  <a:tcPr anchor="ctr">
                    <a:lnT w="12700" cap="flat" cmpd="sng" algn="ctr">
                      <a:solidFill>
                        <a:schemeClr val="tx1"/>
                      </a:solidFill>
                      <a:prstDash val="solid"/>
                      <a:round/>
                      <a:headEnd type="none" w="med" len="med"/>
                      <a:tailEnd type="none" w="med" len="med"/>
                    </a:lnT>
                  </a:tcPr>
                </a:tc>
                <a:tc>
                  <a:txBody>
                    <a:bodyPr/>
                    <a:lstStyle/>
                    <a:p>
                      <a:r>
                        <a:rPr lang="en-US" altLang="ko-KR" b="0"/>
                        <a:t>0.986 ± 0.003</a:t>
                      </a:r>
                    </a:p>
                  </a:txBody>
                  <a:tcPr anchor="ctr">
                    <a:lnT w="12700" cap="flat" cmpd="sng" algn="ctr">
                      <a:solidFill>
                        <a:schemeClr val="tx1"/>
                      </a:solidFill>
                      <a:prstDash val="solid"/>
                      <a:round/>
                      <a:headEnd type="none" w="med" len="med"/>
                      <a:tailEnd type="none" w="med" len="med"/>
                    </a:lnT>
                  </a:tcPr>
                </a:tc>
                <a:tc>
                  <a:txBody>
                    <a:bodyPr/>
                    <a:lstStyle/>
                    <a:p>
                      <a:r>
                        <a:rPr lang="en-US" altLang="ko-KR" b="0"/>
                        <a:t>46.8</a:t>
                      </a:r>
                    </a:p>
                  </a:txBody>
                  <a:tcPr anchor="ctr">
                    <a:lnT w="12700" cap="flat" cmpd="sng" algn="ctr">
                      <a:solidFill>
                        <a:schemeClr val="tx1"/>
                      </a:solidFill>
                      <a:prstDash val="solid"/>
                      <a:round/>
                      <a:headEnd type="none" w="med" len="med"/>
                      <a:tailEnd type="none" w="med" len="med"/>
                    </a:lnT>
                  </a:tcPr>
                </a:tc>
                <a:tc>
                  <a:txBody>
                    <a:bodyPr/>
                    <a:lstStyle/>
                    <a:p>
                      <a:r>
                        <a:rPr lang="en-US" altLang="ko-KR" b="0"/>
                        <a:t>5.6</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08650806"/>
                  </a:ext>
                </a:extLst>
              </a:tr>
              <a:tr h="318052">
                <a:tc>
                  <a:txBody>
                    <a:bodyPr/>
                    <a:lstStyle/>
                    <a:p>
                      <a:r>
                        <a:rPr lang="en-US" b="0"/>
                        <a:t>Adagrad</a:t>
                      </a:r>
                    </a:p>
                  </a:txBody>
                  <a:tcPr anchor="ctr"/>
                </a:tc>
                <a:tc>
                  <a:txBody>
                    <a:bodyPr/>
                    <a:lstStyle/>
                    <a:p>
                      <a:r>
                        <a:rPr lang="en-US" altLang="ko-KR" b="0"/>
                        <a:t>0.883 ± 0.015</a:t>
                      </a:r>
                    </a:p>
                  </a:txBody>
                  <a:tcPr anchor="ctr"/>
                </a:tc>
                <a:tc>
                  <a:txBody>
                    <a:bodyPr/>
                    <a:lstStyle/>
                    <a:p>
                      <a:r>
                        <a:rPr lang="en-US" altLang="ko-KR" b="1"/>
                        <a:t>0.991 ± 0.003</a:t>
                      </a:r>
                    </a:p>
                  </a:txBody>
                  <a:tcPr anchor="ctr"/>
                </a:tc>
                <a:tc>
                  <a:txBody>
                    <a:bodyPr/>
                    <a:lstStyle/>
                    <a:p>
                      <a:r>
                        <a:rPr lang="en-US" altLang="ko-KR" b="0"/>
                        <a:t>39.8</a:t>
                      </a:r>
                    </a:p>
                  </a:txBody>
                  <a:tcPr anchor="ctr"/>
                </a:tc>
                <a:tc>
                  <a:txBody>
                    <a:bodyPr/>
                    <a:lstStyle/>
                    <a:p>
                      <a:r>
                        <a:rPr lang="en-US" altLang="ko-KR" b="1"/>
                        <a:t>3.6</a:t>
                      </a:r>
                    </a:p>
                  </a:txBody>
                  <a:tcPr anchor="ctr"/>
                </a:tc>
                <a:extLst>
                  <a:ext uri="{0D108BD9-81ED-4DB2-BD59-A6C34878D82A}">
                    <a16:rowId xmlns:a16="http://schemas.microsoft.com/office/drawing/2014/main" val="1462788900"/>
                  </a:ext>
                </a:extLst>
              </a:tr>
              <a:tr h="318052">
                <a:tc>
                  <a:txBody>
                    <a:bodyPr/>
                    <a:lstStyle/>
                    <a:p>
                      <a:r>
                        <a:rPr lang="en-US" b="0"/>
                        <a:t>RMSprop</a:t>
                      </a:r>
                    </a:p>
                  </a:txBody>
                  <a:tcPr anchor="ctr"/>
                </a:tc>
                <a:tc>
                  <a:txBody>
                    <a:bodyPr/>
                    <a:lstStyle/>
                    <a:p>
                      <a:r>
                        <a:rPr lang="en-US" altLang="ko-KR" b="0"/>
                        <a:t>0.898 ± 0.025</a:t>
                      </a:r>
                    </a:p>
                  </a:txBody>
                  <a:tcPr anchor="ctr"/>
                </a:tc>
                <a:tc>
                  <a:txBody>
                    <a:bodyPr/>
                    <a:lstStyle/>
                    <a:p>
                      <a:r>
                        <a:rPr lang="en-US" altLang="ko-KR" b="1"/>
                        <a:t>0.991 ± 0.004</a:t>
                      </a:r>
                    </a:p>
                  </a:txBody>
                  <a:tcPr anchor="ctr"/>
                </a:tc>
                <a:tc>
                  <a:txBody>
                    <a:bodyPr/>
                    <a:lstStyle/>
                    <a:p>
                      <a:r>
                        <a:rPr lang="en-US" altLang="ko-KR" b="0"/>
                        <a:t>35.8</a:t>
                      </a:r>
                    </a:p>
                  </a:txBody>
                  <a:tcPr anchor="ctr"/>
                </a:tc>
                <a:tc>
                  <a:txBody>
                    <a:bodyPr/>
                    <a:lstStyle/>
                    <a:p>
                      <a:r>
                        <a:rPr lang="en-US" altLang="ko-KR" b="0" dirty="0"/>
                        <a:t>3.8</a:t>
                      </a:r>
                    </a:p>
                  </a:txBody>
                  <a:tcPr anchor="ctr"/>
                </a:tc>
                <a:extLst>
                  <a:ext uri="{0D108BD9-81ED-4DB2-BD59-A6C34878D82A}">
                    <a16:rowId xmlns:a16="http://schemas.microsoft.com/office/drawing/2014/main" val="737302064"/>
                  </a:ext>
                </a:extLst>
              </a:tr>
              <a:tr h="318052">
                <a:tc>
                  <a:txBody>
                    <a:bodyPr/>
                    <a:lstStyle/>
                    <a:p>
                      <a:r>
                        <a:rPr lang="en-US" b="0"/>
                        <a:t>Adam</a:t>
                      </a:r>
                    </a:p>
                  </a:txBody>
                  <a:tcPr anchor="ctr"/>
                </a:tc>
                <a:tc>
                  <a:txBody>
                    <a:bodyPr/>
                    <a:lstStyle/>
                    <a:p>
                      <a:r>
                        <a:rPr lang="en-US" altLang="ko-KR" b="1"/>
                        <a:t>0.907 ± 0.023</a:t>
                      </a:r>
                    </a:p>
                  </a:txBody>
                  <a:tcPr anchor="ctr"/>
                </a:tc>
                <a:tc>
                  <a:txBody>
                    <a:bodyPr/>
                    <a:lstStyle/>
                    <a:p>
                      <a:r>
                        <a:rPr lang="en-US" altLang="ko-KR" b="0" dirty="0"/>
                        <a:t>0.990 ± 0.003</a:t>
                      </a:r>
                    </a:p>
                  </a:txBody>
                  <a:tcPr anchor="ctr"/>
                </a:tc>
                <a:tc>
                  <a:txBody>
                    <a:bodyPr/>
                    <a:lstStyle/>
                    <a:p>
                      <a:r>
                        <a:rPr lang="en-US" altLang="ko-KR" b="1"/>
                        <a:t>32.8</a:t>
                      </a:r>
                    </a:p>
                  </a:txBody>
                  <a:tcPr anchor="ctr"/>
                </a:tc>
                <a:tc>
                  <a:txBody>
                    <a:bodyPr/>
                    <a:lstStyle/>
                    <a:p>
                      <a:r>
                        <a:rPr lang="en-US" altLang="ko-KR" b="0" dirty="0"/>
                        <a:t>4.4</a:t>
                      </a:r>
                    </a:p>
                  </a:txBody>
                  <a:tcPr anchor="ctr"/>
                </a:tc>
                <a:extLst>
                  <a:ext uri="{0D108BD9-81ED-4DB2-BD59-A6C34878D82A}">
                    <a16:rowId xmlns:a16="http://schemas.microsoft.com/office/drawing/2014/main" val="543726844"/>
                  </a:ext>
                </a:extLst>
              </a:tr>
            </a:tbl>
          </a:graphicData>
        </a:graphic>
      </p:graphicFrame>
      <p:sp>
        <p:nvSpPr>
          <p:cNvPr id="6"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RESNET-18 COMPARISON  (ResNet-18 비교)</a:t>
            </a:r>
            <a:endParaRPr lang="en-US" sz="1200" dirty="0"/>
          </a:p>
        </p:txBody>
      </p:sp>
      <p:sp>
        <p:nvSpPr>
          <p:cNvPr id="7"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Small CNN vs ResNet-18</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소형 CNN 대 ResNet-18  ·  테스트 macro-F1과 오류 수 (538장 중)</a:t>
            </a:r>
            <a:endParaRPr lang="en-US" sz="3000" dirty="0"/>
          </a:p>
        </p:txBody>
      </p:sp>
      <p:sp>
        <p:nvSpPr>
          <p:cNvPr id="8" name="Text 8"/>
          <p:cNvSpPr txBox="1"/>
          <p:nvPr/>
        </p:nvSpPr>
        <p:spPr>
          <a:xfrm>
            <a:off x="1143000" y="4206240"/>
            <a:ext cx="9601200" cy="1737360"/>
          </a:xfrm>
          <a:prstGeom prst="rect">
            <a:avLst/>
          </a:prstGeom>
          <a:noFill/>
          <a:ln/>
        </p:spPr>
        <p:txBody>
          <a:bodyPr wrap="square" lIns="0" tIns="0" rIns="0" bIns="0" rtlCol="0" anchor="t"/>
          <a:lstStyle/>
          <a:p>
            <a:pPr marL="171450" indent="-171450">
              <a:spcBef>
                <a:spcPts val="600"/>
              </a:spcBef>
              <a:buFont typeface="Arial"/>
              <a:buChar char="•"/>
            </a:pPr>
            <a:r>
              <a:rPr lang="en-US" sz="1400" dirty="0">
                <a:latin typeface="Calibri" pitchFamily="34" charset="0"/>
                <a:ea typeface="Calibri" pitchFamily="34" charset="-122"/>
                <a:cs typeface="Calibri" pitchFamily="34" charset="-120"/>
              </a:rPr>
              <a:t>Every ResNet-18 run (lowest 0.983) scored higher than every small-CNN run (highest 0.934).</a:t>
            </a:r>
            <a:endParaRPr lang="en-US" sz="1400" dirty="0"/>
          </a:p>
          <a:p>
            <a:pPr marL="171450" indent="0">
              <a:buNone/>
            </a:pPr>
            <a:r>
              <a:rPr lang="en-US" sz="1400" dirty="0">
                <a:solidFill>
                  <a:srgbClr val="B5303B"/>
                </a:solidFill>
                <a:latin typeface="Calibri" pitchFamily="34" charset="0"/>
                <a:ea typeface="Malgun Gothic"/>
                <a:cs typeface="Calibri" pitchFamily="34" charset="-120"/>
              </a:rPr>
              <a:t>ResNet-18의 모든 실행이 소형 CNN의 모든 실행보다 높음</a:t>
            </a:r>
            <a:endParaRPr lang="en-US" sz="1400" dirty="0"/>
          </a:p>
          <a:p>
            <a:pPr marL="171450" indent="-171450">
              <a:spcBef>
                <a:spcPts val="600"/>
              </a:spcBef>
              <a:buFont typeface="Arial"/>
              <a:buChar char="•"/>
            </a:pPr>
            <a:r>
              <a:rPr lang="en-US" sz="1400" dirty="0">
                <a:latin typeface="Calibri" pitchFamily="34" charset="0"/>
                <a:ea typeface="Calibri" pitchFamily="34" charset="-122"/>
                <a:cs typeface="Calibri" pitchFamily="34" charset="-120"/>
              </a:rPr>
              <a:t>ResNet-18 makes about 90% fewer test errors: 4–6 instead of 33–47 of 538 images.</a:t>
            </a:r>
            <a:endParaRPr lang="en-US" sz="1400" dirty="0"/>
          </a:p>
          <a:p>
            <a:pPr marL="171450" indent="0">
              <a:buNone/>
            </a:pPr>
            <a:r>
              <a:rPr lang="en-US" sz="1400" dirty="0" err="1">
                <a:solidFill>
                  <a:srgbClr val="B5303B"/>
                </a:solidFill>
                <a:latin typeface="Calibri" pitchFamily="34" charset="0"/>
                <a:ea typeface="Malgun Gothic"/>
                <a:cs typeface="Calibri" pitchFamily="34" charset="-120"/>
              </a:rPr>
              <a:t>테스트</a:t>
            </a:r>
            <a:r>
              <a:rPr lang="en-US" sz="1400" dirty="0">
                <a:solidFill>
                  <a:srgbClr val="B5303B"/>
                </a:solidFill>
                <a:latin typeface="Calibri" pitchFamily="34" charset="0"/>
                <a:ea typeface="Malgun Gothic"/>
                <a:cs typeface="Calibri" pitchFamily="34" charset="-120"/>
              </a:rPr>
              <a:t> </a:t>
            </a:r>
            <a:r>
              <a:rPr lang="en-US" sz="1400" dirty="0" err="1">
                <a:solidFill>
                  <a:srgbClr val="B5303B"/>
                </a:solidFill>
                <a:latin typeface="Calibri" pitchFamily="34" charset="0"/>
                <a:ea typeface="Malgun Gothic"/>
                <a:cs typeface="Calibri" pitchFamily="34" charset="-120"/>
              </a:rPr>
              <a:t>오류</a:t>
            </a:r>
            <a:r>
              <a:rPr lang="en-US" sz="1400" dirty="0">
                <a:solidFill>
                  <a:srgbClr val="B5303B"/>
                </a:solidFill>
                <a:latin typeface="Calibri" pitchFamily="34" charset="0"/>
                <a:ea typeface="Malgun Gothic"/>
                <a:cs typeface="Calibri" pitchFamily="34" charset="-120"/>
              </a:rPr>
              <a:t> 약 90% </a:t>
            </a:r>
            <a:r>
              <a:rPr lang="en-US" sz="1400" dirty="0" err="1">
                <a:solidFill>
                  <a:srgbClr val="B5303B"/>
                </a:solidFill>
                <a:latin typeface="Calibri" pitchFamily="34" charset="0"/>
                <a:ea typeface="Malgun Gothic"/>
                <a:cs typeface="Calibri" pitchFamily="34" charset="-120"/>
              </a:rPr>
              <a:t>감소</a:t>
            </a:r>
            <a:endParaRPr lang="en-US" sz="1400" dirty="0"/>
          </a:p>
          <a:p>
            <a:pPr marL="171450" indent="-171450">
              <a:spcBef>
                <a:spcPts val="600"/>
              </a:spcBef>
              <a:buFont typeface="Arial"/>
              <a:buChar char="•"/>
            </a:pPr>
            <a:r>
              <a:rPr lang="en-US" sz="1400" dirty="0">
                <a:latin typeface="Calibri" pitchFamily="34" charset="0"/>
                <a:ea typeface="Calibri" pitchFamily="34" charset="-122"/>
                <a:cs typeface="Calibri" pitchFamily="34" charset="-120"/>
              </a:rPr>
              <a:t>The gain is biggest for SGD (+0.129) and smallest for Adam (+0.083).</a:t>
            </a:r>
            <a:endParaRPr lang="en-US" sz="1400" dirty="0"/>
          </a:p>
          <a:p>
            <a:pPr marL="171450" indent="0">
              <a:buNone/>
            </a:pPr>
            <a:r>
              <a:rPr lang="en-US" sz="1400" dirty="0" err="1">
                <a:solidFill>
                  <a:srgbClr val="B5303B"/>
                </a:solidFill>
                <a:latin typeface="Calibri" pitchFamily="34" charset="0"/>
                <a:ea typeface="Malgun Gothic"/>
                <a:cs typeface="Calibri" pitchFamily="34" charset="-120"/>
              </a:rPr>
              <a:t>향상</a:t>
            </a:r>
            <a:r>
              <a:rPr lang="en-US" sz="1400" dirty="0">
                <a:solidFill>
                  <a:srgbClr val="B5303B"/>
                </a:solidFill>
                <a:latin typeface="Calibri" pitchFamily="34" charset="0"/>
                <a:ea typeface="Malgun Gothic"/>
                <a:cs typeface="Calibri" pitchFamily="34" charset="-120"/>
              </a:rPr>
              <a:t> 폭: SGD 최대, Adam 최소</a:t>
            </a:r>
            <a:endParaRPr lang="en-US" sz="1400" dirty="0"/>
          </a:p>
        </p:txBody>
      </p:sp>
      <p:sp>
        <p:nvSpPr>
          <p:cNvPr id="9"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Mean ± SD over 5 seeds. Test errors = mean number of misclassified test images (of 538). Bold = best per column.</a:t>
            </a:r>
            <a:endParaRPr lang="en-US" sz="1100" dirty="0"/>
          </a:p>
        </p:txBody>
      </p:sp>
    </p:spTree>
    <p:extLst>
      <p:ext uri="{BB962C8B-B14F-4D97-AF65-F5344CB8AC3E}">
        <p14:creationId xmlns:p14="http://schemas.microsoft.com/office/powerpoint/2010/main" val="2079369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46BD9BD7-0A08-4FEE-95CF-22B4DA2C21ED}"/>
              </a:ext>
            </a:extLst>
          </p:cNvPr>
          <p:cNvGraphicFramePr>
            <a:graphicFrameLocks noGrp="1"/>
          </p:cNvGraphicFramePr>
          <p:nvPr>
            <p:extLst>
              <p:ext uri="{D42A27DB-BD31-4B8C-83A1-F6EECF244321}">
                <p14:modId xmlns:p14="http://schemas.microsoft.com/office/powerpoint/2010/main" val="2730901750"/>
              </p:ext>
            </p:extLst>
          </p:nvPr>
        </p:nvGraphicFramePr>
        <p:xfrm>
          <a:off x="687572" y="1698234"/>
          <a:ext cx="10816857" cy="1828800"/>
        </p:xfrm>
        <a:graphic>
          <a:graphicData uri="http://schemas.openxmlformats.org/drawingml/2006/table">
            <a:tbl>
              <a:tblPr>
                <a:tableStyleId>{8EC20E35-A176-4012-BC5E-935CFFF8708E}</a:tableStyleId>
              </a:tblPr>
              <a:tblGrid>
                <a:gridCol w="1201873">
                  <a:extLst>
                    <a:ext uri="{9D8B030D-6E8A-4147-A177-3AD203B41FA5}">
                      <a16:colId xmlns:a16="http://schemas.microsoft.com/office/drawing/2014/main" val="163705872"/>
                    </a:ext>
                  </a:extLst>
                </a:gridCol>
                <a:gridCol w="1201873">
                  <a:extLst>
                    <a:ext uri="{9D8B030D-6E8A-4147-A177-3AD203B41FA5}">
                      <a16:colId xmlns:a16="http://schemas.microsoft.com/office/drawing/2014/main" val="1034518869"/>
                    </a:ext>
                  </a:extLst>
                </a:gridCol>
                <a:gridCol w="1201873">
                  <a:extLst>
                    <a:ext uri="{9D8B030D-6E8A-4147-A177-3AD203B41FA5}">
                      <a16:colId xmlns:a16="http://schemas.microsoft.com/office/drawing/2014/main" val="917868803"/>
                    </a:ext>
                  </a:extLst>
                </a:gridCol>
                <a:gridCol w="1201873">
                  <a:extLst>
                    <a:ext uri="{9D8B030D-6E8A-4147-A177-3AD203B41FA5}">
                      <a16:colId xmlns:a16="http://schemas.microsoft.com/office/drawing/2014/main" val="4289309496"/>
                    </a:ext>
                  </a:extLst>
                </a:gridCol>
                <a:gridCol w="1201873">
                  <a:extLst>
                    <a:ext uri="{9D8B030D-6E8A-4147-A177-3AD203B41FA5}">
                      <a16:colId xmlns:a16="http://schemas.microsoft.com/office/drawing/2014/main" val="869998245"/>
                    </a:ext>
                  </a:extLst>
                </a:gridCol>
                <a:gridCol w="1201873">
                  <a:extLst>
                    <a:ext uri="{9D8B030D-6E8A-4147-A177-3AD203B41FA5}">
                      <a16:colId xmlns:a16="http://schemas.microsoft.com/office/drawing/2014/main" val="2778376667"/>
                    </a:ext>
                  </a:extLst>
                </a:gridCol>
                <a:gridCol w="1201873">
                  <a:extLst>
                    <a:ext uri="{9D8B030D-6E8A-4147-A177-3AD203B41FA5}">
                      <a16:colId xmlns:a16="http://schemas.microsoft.com/office/drawing/2014/main" val="254765365"/>
                    </a:ext>
                  </a:extLst>
                </a:gridCol>
                <a:gridCol w="1201873">
                  <a:extLst>
                    <a:ext uri="{9D8B030D-6E8A-4147-A177-3AD203B41FA5}">
                      <a16:colId xmlns:a16="http://schemas.microsoft.com/office/drawing/2014/main" val="1154857212"/>
                    </a:ext>
                  </a:extLst>
                </a:gridCol>
                <a:gridCol w="1201873">
                  <a:extLst>
                    <a:ext uri="{9D8B030D-6E8A-4147-A177-3AD203B41FA5}">
                      <a16:colId xmlns:a16="http://schemas.microsoft.com/office/drawing/2014/main" val="2685332866"/>
                    </a:ext>
                  </a:extLst>
                </a:gridCol>
              </a:tblGrid>
              <a:tr h="346153">
                <a:tc>
                  <a:txBody>
                    <a:bodyPr/>
                    <a:lstStyle/>
                    <a:p>
                      <a:r>
                        <a:rPr lang="en-US" b="1" dirty="0"/>
                        <a:t>Small CNN</a:t>
                      </a:r>
                    </a:p>
                  </a:txBody>
                  <a:tcPr anchor="ctr">
                    <a:lnB w="12700" cap="flat" cmpd="sng" algn="ctr">
                      <a:solidFill>
                        <a:schemeClr val="tx1"/>
                      </a:solidFill>
                      <a:prstDash val="solid"/>
                      <a:round/>
                      <a:headEnd type="none" w="med" len="med"/>
                      <a:tailEnd type="none" w="med" len="med"/>
                    </a:lnB>
                  </a:tcPr>
                </a:tc>
                <a:tc>
                  <a:txBody>
                    <a:bodyPr/>
                    <a:lstStyle/>
                    <a:p>
                      <a:r>
                        <a:rPr lang="en-US" b="1" dirty="0"/>
                        <a:t>Seed 0</a:t>
                      </a:r>
                    </a:p>
                  </a:txBody>
                  <a:tcPr anchor="ctr">
                    <a:lnB w="12700" cap="flat" cmpd="sng" algn="ctr">
                      <a:solidFill>
                        <a:schemeClr val="tx1"/>
                      </a:solidFill>
                      <a:prstDash val="solid"/>
                      <a:round/>
                      <a:headEnd type="none" w="med" len="med"/>
                      <a:tailEnd type="none" w="med" len="med"/>
                    </a:lnB>
                  </a:tcPr>
                </a:tc>
                <a:tc>
                  <a:txBody>
                    <a:bodyPr/>
                    <a:lstStyle/>
                    <a:p>
                      <a:r>
                        <a:rPr lang="en-US" b="1"/>
                        <a:t>Seed 1</a:t>
                      </a:r>
                    </a:p>
                  </a:txBody>
                  <a:tcPr anchor="ctr">
                    <a:lnB w="12700" cap="flat" cmpd="sng" algn="ctr">
                      <a:solidFill>
                        <a:schemeClr val="tx1"/>
                      </a:solidFill>
                      <a:prstDash val="solid"/>
                      <a:round/>
                      <a:headEnd type="none" w="med" len="med"/>
                      <a:tailEnd type="none" w="med" len="med"/>
                    </a:lnB>
                  </a:tcPr>
                </a:tc>
                <a:tc>
                  <a:txBody>
                    <a:bodyPr/>
                    <a:lstStyle/>
                    <a:p>
                      <a:r>
                        <a:rPr lang="en-US" b="1" dirty="0"/>
                        <a:t>Seed 2</a:t>
                      </a:r>
                    </a:p>
                  </a:txBody>
                  <a:tcPr anchor="ctr">
                    <a:lnB w="12700" cap="flat" cmpd="sng" algn="ctr">
                      <a:solidFill>
                        <a:schemeClr val="tx1"/>
                      </a:solidFill>
                      <a:prstDash val="solid"/>
                      <a:round/>
                      <a:headEnd type="none" w="med" len="med"/>
                      <a:tailEnd type="none" w="med" len="med"/>
                    </a:lnB>
                  </a:tcPr>
                </a:tc>
                <a:tc>
                  <a:txBody>
                    <a:bodyPr/>
                    <a:lstStyle/>
                    <a:p>
                      <a:r>
                        <a:rPr lang="en-US" b="1" dirty="0"/>
                        <a:t>Seed 3</a:t>
                      </a:r>
                    </a:p>
                  </a:txBody>
                  <a:tcPr anchor="ctr">
                    <a:lnB w="12700" cap="flat" cmpd="sng" algn="ctr">
                      <a:solidFill>
                        <a:schemeClr val="tx1"/>
                      </a:solidFill>
                      <a:prstDash val="solid"/>
                      <a:round/>
                      <a:headEnd type="none" w="med" len="med"/>
                      <a:tailEnd type="none" w="med" len="med"/>
                    </a:lnB>
                  </a:tcPr>
                </a:tc>
                <a:tc>
                  <a:txBody>
                    <a:bodyPr/>
                    <a:lstStyle/>
                    <a:p>
                      <a:r>
                        <a:rPr lang="en-US" b="1" dirty="0"/>
                        <a:t>Seed 4</a:t>
                      </a:r>
                    </a:p>
                  </a:txBody>
                  <a:tcPr anchor="ctr">
                    <a:lnB w="12700" cap="flat" cmpd="sng" algn="ctr">
                      <a:solidFill>
                        <a:schemeClr val="tx1"/>
                      </a:solidFill>
                      <a:prstDash val="solid"/>
                      <a:round/>
                      <a:headEnd type="none" w="med" len="med"/>
                      <a:tailEnd type="none" w="med" len="med"/>
                    </a:lnB>
                  </a:tcPr>
                </a:tc>
                <a:tc>
                  <a:txBody>
                    <a:bodyPr/>
                    <a:lstStyle/>
                    <a:p>
                      <a:r>
                        <a:rPr lang="en-US" b="1" dirty="0"/>
                        <a:t>Mean</a:t>
                      </a:r>
                    </a:p>
                  </a:txBody>
                  <a:tcPr anchor="ct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b="1" dirty="0"/>
                        <a:t>Lowest</a:t>
                      </a:r>
                    </a:p>
                  </a:txBody>
                  <a:tcPr anchor="ctr">
                    <a:lnB w="12700" cap="flat" cmpd="sng" algn="ctr">
                      <a:solidFill>
                        <a:schemeClr val="tx1"/>
                      </a:solidFill>
                      <a:prstDash val="solid"/>
                      <a:round/>
                      <a:headEnd type="none" w="med" len="med"/>
                      <a:tailEnd type="none" w="med" len="med"/>
                    </a:lnB>
                  </a:tcPr>
                </a:tc>
                <a:tc>
                  <a:txBody>
                    <a:bodyPr/>
                    <a:lstStyle/>
                    <a:p>
                      <a:r>
                        <a:rPr lang="en-US" b="1" dirty="0"/>
                        <a:t>Highest</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5388019"/>
                  </a:ext>
                </a:extLst>
              </a:tr>
              <a:tr h="346153">
                <a:tc>
                  <a:txBody>
                    <a:bodyPr/>
                    <a:lstStyle/>
                    <a:p>
                      <a:r>
                        <a:rPr lang="en-US" b="0"/>
                        <a:t>SGD</a:t>
                      </a:r>
                    </a:p>
                  </a:txBody>
                  <a:tcPr anchor="ctr">
                    <a:lnT w="12700" cap="flat" cmpd="sng" algn="ctr">
                      <a:solidFill>
                        <a:schemeClr val="tx1"/>
                      </a:solidFill>
                      <a:prstDash val="solid"/>
                      <a:round/>
                      <a:headEnd type="none" w="med" len="med"/>
                      <a:tailEnd type="none" w="med" len="med"/>
                    </a:lnT>
                  </a:tcPr>
                </a:tc>
                <a:tc>
                  <a:txBody>
                    <a:bodyPr/>
                    <a:lstStyle/>
                    <a:p>
                      <a:r>
                        <a:rPr lang="en-US" altLang="ko-KR" b="0"/>
                        <a:t>0.849</a:t>
                      </a:r>
                    </a:p>
                  </a:txBody>
                  <a:tcPr anchor="ctr">
                    <a:lnT w="12700" cap="flat" cmpd="sng" algn="ctr">
                      <a:solidFill>
                        <a:schemeClr val="tx1"/>
                      </a:solidFill>
                      <a:prstDash val="solid"/>
                      <a:round/>
                      <a:headEnd type="none" w="med" len="med"/>
                      <a:tailEnd type="none" w="med" len="med"/>
                    </a:lnT>
                  </a:tcPr>
                </a:tc>
                <a:tc>
                  <a:txBody>
                    <a:bodyPr/>
                    <a:lstStyle/>
                    <a:p>
                      <a:r>
                        <a:rPr lang="en-US" altLang="ko-KR" b="0"/>
                        <a:t>0.853</a:t>
                      </a:r>
                    </a:p>
                  </a:txBody>
                  <a:tcPr anchor="ctr">
                    <a:lnT w="12700" cap="flat" cmpd="sng" algn="ctr">
                      <a:solidFill>
                        <a:schemeClr val="tx1"/>
                      </a:solidFill>
                      <a:prstDash val="solid"/>
                      <a:round/>
                      <a:headEnd type="none" w="med" len="med"/>
                      <a:tailEnd type="none" w="med" len="med"/>
                    </a:lnT>
                  </a:tcPr>
                </a:tc>
                <a:tc>
                  <a:txBody>
                    <a:bodyPr/>
                    <a:lstStyle/>
                    <a:p>
                      <a:r>
                        <a:rPr lang="en-US" altLang="ko-KR" b="0"/>
                        <a:t>0.865</a:t>
                      </a:r>
                    </a:p>
                  </a:txBody>
                  <a:tcPr anchor="ctr">
                    <a:lnT w="12700" cap="flat" cmpd="sng" algn="ctr">
                      <a:solidFill>
                        <a:schemeClr val="tx1"/>
                      </a:solidFill>
                      <a:prstDash val="solid"/>
                      <a:round/>
                      <a:headEnd type="none" w="med" len="med"/>
                      <a:tailEnd type="none" w="med" len="med"/>
                    </a:lnT>
                  </a:tcPr>
                </a:tc>
                <a:tc>
                  <a:txBody>
                    <a:bodyPr/>
                    <a:lstStyle/>
                    <a:p>
                      <a:r>
                        <a:rPr lang="en-US" altLang="ko-KR" b="0" dirty="0"/>
                        <a:t>0.854</a:t>
                      </a:r>
                    </a:p>
                  </a:txBody>
                  <a:tcPr anchor="ctr">
                    <a:lnT w="12700" cap="flat" cmpd="sng" algn="ctr">
                      <a:solidFill>
                        <a:schemeClr val="tx1"/>
                      </a:solidFill>
                      <a:prstDash val="solid"/>
                      <a:round/>
                      <a:headEnd type="none" w="med" len="med"/>
                      <a:tailEnd type="none" w="med" len="med"/>
                    </a:lnT>
                  </a:tcPr>
                </a:tc>
                <a:tc>
                  <a:txBody>
                    <a:bodyPr/>
                    <a:lstStyle/>
                    <a:p>
                      <a:r>
                        <a:rPr lang="en-US" altLang="ko-KR" b="0"/>
                        <a:t>0.867</a:t>
                      </a:r>
                    </a:p>
                  </a:txBody>
                  <a:tcPr anchor="ctr">
                    <a:lnT w="12700" cap="flat" cmpd="sng" algn="ctr">
                      <a:solidFill>
                        <a:schemeClr val="tx1"/>
                      </a:solidFill>
                      <a:prstDash val="solid"/>
                      <a:round/>
                      <a:headEnd type="none" w="med" len="med"/>
                      <a:tailEnd type="none" w="med" len="med"/>
                    </a:lnT>
                  </a:tcPr>
                </a:tc>
                <a:tc>
                  <a:txBody>
                    <a:bodyPr/>
                    <a:lstStyle/>
                    <a:p>
                      <a:r>
                        <a:rPr lang="en-US" altLang="ko-KR" b="0" dirty="0"/>
                        <a:t>0.858</a:t>
                      </a:r>
                    </a:p>
                  </a:txBody>
                  <a:tcPr anchor="ct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r>
                        <a:rPr lang="en-US" altLang="ko-KR" b="0"/>
                        <a:t>0.849</a:t>
                      </a:r>
                    </a:p>
                  </a:txBody>
                  <a:tcPr anchor="ctr">
                    <a:lnT w="12700" cap="flat" cmpd="sng" algn="ctr">
                      <a:solidFill>
                        <a:schemeClr val="tx1"/>
                      </a:solidFill>
                      <a:prstDash val="solid"/>
                      <a:round/>
                      <a:headEnd type="none" w="med" len="med"/>
                      <a:tailEnd type="none" w="med" len="med"/>
                    </a:lnT>
                  </a:tcPr>
                </a:tc>
                <a:tc>
                  <a:txBody>
                    <a:bodyPr/>
                    <a:lstStyle/>
                    <a:p>
                      <a:r>
                        <a:rPr lang="en-US" altLang="ko-KR" b="0"/>
                        <a:t>0.867</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64005551"/>
                  </a:ext>
                </a:extLst>
              </a:tr>
              <a:tr h="346153">
                <a:tc>
                  <a:txBody>
                    <a:bodyPr/>
                    <a:lstStyle/>
                    <a:p>
                      <a:r>
                        <a:rPr lang="en-US" b="0"/>
                        <a:t>Adagrad</a:t>
                      </a:r>
                    </a:p>
                  </a:txBody>
                  <a:tcPr anchor="ctr"/>
                </a:tc>
                <a:tc>
                  <a:txBody>
                    <a:bodyPr/>
                    <a:lstStyle/>
                    <a:p>
                      <a:r>
                        <a:rPr lang="en-US" altLang="ko-KR" b="0"/>
                        <a:t>0.885</a:t>
                      </a:r>
                    </a:p>
                  </a:txBody>
                  <a:tcPr anchor="ctr"/>
                </a:tc>
                <a:tc>
                  <a:txBody>
                    <a:bodyPr/>
                    <a:lstStyle/>
                    <a:p>
                      <a:r>
                        <a:rPr lang="en-US" altLang="ko-KR" b="0"/>
                        <a:t>0.902</a:t>
                      </a:r>
                    </a:p>
                  </a:txBody>
                  <a:tcPr anchor="ctr"/>
                </a:tc>
                <a:tc>
                  <a:txBody>
                    <a:bodyPr/>
                    <a:lstStyle/>
                    <a:p>
                      <a:r>
                        <a:rPr lang="en-US" altLang="ko-KR" b="0"/>
                        <a:t>0.871</a:t>
                      </a:r>
                    </a:p>
                  </a:txBody>
                  <a:tcPr anchor="ctr"/>
                </a:tc>
                <a:tc>
                  <a:txBody>
                    <a:bodyPr/>
                    <a:lstStyle/>
                    <a:p>
                      <a:r>
                        <a:rPr lang="en-US" altLang="ko-KR" b="0"/>
                        <a:t>0.865</a:t>
                      </a:r>
                    </a:p>
                  </a:txBody>
                  <a:tcPr anchor="ctr"/>
                </a:tc>
                <a:tc>
                  <a:txBody>
                    <a:bodyPr/>
                    <a:lstStyle/>
                    <a:p>
                      <a:r>
                        <a:rPr lang="en-US" altLang="ko-KR" b="0"/>
                        <a:t>0.889</a:t>
                      </a:r>
                    </a:p>
                  </a:txBody>
                  <a:tcPr anchor="ctr"/>
                </a:tc>
                <a:tc>
                  <a:txBody>
                    <a:bodyPr/>
                    <a:lstStyle/>
                    <a:p>
                      <a:r>
                        <a:rPr lang="en-US" altLang="ko-KR" b="0" dirty="0"/>
                        <a:t>0.883</a:t>
                      </a:r>
                    </a:p>
                  </a:txBody>
                  <a:tcPr anchor="ctr">
                    <a:solidFill>
                      <a:schemeClr val="accent6">
                        <a:lumMod val="20000"/>
                        <a:lumOff val="80000"/>
                      </a:schemeClr>
                    </a:solidFill>
                  </a:tcPr>
                </a:tc>
                <a:tc>
                  <a:txBody>
                    <a:bodyPr/>
                    <a:lstStyle/>
                    <a:p>
                      <a:r>
                        <a:rPr lang="en-US" altLang="ko-KR" b="0"/>
                        <a:t>0.865</a:t>
                      </a:r>
                    </a:p>
                  </a:txBody>
                  <a:tcPr anchor="ctr"/>
                </a:tc>
                <a:tc>
                  <a:txBody>
                    <a:bodyPr/>
                    <a:lstStyle/>
                    <a:p>
                      <a:r>
                        <a:rPr lang="en-US" altLang="ko-KR" b="0"/>
                        <a:t>0.902</a:t>
                      </a:r>
                    </a:p>
                  </a:txBody>
                  <a:tcPr anchor="ctr"/>
                </a:tc>
                <a:extLst>
                  <a:ext uri="{0D108BD9-81ED-4DB2-BD59-A6C34878D82A}">
                    <a16:rowId xmlns:a16="http://schemas.microsoft.com/office/drawing/2014/main" val="3545616898"/>
                  </a:ext>
                </a:extLst>
              </a:tr>
              <a:tr h="346153">
                <a:tc>
                  <a:txBody>
                    <a:bodyPr/>
                    <a:lstStyle/>
                    <a:p>
                      <a:r>
                        <a:rPr lang="en-US" b="0"/>
                        <a:t>RMSprop</a:t>
                      </a:r>
                    </a:p>
                  </a:txBody>
                  <a:tcPr anchor="ctr"/>
                </a:tc>
                <a:tc>
                  <a:txBody>
                    <a:bodyPr/>
                    <a:lstStyle/>
                    <a:p>
                      <a:r>
                        <a:rPr lang="en-US" altLang="ko-KR" b="0"/>
                        <a:t>0.899</a:t>
                      </a:r>
                    </a:p>
                  </a:txBody>
                  <a:tcPr anchor="ctr"/>
                </a:tc>
                <a:tc>
                  <a:txBody>
                    <a:bodyPr/>
                    <a:lstStyle/>
                    <a:p>
                      <a:r>
                        <a:rPr lang="en-US" altLang="ko-KR" b="1"/>
                        <a:t>0.934</a:t>
                      </a:r>
                      <a:endParaRPr lang="ko-KR" altLang="en-US"/>
                    </a:p>
                  </a:txBody>
                  <a:tcPr anchor="ctr"/>
                </a:tc>
                <a:tc>
                  <a:txBody>
                    <a:bodyPr/>
                    <a:lstStyle/>
                    <a:p>
                      <a:r>
                        <a:rPr lang="en-US" altLang="ko-KR" b="0"/>
                        <a:t>0.906</a:t>
                      </a:r>
                    </a:p>
                  </a:txBody>
                  <a:tcPr anchor="ctr"/>
                </a:tc>
                <a:tc>
                  <a:txBody>
                    <a:bodyPr/>
                    <a:lstStyle/>
                    <a:p>
                      <a:r>
                        <a:rPr lang="en-US" altLang="ko-KR" b="0"/>
                        <a:t>0.883</a:t>
                      </a:r>
                    </a:p>
                  </a:txBody>
                  <a:tcPr anchor="ctr"/>
                </a:tc>
                <a:tc>
                  <a:txBody>
                    <a:bodyPr/>
                    <a:lstStyle/>
                    <a:p>
                      <a:r>
                        <a:rPr lang="en-US" altLang="ko-KR" b="0" dirty="0"/>
                        <a:t>0.868</a:t>
                      </a:r>
                    </a:p>
                  </a:txBody>
                  <a:tcPr anchor="ctr"/>
                </a:tc>
                <a:tc>
                  <a:txBody>
                    <a:bodyPr/>
                    <a:lstStyle/>
                    <a:p>
                      <a:r>
                        <a:rPr lang="en-US" altLang="ko-KR" b="0" dirty="0"/>
                        <a:t>0.898</a:t>
                      </a:r>
                    </a:p>
                  </a:txBody>
                  <a:tcPr anchor="ctr">
                    <a:solidFill>
                      <a:schemeClr val="accent6">
                        <a:lumMod val="20000"/>
                        <a:lumOff val="80000"/>
                      </a:schemeClr>
                    </a:solidFill>
                  </a:tcPr>
                </a:tc>
                <a:tc>
                  <a:txBody>
                    <a:bodyPr/>
                    <a:lstStyle/>
                    <a:p>
                      <a:r>
                        <a:rPr lang="en-US" altLang="ko-KR" b="0"/>
                        <a:t>0.868</a:t>
                      </a:r>
                    </a:p>
                  </a:txBody>
                  <a:tcPr anchor="ctr"/>
                </a:tc>
                <a:tc>
                  <a:txBody>
                    <a:bodyPr/>
                    <a:lstStyle/>
                    <a:p>
                      <a:r>
                        <a:rPr lang="en-US" altLang="ko-KR" b="0"/>
                        <a:t>0.934</a:t>
                      </a:r>
                    </a:p>
                  </a:txBody>
                  <a:tcPr anchor="ctr"/>
                </a:tc>
                <a:extLst>
                  <a:ext uri="{0D108BD9-81ED-4DB2-BD59-A6C34878D82A}">
                    <a16:rowId xmlns:a16="http://schemas.microsoft.com/office/drawing/2014/main" val="1538835878"/>
                  </a:ext>
                </a:extLst>
              </a:tr>
              <a:tr h="346153">
                <a:tc>
                  <a:txBody>
                    <a:bodyPr/>
                    <a:lstStyle/>
                    <a:p>
                      <a:r>
                        <a:rPr lang="en-US" b="0"/>
                        <a:t>Adam</a:t>
                      </a:r>
                    </a:p>
                  </a:txBody>
                  <a:tcPr anchor="ctr"/>
                </a:tc>
                <a:tc>
                  <a:txBody>
                    <a:bodyPr/>
                    <a:lstStyle/>
                    <a:p>
                      <a:r>
                        <a:rPr lang="en-US" altLang="ko-KR" b="0"/>
                        <a:t>0.908</a:t>
                      </a:r>
                    </a:p>
                  </a:txBody>
                  <a:tcPr anchor="ctr"/>
                </a:tc>
                <a:tc>
                  <a:txBody>
                    <a:bodyPr/>
                    <a:lstStyle/>
                    <a:p>
                      <a:r>
                        <a:rPr lang="en-US" altLang="ko-KR" b="0"/>
                        <a:t>0.896</a:t>
                      </a:r>
                    </a:p>
                  </a:txBody>
                  <a:tcPr anchor="ctr"/>
                </a:tc>
                <a:tc>
                  <a:txBody>
                    <a:bodyPr/>
                    <a:lstStyle/>
                    <a:p>
                      <a:r>
                        <a:rPr lang="en-US" altLang="ko-KR" b="0"/>
                        <a:t>0.875</a:t>
                      </a:r>
                    </a:p>
                  </a:txBody>
                  <a:tcPr anchor="ctr"/>
                </a:tc>
                <a:tc>
                  <a:txBody>
                    <a:bodyPr/>
                    <a:lstStyle/>
                    <a:p>
                      <a:r>
                        <a:rPr lang="en-US" altLang="ko-KR" b="0"/>
                        <a:t>0.921</a:t>
                      </a:r>
                    </a:p>
                  </a:txBody>
                  <a:tcPr anchor="ctr"/>
                </a:tc>
                <a:tc>
                  <a:txBody>
                    <a:bodyPr/>
                    <a:lstStyle/>
                    <a:p>
                      <a:r>
                        <a:rPr lang="en-US" altLang="ko-KR" b="0" dirty="0"/>
                        <a:t>0.934</a:t>
                      </a:r>
                    </a:p>
                  </a:txBody>
                  <a:tcPr anchor="ctr"/>
                </a:tc>
                <a:tc>
                  <a:txBody>
                    <a:bodyPr/>
                    <a:lstStyle/>
                    <a:p>
                      <a:r>
                        <a:rPr lang="en-US" altLang="ko-KR" b="0" dirty="0"/>
                        <a:t>0.907</a:t>
                      </a:r>
                    </a:p>
                  </a:txBody>
                  <a:tcPr anchor="ctr">
                    <a:solidFill>
                      <a:schemeClr val="accent6">
                        <a:lumMod val="20000"/>
                        <a:lumOff val="80000"/>
                      </a:schemeClr>
                    </a:solidFill>
                  </a:tcPr>
                </a:tc>
                <a:tc>
                  <a:txBody>
                    <a:bodyPr/>
                    <a:lstStyle/>
                    <a:p>
                      <a:r>
                        <a:rPr lang="en-US" altLang="ko-KR" b="0"/>
                        <a:t>0.875</a:t>
                      </a:r>
                    </a:p>
                  </a:txBody>
                  <a:tcPr anchor="ctr"/>
                </a:tc>
                <a:tc>
                  <a:txBody>
                    <a:bodyPr/>
                    <a:lstStyle/>
                    <a:p>
                      <a:r>
                        <a:rPr lang="en-US" altLang="ko-KR" b="0" dirty="0"/>
                        <a:t>0.934</a:t>
                      </a:r>
                    </a:p>
                  </a:txBody>
                  <a:tcPr anchor="ctr"/>
                </a:tc>
                <a:extLst>
                  <a:ext uri="{0D108BD9-81ED-4DB2-BD59-A6C34878D82A}">
                    <a16:rowId xmlns:a16="http://schemas.microsoft.com/office/drawing/2014/main" val="225651843"/>
                  </a:ext>
                </a:extLst>
              </a:tr>
            </a:tbl>
          </a:graphicData>
        </a:graphic>
      </p:graphicFrame>
      <p:graphicFrame>
        <p:nvGraphicFramePr>
          <p:cNvPr id="9" name="표 8">
            <a:extLst>
              <a:ext uri="{FF2B5EF4-FFF2-40B4-BE49-F238E27FC236}">
                <a16:creationId xmlns:a16="http://schemas.microsoft.com/office/drawing/2014/main" id="{0894E9F6-75ED-4F12-BAAC-2E6B20C7105D}"/>
              </a:ext>
            </a:extLst>
          </p:cNvPr>
          <p:cNvGraphicFramePr>
            <a:graphicFrameLocks noGrp="1"/>
          </p:cNvGraphicFramePr>
          <p:nvPr>
            <p:extLst>
              <p:ext uri="{D42A27DB-BD31-4B8C-83A1-F6EECF244321}">
                <p14:modId xmlns:p14="http://schemas.microsoft.com/office/powerpoint/2010/main" val="3268387556"/>
              </p:ext>
            </p:extLst>
          </p:nvPr>
        </p:nvGraphicFramePr>
        <p:xfrm>
          <a:off x="687572" y="3619893"/>
          <a:ext cx="10816857" cy="1828800"/>
        </p:xfrm>
        <a:graphic>
          <a:graphicData uri="http://schemas.openxmlformats.org/drawingml/2006/table">
            <a:tbl>
              <a:tblPr>
                <a:tableStyleId>{8EC20E35-A176-4012-BC5E-935CFFF8708E}</a:tableStyleId>
              </a:tblPr>
              <a:tblGrid>
                <a:gridCol w="1201873">
                  <a:extLst>
                    <a:ext uri="{9D8B030D-6E8A-4147-A177-3AD203B41FA5}">
                      <a16:colId xmlns:a16="http://schemas.microsoft.com/office/drawing/2014/main" val="2810365462"/>
                    </a:ext>
                  </a:extLst>
                </a:gridCol>
                <a:gridCol w="1201873">
                  <a:extLst>
                    <a:ext uri="{9D8B030D-6E8A-4147-A177-3AD203B41FA5}">
                      <a16:colId xmlns:a16="http://schemas.microsoft.com/office/drawing/2014/main" val="2945922972"/>
                    </a:ext>
                  </a:extLst>
                </a:gridCol>
                <a:gridCol w="1201873">
                  <a:extLst>
                    <a:ext uri="{9D8B030D-6E8A-4147-A177-3AD203B41FA5}">
                      <a16:colId xmlns:a16="http://schemas.microsoft.com/office/drawing/2014/main" val="2701148653"/>
                    </a:ext>
                  </a:extLst>
                </a:gridCol>
                <a:gridCol w="1201873">
                  <a:extLst>
                    <a:ext uri="{9D8B030D-6E8A-4147-A177-3AD203B41FA5}">
                      <a16:colId xmlns:a16="http://schemas.microsoft.com/office/drawing/2014/main" val="3352844088"/>
                    </a:ext>
                  </a:extLst>
                </a:gridCol>
                <a:gridCol w="1201873">
                  <a:extLst>
                    <a:ext uri="{9D8B030D-6E8A-4147-A177-3AD203B41FA5}">
                      <a16:colId xmlns:a16="http://schemas.microsoft.com/office/drawing/2014/main" val="4013695717"/>
                    </a:ext>
                  </a:extLst>
                </a:gridCol>
                <a:gridCol w="1201873">
                  <a:extLst>
                    <a:ext uri="{9D8B030D-6E8A-4147-A177-3AD203B41FA5}">
                      <a16:colId xmlns:a16="http://schemas.microsoft.com/office/drawing/2014/main" val="2839833438"/>
                    </a:ext>
                  </a:extLst>
                </a:gridCol>
                <a:gridCol w="1201873">
                  <a:extLst>
                    <a:ext uri="{9D8B030D-6E8A-4147-A177-3AD203B41FA5}">
                      <a16:colId xmlns:a16="http://schemas.microsoft.com/office/drawing/2014/main" val="3078987463"/>
                    </a:ext>
                  </a:extLst>
                </a:gridCol>
                <a:gridCol w="1201873">
                  <a:extLst>
                    <a:ext uri="{9D8B030D-6E8A-4147-A177-3AD203B41FA5}">
                      <a16:colId xmlns:a16="http://schemas.microsoft.com/office/drawing/2014/main" val="960315512"/>
                    </a:ext>
                  </a:extLst>
                </a:gridCol>
                <a:gridCol w="1201873">
                  <a:extLst>
                    <a:ext uri="{9D8B030D-6E8A-4147-A177-3AD203B41FA5}">
                      <a16:colId xmlns:a16="http://schemas.microsoft.com/office/drawing/2014/main" val="631802697"/>
                    </a:ext>
                  </a:extLst>
                </a:gridCol>
              </a:tblGrid>
              <a:tr h="0">
                <a:tc>
                  <a:txBody>
                    <a:bodyPr/>
                    <a:lstStyle/>
                    <a:p>
                      <a:r>
                        <a:rPr lang="en-US" b="1" dirty="0"/>
                        <a:t>ResNet-18</a:t>
                      </a:r>
                    </a:p>
                  </a:txBody>
                  <a:tcPr anchor="ctr">
                    <a:lnB w="12700" cap="flat" cmpd="sng" algn="ctr">
                      <a:solidFill>
                        <a:schemeClr val="tx1"/>
                      </a:solidFill>
                      <a:prstDash val="solid"/>
                      <a:round/>
                      <a:headEnd type="none" w="med" len="med"/>
                      <a:tailEnd type="none" w="med" len="med"/>
                    </a:lnB>
                  </a:tcPr>
                </a:tc>
                <a:tc>
                  <a:txBody>
                    <a:bodyPr/>
                    <a:lstStyle/>
                    <a:p>
                      <a:r>
                        <a:rPr lang="en-US" b="1"/>
                        <a:t>Seed 0</a:t>
                      </a:r>
                    </a:p>
                  </a:txBody>
                  <a:tcPr anchor="ctr">
                    <a:lnB w="12700" cap="flat" cmpd="sng" algn="ctr">
                      <a:solidFill>
                        <a:schemeClr val="tx1"/>
                      </a:solidFill>
                      <a:prstDash val="solid"/>
                      <a:round/>
                      <a:headEnd type="none" w="med" len="med"/>
                      <a:tailEnd type="none" w="med" len="med"/>
                    </a:lnB>
                  </a:tcPr>
                </a:tc>
                <a:tc>
                  <a:txBody>
                    <a:bodyPr/>
                    <a:lstStyle/>
                    <a:p>
                      <a:r>
                        <a:rPr lang="en-US" b="1"/>
                        <a:t>Seed 1</a:t>
                      </a:r>
                    </a:p>
                  </a:txBody>
                  <a:tcPr anchor="ctr">
                    <a:lnB w="12700" cap="flat" cmpd="sng" algn="ctr">
                      <a:solidFill>
                        <a:schemeClr val="tx1"/>
                      </a:solidFill>
                      <a:prstDash val="solid"/>
                      <a:round/>
                      <a:headEnd type="none" w="med" len="med"/>
                      <a:tailEnd type="none" w="med" len="med"/>
                    </a:lnB>
                  </a:tcPr>
                </a:tc>
                <a:tc>
                  <a:txBody>
                    <a:bodyPr/>
                    <a:lstStyle/>
                    <a:p>
                      <a:r>
                        <a:rPr lang="en-US" b="1"/>
                        <a:t>Seed 2</a:t>
                      </a:r>
                    </a:p>
                  </a:txBody>
                  <a:tcPr anchor="ctr">
                    <a:lnB w="12700" cap="flat" cmpd="sng" algn="ctr">
                      <a:solidFill>
                        <a:schemeClr val="tx1"/>
                      </a:solidFill>
                      <a:prstDash val="solid"/>
                      <a:round/>
                      <a:headEnd type="none" w="med" len="med"/>
                      <a:tailEnd type="none" w="med" len="med"/>
                    </a:lnB>
                  </a:tcPr>
                </a:tc>
                <a:tc>
                  <a:txBody>
                    <a:bodyPr/>
                    <a:lstStyle/>
                    <a:p>
                      <a:r>
                        <a:rPr lang="en-US" b="1"/>
                        <a:t>Seed 3</a:t>
                      </a:r>
                    </a:p>
                  </a:txBody>
                  <a:tcPr anchor="ctr">
                    <a:lnB w="12700" cap="flat" cmpd="sng" algn="ctr">
                      <a:solidFill>
                        <a:schemeClr val="tx1"/>
                      </a:solidFill>
                      <a:prstDash val="solid"/>
                      <a:round/>
                      <a:headEnd type="none" w="med" len="med"/>
                      <a:tailEnd type="none" w="med" len="med"/>
                    </a:lnB>
                  </a:tcPr>
                </a:tc>
                <a:tc>
                  <a:txBody>
                    <a:bodyPr/>
                    <a:lstStyle/>
                    <a:p>
                      <a:r>
                        <a:rPr lang="en-US" b="1"/>
                        <a:t>Seed 4</a:t>
                      </a:r>
                    </a:p>
                  </a:txBody>
                  <a:tcPr anchor="ctr">
                    <a:lnB w="12700" cap="flat" cmpd="sng" algn="ctr">
                      <a:solidFill>
                        <a:schemeClr val="tx1"/>
                      </a:solidFill>
                      <a:prstDash val="solid"/>
                      <a:round/>
                      <a:headEnd type="none" w="med" len="med"/>
                      <a:tailEnd type="none" w="med" len="med"/>
                    </a:lnB>
                  </a:tcPr>
                </a:tc>
                <a:tc>
                  <a:txBody>
                    <a:bodyPr/>
                    <a:lstStyle/>
                    <a:p>
                      <a:r>
                        <a:rPr lang="en-US" b="1" dirty="0"/>
                        <a:t>Mean</a:t>
                      </a:r>
                    </a:p>
                  </a:txBody>
                  <a:tcPr anchor="ct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b="1"/>
                        <a:t>Lowest</a:t>
                      </a:r>
                    </a:p>
                  </a:txBody>
                  <a:tcPr anchor="ctr">
                    <a:lnB w="12700" cap="flat" cmpd="sng" algn="ctr">
                      <a:solidFill>
                        <a:schemeClr val="tx1"/>
                      </a:solidFill>
                      <a:prstDash val="solid"/>
                      <a:round/>
                      <a:headEnd type="none" w="med" len="med"/>
                      <a:tailEnd type="none" w="med" len="med"/>
                    </a:lnB>
                  </a:tcPr>
                </a:tc>
                <a:tc>
                  <a:txBody>
                    <a:bodyPr/>
                    <a:lstStyle/>
                    <a:p>
                      <a:r>
                        <a:rPr lang="en-US" b="1" dirty="0"/>
                        <a:t>Highest</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3675590"/>
                  </a:ext>
                </a:extLst>
              </a:tr>
              <a:tr h="0">
                <a:tc>
                  <a:txBody>
                    <a:bodyPr/>
                    <a:lstStyle/>
                    <a:p>
                      <a:r>
                        <a:rPr lang="en-US" b="0"/>
                        <a:t>SGD</a:t>
                      </a:r>
                    </a:p>
                  </a:txBody>
                  <a:tcPr anchor="ctr">
                    <a:lnT w="12700" cap="flat" cmpd="sng" algn="ctr">
                      <a:solidFill>
                        <a:schemeClr val="tx1"/>
                      </a:solidFill>
                      <a:prstDash val="solid"/>
                      <a:round/>
                      <a:headEnd type="none" w="med" len="med"/>
                      <a:tailEnd type="none" w="med" len="med"/>
                    </a:lnT>
                  </a:tcPr>
                </a:tc>
                <a:tc>
                  <a:txBody>
                    <a:bodyPr/>
                    <a:lstStyle/>
                    <a:p>
                      <a:r>
                        <a:rPr lang="en-US" altLang="ko-KR" b="0"/>
                        <a:t>0.990</a:t>
                      </a:r>
                    </a:p>
                  </a:txBody>
                  <a:tcPr anchor="ctr">
                    <a:lnT w="12700" cap="flat" cmpd="sng" algn="ctr">
                      <a:solidFill>
                        <a:schemeClr val="tx1"/>
                      </a:solidFill>
                      <a:prstDash val="solid"/>
                      <a:round/>
                      <a:headEnd type="none" w="med" len="med"/>
                      <a:tailEnd type="none" w="med" len="med"/>
                    </a:lnT>
                  </a:tcPr>
                </a:tc>
                <a:tc>
                  <a:txBody>
                    <a:bodyPr/>
                    <a:lstStyle/>
                    <a:p>
                      <a:r>
                        <a:rPr lang="en-US" altLang="ko-KR" b="0" dirty="0"/>
                        <a:t>0.988</a:t>
                      </a:r>
                    </a:p>
                  </a:txBody>
                  <a:tcPr anchor="ctr">
                    <a:lnT w="12700" cap="flat" cmpd="sng" algn="ctr">
                      <a:solidFill>
                        <a:schemeClr val="tx1"/>
                      </a:solidFill>
                      <a:prstDash val="solid"/>
                      <a:round/>
                      <a:headEnd type="none" w="med" len="med"/>
                      <a:tailEnd type="none" w="med" len="med"/>
                    </a:lnT>
                  </a:tcPr>
                </a:tc>
                <a:tc>
                  <a:txBody>
                    <a:bodyPr/>
                    <a:lstStyle/>
                    <a:p>
                      <a:r>
                        <a:rPr lang="en-US" altLang="ko-KR" b="0"/>
                        <a:t>0.986</a:t>
                      </a:r>
                    </a:p>
                  </a:txBody>
                  <a:tcPr anchor="ctr">
                    <a:lnT w="12700" cap="flat" cmpd="sng" algn="ctr">
                      <a:solidFill>
                        <a:schemeClr val="tx1"/>
                      </a:solidFill>
                      <a:prstDash val="solid"/>
                      <a:round/>
                      <a:headEnd type="none" w="med" len="med"/>
                      <a:tailEnd type="none" w="med" len="med"/>
                    </a:lnT>
                  </a:tcPr>
                </a:tc>
                <a:tc>
                  <a:txBody>
                    <a:bodyPr/>
                    <a:lstStyle/>
                    <a:p>
                      <a:r>
                        <a:rPr lang="en-US" altLang="ko-KR" b="0" dirty="0"/>
                        <a:t>0.983</a:t>
                      </a:r>
                    </a:p>
                  </a:txBody>
                  <a:tcPr anchor="ctr">
                    <a:lnT w="12700" cap="flat" cmpd="sng" algn="ctr">
                      <a:solidFill>
                        <a:schemeClr val="tx1"/>
                      </a:solidFill>
                      <a:prstDash val="solid"/>
                      <a:round/>
                      <a:headEnd type="none" w="med" len="med"/>
                      <a:tailEnd type="none" w="med" len="med"/>
                    </a:lnT>
                  </a:tcPr>
                </a:tc>
                <a:tc>
                  <a:txBody>
                    <a:bodyPr/>
                    <a:lstStyle/>
                    <a:p>
                      <a:r>
                        <a:rPr lang="en-US" altLang="ko-KR" b="1" dirty="0"/>
                        <a:t>0.983</a:t>
                      </a:r>
                      <a:endParaRPr lang="ko-KR" altLang="en-US" dirty="0"/>
                    </a:p>
                  </a:txBody>
                  <a:tcPr anchor="ctr">
                    <a:lnT w="12700" cap="flat" cmpd="sng" algn="ctr">
                      <a:solidFill>
                        <a:schemeClr val="tx1"/>
                      </a:solidFill>
                      <a:prstDash val="solid"/>
                      <a:round/>
                      <a:headEnd type="none" w="med" len="med"/>
                      <a:tailEnd type="none" w="med" len="med"/>
                    </a:lnT>
                  </a:tcPr>
                </a:tc>
                <a:tc>
                  <a:txBody>
                    <a:bodyPr/>
                    <a:lstStyle/>
                    <a:p>
                      <a:r>
                        <a:rPr lang="en-US" altLang="ko-KR" b="0" dirty="0"/>
                        <a:t>0.986</a:t>
                      </a:r>
                    </a:p>
                  </a:txBody>
                  <a:tcPr anchor="ctr">
                    <a:lnT w="1270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r>
                        <a:rPr lang="en-US" altLang="ko-KR" b="0" dirty="0"/>
                        <a:t>0.983</a:t>
                      </a:r>
                    </a:p>
                  </a:txBody>
                  <a:tcPr anchor="ctr">
                    <a:lnT w="12700" cap="flat" cmpd="sng" algn="ctr">
                      <a:solidFill>
                        <a:schemeClr val="tx1"/>
                      </a:solidFill>
                      <a:prstDash val="solid"/>
                      <a:round/>
                      <a:headEnd type="none" w="med" len="med"/>
                      <a:tailEnd type="none" w="med" len="med"/>
                    </a:lnT>
                  </a:tcPr>
                </a:tc>
                <a:tc>
                  <a:txBody>
                    <a:bodyPr/>
                    <a:lstStyle/>
                    <a:p>
                      <a:r>
                        <a:rPr lang="en-US" altLang="ko-KR" b="0" dirty="0"/>
                        <a:t>0.990</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620917865"/>
                  </a:ext>
                </a:extLst>
              </a:tr>
              <a:tr h="0">
                <a:tc>
                  <a:txBody>
                    <a:bodyPr/>
                    <a:lstStyle/>
                    <a:p>
                      <a:r>
                        <a:rPr lang="en-US" b="0"/>
                        <a:t>Adagrad</a:t>
                      </a:r>
                    </a:p>
                  </a:txBody>
                  <a:tcPr anchor="ctr"/>
                </a:tc>
                <a:tc>
                  <a:txBody>
                    <a:bodyPr/>
                    <a:lstStyle/>
                    <a:p>
                      <a:r>
                        <a:rPr lang="en-US" altLang="ko-KR" b="0"/>
                        <a:t>0.988</a:t>
                      </a:r>
                    </a:p>
                  </a:txBody>
                  <a:tcPr anchor="ctr"/>
                </a:tc>
                <a:tc>
                  <a:txBody>
                    <a:bodyPr/>
                    <a:lstStyle/>
                    <a:p>
                      <a:r>
                        <a:rPr lang="en-US" altLang="ko-KR" b="0"/>
                        <a:t>0.993</a:t>
                      </a:r>
                    </a:p>
                  </a:txBody>
                  <a:tcPr anchor="ctr"/>
                </a:tc>
                <a:tc>
                  <a:txBody>
                    <a:bodyPr/>
                    <a:lstStyle/>
                    <a:p>
                      <a:r>
                        <a:rPr lang="en-US" altLang="ko-KR" b="0"/>
                        <a:t>0.995</a:t>
                      </a:r>
                    </a:p>
                  </a:txBody>
                  <a:tcPr anchor="ctr"/>
                </a:tc>
                <a:tc>
                  <a:txBody>
                    <a:bodyPr/>
                    <a:lstStyle/>
                    <a:p>
                      <a:r>
                        <a:rPr lang="en-US" altLang="ko-KR" b="0" dirty="0"/>
                        <a:t>0.992</a:t>
                      </a:r>
                    </a:p>
                  </a:txBody>
                  <a:tcPr anchor="ctr"/>
                </a:tc>
                <a:tc>
                  <a:txBody>
                    <a:bodyPr/>
                    <a:lstStyle/>
                    <a:p>
                      <a:r>
                        <a:rPr lang="en-US" altLang="ko-KR" b="0"/>
                        <a:t>0.988</a:t>
                      </a:r>
                    </a:p>
                  </a:txBody>
                  <a:tcPr anchor="ctr"/>
                </a:tc>
                <a:tc>
                  <a:txBody>
                    <a:bodyPr/>
                    <a:lstStyle/>
                    <a:p>
                      <a:r>
                        <a:rPr lang="en-US" altLang="ko-KR" b="0" dirty="0"/>
                        <a:t>0.991</a:t>
                      </a:r>
                    </a:p>
                  </a:txBody>
                  <a:tcPr anchor="ctr">
                    <a:solidFill>
                      <a:schemeClr val="accent6">
                        <a:lumMod val="20000"/>
                        <a:lumOff val="80000"/>
                      </a:schemeClr>
                    </a:solidFill>
                  </a:tcPr>
                </a:tc>
                <a:tc>
                  <a:txBody>
                    <a:bodyPr/>
                    <a:lstStyle/>
                    <a:p>
                      <a:r>
                        <a:rPr lang="en-US" altLang="ko-KR" b="0"/>
                        <a:t>0.988</a:t>
                      </a:r>
                    </a:p>
                  </a:txBody>
                  <a:tcPr anchor="ctr"/>
                </a:tc>
                <a:tc>
                  <a:txBody>
                    <a:bodyPr/>
                    <a:lstStyle/>
                    <a:p>
                      <a:r>
                        <a:rPr lang="en-US" altLang="ko-KR" b="0"/>
                        <a:t>0.995</a:t>
                      </a:r>
                    </a:p>
                  </a:txBody>
                  <a:tcPr anchor="ctr"/>
                </a:tc>
                <a:extLst>
                  <a:ext uri="{0D108BD9-81ED-4DB2-BD59-A6C34878D82A}">
                    <a16:rowId xmlns:a16="http://schemas.microsoft.com/office/drawing/2014/main" val="970907214"/>
                  </a:ext>
                </a:extLst>
              </a:tr>
              <a:tr h="0">
                <a:tc>
                  <a:txBody>
                    <a:bodyPr/>
                    <a:lstStyle/>
                    <a:p>
                      <a:r>
                        <a:rPr lang="en-US" b="0"/>
                        <a:t>RMSprop</a:t>
                      </a:r>
                    </a:p>
                  </a:txBody>
                  <a:tcPr anchor="ctr"/>
                </a:tc>
                <a:tc>
                  <a:txBody>
                    <a:bodyPr/>
                    <a:lstStyle/>
                    <a:p>
                      <a:r>
                        <a:rPr lang="en-US" altLang="ko-KR" b="0"/>
                        <a:t>0.988</a:t>
                      </a:r>
                    </a:p>
                  </a:txBody>
                  <a:tcPr anchor="ctr"/>
                </a:tc>
                <a:tc>
                  <a:txBody>
                    <a:bodyPr/>
                    <a:lstStyle/>
                    <a:p>
                      <a:r>
                        <a:rPr lang="en-US" altLang="ko-KR" b="0"/>
                        <a:t>0.993</a:t>
                      </a:r>
                    </a:p>
                  </a:txBody>
                  <a:tcPr anchor="ctr"/>
                </a:tc>
                <a:tc>
                  <a:txBody>
                    <a:bodyPr/>
                    <a:lstStyle/>
                    <a:p>
                      <a:r>
                        <a:rPr lang="en-US" altLang="ko-KR" b="0"/>
                        <a:t>0.997</a:t>
                      </a:r>
                    </a:p>
                  </a:txBody>
                  <a:tcPr anchor="ctr"/>
                </a:tc>
                <a:tc>
                  <a:txBody>
                    <a:bodyPr/>
                    <a:lstStyle/>
                    <a:p>
                      <a:r>
                        <a:rPr lang="en-US" altLang="ko-KR" b="0" dirty="0"/>
                        <a:t>0.992</a:t>
                      </a:r>
                    </a:p>
                  </a:txBody>
                  <a:tcPr anchor="ctr"/>
                </a:tc>
                <a:tc>
                  <a:txBody>
                    <a:bodyPr/>
                    <a:lstStyle/>
                    <a:p>
                      <a:r>
                        <a:rPr lang="en-US" altLang="ko-KR" b="0"/>
                        <a:t>0.986</a:t>
                      </a:r>
                    </a:p>
                  </a:txBody>
                  <a:tcPr anchor="ctr"/>
                </a:tc>
                <a:tc>
                  <a:txBody>
                    <a:bodyPr/>
                    <a:lstStyle/>
                    <a:p>
                      <a:r>
                        <a:rPr lang="en-US" altLang="ko-KR" b="0" dirty="0"/>
                        <a:t>0.991</a:t>
                      </a:r>
                    </a:p>
                  </a:txBody>
                  <a:tcPr anchor="ctr">
                    <a:solidFill>
                      <a:schemeClr val="accent6">
                        <a:lumMod val="20000"/>
                        <a:lumOff val="80000"/>
                      </a:schemeClr>
                    </a:solidFill>
                  </a:tcPr>
                </a:tc>
                <a:tc>
                  <a:txBody>
                    <a:bodyPr/>
                    <a:lstStyle/>
                    <a:p>
                      <a:r>
                        <a:rPr lang="en-US" altLang="ko-KR" b="0"/>
                        <a:t>0.986</a:t>
                      </a:r>
                    </a:p>
                  </a:txBody>
                  <a:tcPr anchor="ctr"/>
                </a:tc>
                <a:tc>
                  <a:txBody>
                    <a:bodyPr/>
                    <a:lstStyle/>
                    <a:p>
                      <a:r>
                        <a:rPr lang="en-US" altLang="ko-KR" b="0"/>
                        <a:t>0.997</a:t>
                      </a:r>
                    </a:p>
                  </a:txBody>
                  <a:tcPr anchor="ctr"/>
                </a:tc>
                <a:extLst>
                  <a:ext uri="{0D108BD9-81ED-4DB2-BD59-A6C34878D82A}">
                    <a16:rowId xmlns:a16="http://schemas.microsoft.com/office/drawing/2014/main" val="1871348314"/>
                  </a:ext>
                </a:extLst>
              </a:tr>
              <a:tr h="0">
                <a:tc>
                  <a:txBody>
                    <a:bodyPr/>
                    <a:lstStyle/>
                    <a:p>
                      <a:r>
                        <a:rPr lang="en-US" b="0"/>
                        <a:t>Adam</a:t>
                      </a:r>
                    </a:p>
                  </a:txBody>
                  <a:tcPr anchor="ctr"/>
                </a:tc>
                <a:tc>
                  <a:txBody>
                    <a:bodyPr/>
                    <a:lstStyle/>
                    <a:p>
                      <a:r>
                        <a:rPr lang="en-US" altLang="ko-KR" b="0"/>
                        <a:t>0.988</a:t>
                      </a:r>
                    </a:p>
                  </a:txBody>
                  <a:tcPr anchor="ctr"/>
                </a:tc>
                <a:tc>
                  <a:txBody>
                    <a:bodyPr/>
                    <a:lstStyle/>
                    <a:p>
                      <a:r>
                        <a:rPr lang="en-US" altLang="ko-KR" b="0"/>
                        <a:t>0.991</a:t>
                      </a:r>
                    </a:p>
                  </a:txBody>
                  <a:tcPr anchor="ctr"/>
                </a:tc>
                <a:tc>
                  <a:txBody>
                    <a:bodyPr/>
                    <a:lstStyle/>
                    <a:p>
                      <a:r>
                        <a:rPr lang="en-US" altLang="ko-KR" b="0"/>
                        <a:t>0.988</a:t>
                      </a:r>
                    </a:p>
                  </a:txBody>
                  <a:tcPr anchor="ctr"/>
                </a:tc>
                <a:tc>
                  <a:txBody>
                    <a:bodyPr/>
                    <a:lstStyle/>
                    <a:p>
                      <a:r>
                        <a:rPr lang="en-US" altLang="ko-KR" b="0"/>
                        <a:t>0.987</a:t>
                      </a:r>
                    </a:p>
                  </a:txBody>
                  <a:tcPr anchor="ctr"/>
                </a:tc>
                <a:tc>
                  <a:txBody>
                    <a:bodyPr/>
                    <a:lstStyle/>
                    <a:p>
                      <a:r>
                        <a:rPr lang="en-US" altLang="ko-KR" b="0"/>
                        <a:t>0.993</a:t>
                      </a:r>
                    </a:p>
                  </a:txBody>
                  <a:tcPr anchor="ctr"/>
                </a:tc>
                <a:tc>
                  <a:txBody>
                    <a:bodyPr/>
                    <a:lstStyle/>
                    <a:p>
                      <a:r>
                        <a:rPr lang="en-US" altLang="ko-KR" b="0" dirty="0"/>
                        <a:t>0.990</a:t>
                      </a:r>
                    </a:p>
                  </a:txBody>
                  <a:tcPr anchor="ctr">
                    <a:solidFill>
                      <a:schemeClr val="accent6">
                        <a:lumMod val="20000"/>
                        <a:lumOff val="80000"/>
                      </a:schemeClr>
                    </a:solidFill>
                  </a:tcPr>
                </a:tc>
                <a:tc>
                  <a:txBody>
                    <a:bodyPr/>
                    <a:lstStyle/>
                    <a:p>
                      <a:r>
                        <a:rPr lang="en-US" altLang="ko-KR" b="0"/>
                        <a:t>0.987</a:t>
                      </a:r>
                    </a:p>
                  </a:txBody>
                  <a:tcPr anchor="ctr"/>
                </a:tc>
                <a:tc>
                  <a:txBody>
                    <a:bodyPr/>
                    <a:lstStyle/>
                    <a:p>
                      <a:r>
                        <a:rPr lang="en-US" altLang="ko-KR" b="0" dirty="0"/>
                        <a:t>0.993</a:t>
                      </a:r>
                    </a:p>
                  </a:txBody>
                  <a:tcPr anchor="ctr"/>
                </a:tc>
                <a:extLst>
                  <a:ext uri="{0D108BD9-81ED-4DB2-BD59-A6C34878D82A}">
                    <a16:rowId xmlns:a16="http://schemas.microsoft.com/office/drawing/2014/main" val="3268067075"/>
                  </a:ext>
                </a:extLst>
              </a:tr>
            </a:tbl>
          </a:graphicData>
        </a:graphic>
      </p:graphicFrame>
      <p:sp>
        <p:nvSpPr>
          <p:cNvPr id="10"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RESNET-18 COMPARISON  (ResNet-18 비교)</a:t>
            </a:r>
            <a:endParaRPr lang="en-US" sz="1200" dirty="0"/>
          </a:p>
        </p:txBody>
      </p:sp>
      <p:sp>
        <p:nvSpPr>
          <p:cNvPr id="11"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Every run, both models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모든 실행 결과  ·  시드 0–4, 테스트 macro-F1</a:t>
            </a:r>
            <a:endParaRPr lang="en-US" sz="3000" dirty="0"/>
          </a:p>
        </p:txBody>
      </p:sp>
      <p:sp>
        <p:nvSpPr>
          <p:cNvPr id="12" name="Text 8"/>
          <p:cNvSpPr txBox="1"/>
          <p:nvPr/>
        </p:nvSpPr>
        <p:spPr>
          <a:xfrm>
            <a:off x="822960" y="5577840"/>
            <a:ext cx="10515600" cy="548640"/>
          </a:xfrm>
          <a:prstGeom prst="rect">
            <a:avLst/>
          </a:prstGeom>
          <a:noFill/>
          <a:ln/>
        </p:spPr>
        <p:txBody>
          <a:bodyPr wrap="square" lIns="0" tIns="0" rIns="0" bIns="0" rtlCol="0" anchor="t"/>
          <a:lstStyle/>
          <a:p>
            <a:pPr marL="0" indent="0">
              <a:buNone/>
            </a:pPr>
            <a:r>
              <a:rPr lang="en-US" sz="1400" dirty="0">
                <a:solidFill>
                  <a:srgbClr val="23301C"/>
                </a:solidFill>
                <a:latin typeface="Calibri" pitchFamily="34" charset="0"/>
                <a:ea typeface="Calibri" pitchFamily="34" charset="-122"/>
                <a:cs typeface="Calibri" pitchFamily="34" charset="-120"/>
              </a:rPr>
              <a:t>Lowest ResNet-18 run: 0.983 (SGD, seed 4)  &gt;  highest small-CNN run: 0.934 (RMSprop, seed 1).</a:t>
            </a:r>
            <a:endParaRPr lang="en-US" sz="1400" dirty="0"/>
          </a:p>
        </p:txBody>
      </p:sp>
      <p:sp>
        <p:nvSpPr>
          <p:cNvPr id="13"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Bold cells: the best small-CNN run and the worst ResNet-18 run. Values rounded to 3 decimals (small CNN: Adam seed 4 = 0.9340, RMSprop seed 1 = 0.9345).</a:t>
            </a:r>
            <a:endParaRPr lang="en-US" sz="1100" dirty="0"/>
          </a:p>
        </p:txBody>
      </p:sp>
    </p:spTree>
    <p:extLst>
      <p:ext uri="{BB962C8B-B14F-4D97-AF65-F5344CB8AC3E}">
        <p14:creationId xmlns:p14="http://schemas.microsoft.com/office/powerpoint/2010/main" val="2979422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2008669F-5F1E-4B1E-92AC-EF4201483E4E}"/>
              </a:ext>
            </a:extLst>
          </p:cNvPr>
          <p:cNvPicPr>
            <a:picLocks noChangeAspect="1"/>
          </p:cNvPicPr>
          <p:nvPr/>
        </p:nvPicPr>
        <p:blipFill rotWithShape="1">
          <a:blip r:embed="rId3"/>
          <a:srcRect l="1882" r="1729"/>
          <a:stretch/>
        </p:blipFill>
        <p:spPr>
          <a:xfrm>
            <a:off x="389068" y="1721761"/>
            <a:ext cx="11413863" cy="3721609"/>
          </a:xfrm>
          <a:prstGeom prst="rect">
            <a:avLst/>
          </a:prstGeom>
        </p:spPr>
      </p:pic>
      <p:sp>
        <p:nvSpPr>
          <p:cNvPr id="6"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RESNET-18 COMPARISON  (ResNet-18 비교)</a:t>
            </a:r>
            <a:endParaRPr lang="en-US" sz="1200" dirty="0"/>
          </a:p>
        </p:txBody>
      </p:sp>
      <p:sp>
        <p:nvSpPr>
          <p:cNvPr id="7"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Summary table</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요약 표  ·  선택된 학습률에서 시드 5개 평균 ± 표준편차</a:t>
            </a:r>
            <a:endParaRPr lang="en-US" sz="3000" dirty="0"/>
          </a:p>
        </p:txBody>
      </p:sp>
      <p:sp>
        <p:nvSpPr>
          <p:cNvPr id="8" name="Text 22"/>
          <p:cNvSpPr txBox="1"/>
          <p:nvPr/>
        </p:nvSpPr>
        <p:spPr>
          <a:xfrm>
            <a:off x="822960" y="566928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Angular leaf spot F1: 0.71–0.82 with the small CNN vs 0.98–0.99 with ResNet-18. Best epoch: about 7–16 vs 24–28.</a:t>
            </a:r>
            <a:endParaRPr lang="en-US" sz="1100" dirty="0"/>
          </a:p>
        </p:txBody>
      </p:sp>
    </p:spTree>
    <p:extLst>
      <p:ext uri="{BB962C8B-B14F-4D97-AF65-F5344CB8AC3E}">
        <p14:creationId xmlns:p14="http://schemas.microsoft.com/office/powerpoint/2010/main" val="529472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6599FB8A-F4F0-4C5E-BA10-57F0FA4714F8}"/>
              </a:ext>
            </a:extLst>
          </p:cNvPr>
          <p:cNvPicPr>
            <a:picLocks noChangeAspect="1"/>
          </p:cNvPicPr>
          <p:nvPr/>
        </p:nvPicPr>
        <p:blipFill>
          <a:blip r:embed="rId3"/>
          <a:stretch>
            <a:fillRect/>
          </a:stretch>
        </p:blipFill>
        <p:spPr>
          <a:xfrm>
            <a:off x="1410037" y="1624404"/>
            <a:ext cx="9371925" cy="4819847"/>
          </a:xfrm>
          <a:prstGeom prst="rect">
            <a:avLst/>
          </a:prstGeom>
        </p:spPr>
      </p:pic>
      <p:sp>
        <p:nvSpPr>
          <p:cNvPr id="6"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RESNET-18 COMPARISON  (ResNet-18 비교)</a:t>
            </a:r>
            <a:endParaRPr lang="en-US" sz="1200" dirty="0"/>
          </a:p>
        </p:txBody>
      </p:sp>
      <p:sp>
        <p:nvSpPr>
          <p:cNvPr id="7"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Across optimizers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알고리즘별 비교  ·  ResNet-18에서는 알고리즘 간 차이가 거의 없음</a:t>
            </a:r>
            <a:endParaRPr lang="en-US" sz="3000" dirty="0"/>
          </a:p>
        </p:txBody>
      </p:sp>
    </p:spTree>
    <p:extLst>
      <p:ext uri="{BB962C8B-B14F-4D97-AF65-F5344CB8AC3E}">
        <p14:creationId xmlns:p14="http://schemas.microsoft.com/office/powerpoint/2010/main" val="4290609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RESNET-18 COMPARISON  (ResNet-18 비교)</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Can ResNet-18 separate Adam from RMSprop?</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ResNet-18로 Adam과 RMSprop을 구분할 수 있는가?  ·  같은 선정 기준 적용</a:t>
            </a:r>
            <a:endParaRPr lang="en-US" sz="3000" dirty="0"/>
          </a:p>
        </p:txBody>
      </p:sp>
      <p:sp>
        <p:nvSpPr>
          <p:cNvPr id="4" name="Shape 4"/>
          <p:cNvSpPr/>
          <p:nvPr/>
        </p:nvSpPr>
        <p:spPr>
          <a:xfrm>
            <a:off x="822960" y="1874519"/>
            <a:ext cx="3291840" cy="2926080"/>
          </a:xfrm>
          <a:prstGeom prst="roundRect">
            <a:avLst>
              <a:gd name="adj" fmla="val 4167"/>
            </a:avLst>
          </a:prstGeom>
          <a:solidFill>
            <a:srgbClr val="FFFFFF"/>
          </a:solidFill>
          <a:ln w="12700">
            <a:solidFill>
              <a:srgbClr val="97BC62"/>
            </a:solidFill>
            <a:prstDash val="solid"/>
          </a:ln>
        </p:spPr>
      </p:sp>
      <p:sp>
        <p:nvSpPr>
          <p:cNvPr id="5" name="Shape 5"/>
          <p:cNvSpPr/>
          <p:nvPr/>
        </p:nvSpPr>
        <p:spPr>
          <a:xfrm>
            <a:off x="1143000" y="2148839"/>
            <a:ext cx="502920" cy="502920"/>
          </a:xfrm>
          <a:prstGeom prst="ellipse">
            <a:avLst/>
          </a:prstGeom>
          <a:solidFill>
            <a:srgbClr val="2C5F2D"/>
          </a:solidFill>
          <a:ln/>
        </p:spPr>
      </p:sp>
      <p:sp>
        <p:nvSpPr>
          <p:cNvPr id="6" name="Text 6"/>
          <p:cNvSpPr txBox="1"/>
          <p:nvPr/>
        </p:nvSpPr>
        <p:spPr>
          <a:xfrm>
            <a:off x="1143000" y="2148839"/>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7"/>
          <p:cNvSpPr txBox="1"/>
          <p:nvPr/>
        </p:nvSpPr>
        <p:spPr>
          <a:xfrm>
            <a:off x="178308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Accuracy</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정확도</a:t>
            </a:r>
            <a:endParaRPr lang="en-US" sz="1600" dirty="0"/>
          </a:p>
        </p:txBody>
      </p:sp>
      <p:sp>
        <p:nvSpPr>
          <p:cNvPr id="8" name="Text 8"/>
          <p:cNvSpPr txBox="1"/>
          <p:nvPr/>
        </p:nvSpPr>
        <p:spPr>
          <a:xfrm>
            <a:off x="1143000" y="2926079"/>
            <a:ext cx="2697480" cy="1188720"/>
          </a:xfrm>
          <a:prstGeom prst="rect">
            <a:avLst/>
          </a:prstGeom>
          <a:noFill/>
          <a:ln/>
        </p:spPr>
        <p:txBody>
          <a:bodyPr wrap="square" lIns="0" tIns="0" rIns="0" bIns="0" rtlCol="0" anchor="t"/>
          <a:lstStyle/>
          <a:p>
            <a:pPr marL="0" indent="0">
              <a:buNone/>
            </a:pPr>
            <a:r>
              <a:rPr lang="en-US" sz="1200" dirty="0">
                <a:solidFill>
                  <a:srgbClr val="5A6B4D"/>
                </a:solidFill>
                <a:latin typeface="Calibri" pitchFamily="34" charset="0"/>
                <a:ea typeface="Calibri" pitchFamily="34" charset="-122"/>
                <a:cs typeface="Calibri" pitchFamily="34" charset="-120"/>
              </a:rPr>
              <a:t>Mean test macro-F1: RMSprop 0.991, Adagrad 0.991, Adam 0.990, SGD 0.986.</a:t>
            </a:r>
            <a:endParaRPr lang="en-US" sz="1250" dirty="0"/>
          </a:p>
          <a:p>
            <a:pPr marL="0" indent="0">
              <a:buNone/>
            </a:pPr>
            <a:r>
              <a:rPr lang="en-US" sz="1100" dirty="0">
                <a:solidFill>
                  <a:srgbClr val="5A6B4D"/>
                </a:solidFill>
                <a:latin typeface="Calibri" pitchFamily="34" charset="0"/>
                <a:ea typeface="Malgun Gothic"/>
                <a:cs typeface="Calibri" pitchFamily="34" charset="-120"/>
              </a:rPr>
              <a:t>네 알고리즘 모두 약 0.99</a:t>
            </a:r>
            <a:endParaRPr lang="en-US" sz="1250" dirty="0"/>
          </a:p>
        </p:txBody>
      </p:sp>
      <p:sp>
        <p:nvSpPr>
          <p:cNvPr id="9" name="Text 8"/>
          <p:cNvSpPr txBox="1"/>
          <p:nvPr/>
        </p:nvSpPr>
        <p:spPr>
          <a:xfrm>
            <a:off x="114300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No significant differences (Friedman p = 0.21; Adam vs RMSprop p = 0.55)</a:t>
            </a:r>
            <a:endParaRPr lang="en-US" sz="1250" dirty="0"/>
          </a:p>
        </p:txBody>
      </p:sp>
      <p:sp>
        <p:nvSpPr>
          <p:cNvPr id="10" name="Shape 4"/>
          <p:cNvSpPr/>
          <p:nvPr/>
        </p:nvSpPr>
        <p:spPr>
          <a:xfrm>
            <a:off x="4434840" y="1874519"/>
            <a:ext cx="3291840" cy="2926080"/>
          </a:xfrm>
          <a:prstGeom prst="roundRect">
            <a:avLst>
              <a:gd name="adj" fmla="val 4167"/>
            </a:avLst>
          </a:prstGeom>
          <a:solidFill>
            <a:srgbClr val="FFFFFF"/>
          </a:solidFill>
          <a:ln w="12700">
            <a:solidFill>
              <a:srgbClr val="97BC62"/>
            </a:solidFill>
            <a:prstDash val="solid"/>
          </a:ln>
        </p:spPr>
      </p:sp>
      <p:sp>
        <p:nvSpPr>
          <p:cNvPr id="11" name="Shape 10"/>
          <p:cNvSpPr/>
          <p:nvPr/>
        </p:nvSpPr>
        <p:spPr>
          <a:xfrm>
            <a:off x="4754880" y="2148839"/>
            <a:ext cx="502920" cy="502920"/>
          </a:xfrm>
          <a:prstGeom prst="ellipse">
            <a:avLst/>
          </a:prstGeom>
          <a:solidFill>
            <a:srgbClr val="6B8E3D"/>
          </a:solidFill>
          <a:ln/>
        </p:spPr>
      </p:sp>
      <p:sp>
        <p:nvSpPr>
          <p:cNvPr id="12" name="Text 6"/>
          <p:cNvSpPr txBox="1"/>
          <p:nvPr/>
        </p:nvSpPr>
        <p:spPr>
          <a:xfrm>
            <a:off x="4754880" y="2148839"/>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7"/>
          <p:cNvSpPr txBox="1"/>
          <p:nvPr/>
        </p:nvSpPr>
        <p:spPr>
          <a:xfrm>
            <a:off x="539496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Convergence</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수렴 속도</a:t>
            </a:r>
            <a:endParaRPr lang="en-US" sz="1600" dirty="0"/>
          </a:p>
        </p:txBody>
      </p:sp>
      <p:sp>
        <p:nvSpPr>
          <p:cNvPr id="14" name="Text 8"/>
          <p:cNvSpPr txBox="1"/>
          <p:nvPr/>
        </p:nvSpPr>
        <p:spPr>
          <a:xfrm>
            <a:off x="4754880" y="2926079"/>
            <a:ext cx="2697480" cy="1188720"/>
          </a:xfrm>
          <a:prstGeom prst="rect">
            <a:avLst/>
          </a:prstGeom>
          <a:noFill/>
          <a:ln/>
        </p:spPr>
        <p:txBody>
          <a:bodyPr wrap="square" lIns="0" tIns="0" rIns="0" bIns="0" rtlCol="0" anchor="t"/>
          <a:lstStyle/>
          <a:p>
            <a:pPr marL="0" indent="0">
              <a:buNone/>
            </a:pPr>
            <a:r>
              <a:rPr lang="en-US" sz="1200" dirty="0">
                <a:solidFill>
                  <a:srgbClr val="5A6B4D"/>
                </a:solidFill>
                <a:latin typeface="Calibri" pitchFamily="34" charset="0"/>
                <a:ea typeface="Calibri" pitchFamily="34" charset="-122"/>
                <a:cs typeface="Calibri" pitchFamily="34" charset="-120"/>
              </a:rPr>
              <a:t>All 20 runs reached validation macro-F1 ≥ 0.80 in their first epoch.</a:t>
            </a:r>
            <a:endParaRPr lang="en-US" sz="1250" dirty="0"/>
          </a:p>
          <a:p>
            <a:pPr marL="0" indent="0">
              <a:buNone/>
            </a:pPr>
            <a:r>
              <a:rPr lang="en-US" sz="1100" dirty="0">
                <a:solidFill>
                  <a:srgbClr val="5A6B4D"/>
                </a:solidFill>
                <a:latin typeface="Calibri" pitchFamily="34" charset="0"/>
                <a:ea typeface="Malgun Gothic"/>
                <a:cs typeface="Calibri" pitchFamily="34" charset="-120"/>
              </a:rPr>
              <a:t>모든 실행이 첫 에폭에 목표 도달</a:t>
            </a:r>
            <a:endParaRPr lang="en-US" sz="1250" dirty="0"/>
          </a:p>
        </p:txBody>
      </p:sp>
      <p:sp>
        <p:nvSpPr>
          <p:cNvPr id="15" name="Text 8"/>
          <p:cNvSpPr txBox="1"/>
          <p:nvPr/>
        </p:nvSpPr>
        <p:spPr>
          <a:xfrm>
            <a:off x="475488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Not informative: the target was too easy for a pretrained model</a:t>
            </a:r>
            <a:endParaRPr lang="en-US" sz="1250" dirty="0"/>
          </a:p>
        </p:txBody>
      </p:sp>
      <p:sp>
        <p:nvSpPr>
          <p:cNvPr id="16" name="Shape 4"/>
          <p:cNvSpPr/>
          <p:nvPr/>
        </p:nvSpPr>
        <p:spPr>
          <a:xfrm>
            <a:off x="8046720" y="1874519"/>
            <a:ext cx="3291840" cy="2926080"/>
          </a:xfrm>
          <a:prstGeom prst="roundRect">
            <a:avLst>
              <a:gd name="adj" fmla="val 4167"/>
            </a:avLst>
          </a:prstGeom>
          <a:solidFill>
            <a:srgbClr val="FFFFFF"/>
          </a:solidFill>
          <a:ln w="12700">
            <a:solidFill>
              <a:srgbClr val="97BC62"/>
            </a:solidFill>
            <a:prstDash val="solid"/>
          </a:ln>
        </p:spPr>
      </p:sp>
      <p:sp>
        <p:nvSpPr>
          <p:cNvPr id="17" name="Shape 15"/>
          <p:cNvSpPr/>
          <p:nvPr/>
        </p:nvSpPr>
        <p:spPr>
          <a:xfrm>
            <a:off x="8366760" y="2148839"/>
            <a:ext cx="502920" cy="502920"/>
          </a:xfrm>
          <a:prstGeom prst="ellipse">
            <a:avLst/>
          </a:prstGeom>
          <a:solidFill>
            <a:srgbClr val="B5303B"/>
          </a:solidFill>
          <a:ln/>
        </p:spPr>
      </p:sp>
      <p:sp>
        <p:nvSpPr>
          <p:cNvPr id="18" name="Text 6"/>
          <p:cNvSpPr txBox="1"/>
          <p:nvPr/>
        </p:nvSpPr>
        <p:spPr>
          <a:xfrm>
            <a:off x="8366760" y="2148839"/>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7"/>
          <p:cNvSpPr txBox="1"/>
          <p:nvPr/>
        </p:nvSpPr>
        <p:spPr>
          <a:xfrm>
            <a:off x="900684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Training time</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학습 시간</a:t>
            </a:r>
            <a:endParaRPr lang="en-US" sz="1600" dirty="0"/>
          </a:p>
        </p:txBody>
      </p:sp>
      <p:sp>
        <p:nvSpPr>
          <p:cNvPr id="20" name="Text 8"/>
          <p:cNvSpPr txBox="1"/>
          <p:nvPr/>
        </p:nvSpPr>
        <p:spPr>
          <a:xfrm>
            <a:off x="8366760" y="2926079"/>
            <a:ext cx="2697480" cy="1188720"/>
          </a:xfrm>
          <a:prstGeom prst="rect">
            <a:avLst/>
          </a:prstGeom>
          <a:noFill/>
          <a:ln/>
        </p:spPr>
        <p:txBody>
          <a:bodyPr wrap="square" lIns="0" tIns="0" rIns="0" bIns="0" rtlCol="0" anchor="t"/>
          <a:lstStyle/>
          <a:p>
            <a:pPr marL="0" indent="0">
              <a:buNone/>
            </a:pPr>
            <a:r>
              <a:rPr lang="en-US" sz="1200" dirty="0">
                <a:solidFill>
                  <a:srgbClr val="5A6B4D"/>
                </a:solidFill>
                <a:latin typeface="Calibri" pitchFamily="34" charset="0"/>
                <a:ea typeface="Calibri" pitchFamily="34" charset="-122"/>
                <a:cs typeface="Calibri" pitchFamily="34" charset="-120"/>
              </a:rPr>
              <a:t>Time to target = one epoch: SGD 7.8 s, Adagrad 8.0 s, RMSprop 8.0 s, Adam 8.1 s.</a:t>
            </a:r>
            <a:endParaRPr lang="en-US" sz="1250" dirty="0"/>
          </a:p>
          <a:p>
            <a:pPr marL="0" indent="0">
              <a:buNone/>
            </a:pPr>
            <a:r>
              <a:rPr lang="en-US" sz="1100" dirty="0">
                <a:solidFill>
                  <a:srgbClr val="5A6B4D"/>
                </a:solidFill>
                <a:latin typeface="Calibri" pitchFamily="34" charset="0"/>
                <a:ea typeface="Malgun Gothic"/>
                <a:cs typeface="Calibri" pitchFamily="34" charset="-120"/>
              </a:rPr>
              <a:t>SGD의 업데이트가 가장 단순해 약간 빠름</a:t>
            </a:r>
            <a:endParaRPr lang="en-US" sz="1250" dirty="0"/>
          </a:p>
        </p:txBody>
      </p:sp>
      <p:sp>
        <p:nvSpPr>
          <p:cNvPr id="21" name="Text 8"/>
          <p:cNvSpPr txBox="1"/>
          <p:nvPr/>
        </p:nvSpPr>
        <p:spPr>
          <a:xfrm>
            <a:off x="836676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Only reflects the cost of one epoch, not learning</a:t>
            </a:r>
            <a:endParaRPr lang="en-US" sz="1250" dirty="0"/>
          </a:p>
        </p:txBody>
      </p:sp>
      <p:sp>
        <p:nvSpPr>
          <p:cNvPr id="22" name="Shape 2"/>
          <p:cNvSpPr/>
          <p:nvPr/>
        </p:nvSpPr>
        <p:spPr>
          <a:xfrm>
            <a:off x="822960" y="4983480"/>
            <a:ext cx="10515600" cy="1005840"/>
          </a:xfrm>
          <a:prstGeom prst="roundRect">
            <a:avLst>
              <a:gd name="adj" fmla="val 6486"/>
            </a:avLst>
          </a:prstGeom>
          <a:solidFill>
            <a:srgbClr val="2C5F2D"/>
          </a:solidFill>
          <a:ln/>
        </p:spPr>
      </p:sp>
      <p:sp>
        <p:nvSpPr>
          <p:cNvPr id="23" name="Text 3"/>
          <p:cNvSpPr txBox="1"/>
          <p:nvPr/>
        </p:nvSpPr>
        <p:spPr>
          <a:xfrm>
            <a:off x="1143000" y="5047488"/>
            <a:ext cx="9875520" cy="877824"/>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Cambria" pitchFamily="34" charset="0"/>
                <a:ea typeface="Cambria" pitchFamily="34" charset="-122"/>
                <a:cs typeface="Cambria" pitchFamily="34" charset="-120"/>
              </a:rPr>
              <a:t>No: with ResNet-18 all four optimizers reach ≈ 0.99, so the optimizer barely matters once the model is strong.</a:t>
            </a:r>
            <a:endParaRPr lang="en-US" sz="2000" dirty="0"/>
          </a:p>
          <a:p>
            <a:pPr marL="0" indent="0">
              <a:lnSpc>
                <a:spcPct val="105000"/>
              </a:lnSpc>
              <a:buNone/>
            </a:pPr>
            <a:r>
              <a:rPr lang="en-US" altLang="ko-KR" sz="1200" dirty="0">
                <a:solidFill>
                  <a:srgbClr val="D9E4CF"/>
                </a:solidFill>
                <a:latin typeface="Calibri" pitchFamily="34" charset="0"/>
                <a:ea typeface="Malgun Gothic"/>
                <a:cs typeface="Calibri" pitchFamily="34" charset="-120"/>
              </a:rPr>
              <a:t>아니오 · ResNet-18에서는 네 알고리즘 모두 약 0.99 → 모델이 강하면 알고리즘 선택의 영향이 매우 작음</a:t>
            </a:r>
            <a:endParaRPr lang="en-US" sz="2000" dirty="0"/>
          </a:p>
        </p:txBody>
      </p:sp>
      <p:sp>
        <p:nvSpPr>
          <p:cNvPr id="24" name="Text 22"/>
          <p:cNvSpPr txBox="1"/>
          <p:nvPr/>
        </p:nvSpPr>
        <p:spPr>
          <a:xfrm>
            <a:off x="822960" y="617220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Applied mechanically, the rule would pick SGD on time (about 0.2 s faster per epoch), but that measures SGD's simpler update, not better learning, so I don't count it as a win.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15"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DISCUSSION  (논의)</a:t>
            </a:r>
            <a:endParaRPr lang="en-US" sz="1200" dirty="0"/>
          </a:p>
        </p:txBody>
      </p:sp>
      <p:sp>
        <p:nvSpPr>
          <p:cNvPr id="16"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Discussion</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논의</a:t>
            </a:r>
            <a:endParaRPr lang="en-US" sz="3000" dirty="0"/>
          </a:p>
        </p:txBody>
      </p:sp>
      <p:sp>
        <p:nvSpPr>
          <p:cNvPr id="17" name="Shape 4"/>
          <p:cNvSpPr/>
          <p:nvPr/>
        </p:nvSpPr>
        <p:spPr>
          <a:xfrm>
            <a:off x="822960" y="1874519"/>
            <a:ext cx="5120640" cy="4206240"/>
          </a:xfrm>
          <a:prstGeom prst="roundRect">
            <a:avLst>
              <a:gd name="adj" fmla="val 4167"/>
            </a:avLst>
          </a:prstGeom>
          <a:solidFill>
            <a:srgbClr val="FFFFFF"/>
          </a:solidFill>
          <a:ln w="12700">
            <a:solidFill>
              <a:srgbClr val="97BC62"/>
            </a:solidFill>
            <a:prstDash val="solid"/>
          </a:ln>
        </p:spPr>
      </p:sp>
      <p:sp>
        <p:nvSpPr>
          <p:cNvPr id="18" name="Text 7"/>
          <p:cNvSpPr txBox="1"/>
          <p:nvPr/>
        </p:nvSpPr>
        <p:spPr>
          <a:xfrm>
            <a:off x="1097280" y="2011680"/>
            <a:ext cx="4480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Small CNN study</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소형 CNN 실험</a:t>
            </a:r>
            <a:endParaRPr lang="en-US" sz="1600" dirty="0"/>
          </a:p>
        </p:txBody>
      </p:sp>
      <p:sp>
        <p:nvSpPr>
          <p:cNvPr id="19" name="Text 8"/>
          <p:cNvSpPr txBox="1"/>
          <p:nvPr/>
        </p:nvSpPr>
        <p:spPr>
          <a:xfrm>
            <a:off x="1097280" y="2697480"/>
            <a:ext cx="4572000" cy="3291840"/>
          </a:xfrm>
          <a:prstGeom prst="rect">
            <a:avLst/>
          </a:prstGeom>
          <a:noFill/>
          <a:ln/>
        </p:spPr>
        <p:txBody>
          <a:bodyPr wrap="square" lIns="0" tIns="0" rIns="0" bIns="0" rtlCol="0" anchor="t"/>
          <a:lstStyle/>
          <a:p>
            <a:pPr marL="171450" indent="-171450">
              <a:spcBef>
                <a:spcPts val="700"/>
              </a:spcBef>
              <a:buFont typeface="Arial"/>
              <a:buChar char="•"/>
            </a:pPr>
            <a:r>
              <a:rPr lang="en-US" sz="1400" dirty="0">
                <a:latin typeface="Calibri" pitchFamily="34" charset="0"/>
                <a:ea typeface="Calibri" pitchFamily="34" charset="-122"/>
                <a:cs typeface="Calibri" pitchFamily="34" charset="-120"/>
              </a:rPr>
              <a:t>Adaptive optimizers clearly beat plain SGD, in accuracy and in how fast they reach useful performance (about 6–10 vs 17 epochs).</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The differences are largest on the rare, hard class: angular leaf spot F1 rose from 0.711 (SGD) to 0.822 (Adam); powdery mildew is near-perfect for all.</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Every optimizer confuses angular leaf spot with leaf spot, so more angular leaf spot data or augmentation would likely help more than changing optimizer.</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Adam reached the target in fewer epochs than Adagrad (6.0 vs 10.4), a trend that just missed significance after correction (p = 0.06).</a:t>
            </a:r>
            <a:endParaRPr lang="en-US" sz="1400" dirty="0"/>
          </a:p>
        </p:txBody>
      </p:sp>
      <p:sp>
        <p:nvSpPr>
          <p:cNvPr id="20" name="Shape 4"/>
          <p:cNvSpPr/>
          <p:nvPr/>
        </p:nvSpPr>
        <p:spPr>
          <a:xfrm>
            <a:off x="6217920" y="1874519"/>
            <a:ext cx="5120640" cy="4206240"/>
          </a:xfrm>
          <a:prstGeom prst="roundRect">
            <a:avLst>
              <a:gd name="adj" fmla="val 4167"/>
            </a:avLst>
          </a:prstGeom>
          <a:solidFill>
            <a:srgbClr val="FFFFFF"/>
          </a:solidFill>
          <a:ln w="12700">
            <a:solidFill>
              <a:srgbClr val="B5303B"/>
            </a:solidFill>
            <a:prstDash val="solid"/>
          </a:ln>
        </p:spPr>
      </p:sp>
      <p:sp>
        <p:nvSpPr>
          <p:cNvPr id="21" name="Text 7"/>
          <p:cNvSpPr txBox="1"/>
          <p:nvPr/>
        </p:nvSpPr>
        <p:spPr>
          <a:xfrm>
            <a:off x="6492240" y="2011680"/>
            <a:ext cx="4480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ResNet-18 comparison</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ResNet-18 비교</a:t>
            </a:r>
            <a:endParaRPr lang="en-US" sz="1600" dirty="0"/>
          </a:p>
        </p:txBody>
      </p:sp>
      <p:sp>
        <p:nvSpPr>
          <p:cNvPr id="22" name="Text 8"/>
          <p:cNvSpPr txBox="1"/>
          <p:nvPr/>
        </p:nvSpPr>
        <p:spPr>
          <a:xfrm>
            <a:off x="6492240" y="2697480"/>
            <a:ext cx="4572000" cy="3291840"/>
          </a:xfrm>
          <a:prstGeom prst="rect">
            <a:avLst/>
          </a:prstGeom>
          <a:noFill/>
          <a:ln/>
        </p:spPr>
        <p:txBody>
          <a:bodyPr wrap="square" lIns="0" tIns="0" rIns="0" bIns="0" rtlCol="0" anchor="t"/>
          <a:lstStyle/>
          <a:p>
            <a:pPr marL="171450" indent="-171450">
              <a:spcBef>
                <a:spcPts val="700"/>
              </a:spcBef>
              <a:buFont typeface="Arial"/>
              <a:buChar char="•"/>
            </a:pPr>
            <a:r>
              <a:rPr lang="en-US" sz="1400" dirty="0">
                <a:latin typeface="Calibri" pitchFamily="34" charset="0"/>
                <a:ea typeface="Calibri" pitchFamily="34" charset="-122"/>
                <a:cs typeface="Calibri" pitchFamily="34" charset="-120"/>
              </a:rPr>
              <a:t>A pretrained ResNet-18 scored about 0.99 with every optimizer; all 20 of its runs beat all 20 small-CNN runs.</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It fixed most of the angular leaf spot ↔ leaf spot confusion (angular leaf spot F1 0.98–0.99).</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The gap between optimizers shrank from 0.049 to 0.005: with a strong pretrained model, the choice of optimizer barely matters.</a:t>
            </a:r>
            <a:endParaRPr lang="en-US" sz="1400" dirty="0"/>
          </a:p>
          <a:p>
            <a:pPr marL="171450" indent="-171450">
              <a:spcBef>
                <a:spcPts val="700"/>
              </a:spcBef>
              <a:buFont typeface="Arial"/>
              <a:buChar char="•"/>
            </a:pPr>
            <a:r>
              <a:rPr lang="en-US" sz="1400" dirty="0">
                <a:latin typeface="Calibri" pitchFamily="34" charset="0"/>
                <a:ea typeface="Calibri" pitchFamily="34" charset="-122"/>
                <a:cs typeface="Calibri" pitchFamily="34" charset="-120"/>
              </a:rPr>
              <a:t>SGD was last with both models, the one consistent optimizer result.</a:t>
            </a:r>
            <a:endParaRPr lang="en-US" sz="1400" dirty="0"/>
          </a:p>
        </p:txBody>
      </p:sp>
    </p:spTree>
    <p:extLst>
      <p:ext uri="{BB962C8B-B14F-4D97-AF65-F5344CB8AC3E}">
        <p14:creationId xmlns:p14="http://schemas.microsoft.com/office/powerpoint/2010/main" val="286922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DISCUSSION  (논의)</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Limitations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한계점</a:t>
            </a:r>
            <a:endParaRPr lang="en-US" sz="3000" dirty="0"/>
          </a:p>
        </p:txBody>
      </p:sp>
      <p:sp>
        <p:nvSpPr>
          <p:cNvPr id="4" name="Shape 4"/>
          <p:cNvSpPr/>
          <p:nvPr/>
        </p:nvSpPr>
        <p:spPr>
          <a:xfrm>
            <a:off x="822960" y="1874519"/>
            <a:ext cx="5120640" cy="4251960"/>
          </a:xfrm>
          <a:prstGeom prst="roundRect">
            <a:avLst>
              <a:gd name="adj" fmla="val 4167"/>
            </a:avLst>
          </a:prstGeom>
          <a:solidFill>
            <a:srgbClr val="FFFFFF"/>
          </a:solidFill>
          <a:ln w="12700">
            <a:solidFill>
              <a:srgbClr val="97BC62"/>
            </a:solidFill>
            <a:prstDash val="solid"/>
          </a:ln>
        </p:spPr>
      </p:sp>
      <p:sp>
        <p:nvSpPr>
          <p:cNvPr id="5" name="Text 7"/>
          <p:cNvSpPr txBox="1"/>
          <p:nvPr/>
        </p:nvSpPr>
        <p:spPr>
          <a:xfrm>
            <a:off x="1097280" y="2011680"/>
            <a:ext cx="4480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Design and tuning</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설계·튜닝</a:t>
            </a:r>
            <a:endParaRPr lang="en-US" sz="1600" dirty="0"/>
          </a:p>
        </p:txBody>
      </p:sp>
      <p:sp>
        <p:nvSpPr>
          <p:cNvPr id="6" name="Text 8"/>
          <p:cNvSpPr txBox="1"/>
          <p:nvPr/>
        </p:nvSpPr>
        <p:spPr>
          <a:xfrm>
            <a:off x="1097280" y="2697480"/>
            <a:ext cx="4572000" cy="3337560"/>
          </a:xfrm>
          <a:prstGeom prst="rect">
            <a:avLst/>
          </a:prstGeom>
          <a:noFill/>
          <a:ln/>
        </p:spPr>
        <p:txBody>
          <a:bodyPr wrap="square" lIns="0" tIns="0" rIns="0" bIns="0" rtlCol="0" anchor="t"/>
          <a:lstStyle/>
          <a:p>
            <a:pPr marL="171450" indent="-171450">
              <a:spcBef>
                <a:spcPts val="500"/>
              </a:spcBef>
              <a:buFont typeface="Arial"/>
              <a:buChar char="•"/>
            </a:pPr>
            <a:r>
              <a:rPr lang="en-US" sz="1400" dirty="0">
                <a:latin typeface="Calibri" pitchFamily="34" charset="0"/>
                <a:ea typeface="Calibri" pitchFamily="34" charset="-122"/>
                <a:cs typeface="Calibri" pitchFamily="34" charset="-120"/>
              </a:rPr>
              <a:t>Only 5 seeds per optimizer: not enough to show a significant difference between Adam and RMSprop.</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Learning rates were chosen from a single sweep run each (seed 100) on a coarse grid with roughly ×3 steps; another seed might pick slightly different rates.</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SGD's best rate sat on the edge of the grid (0.1 small CNN, 0.01 ResNet-18), so its true best rate may lie outside the range tested.</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Only the learning rate was tuned. Momentum, Adam's betas and weight decay stayed at defaults, and SGD had no momentum, which may make it look worse than usual.</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No learning-rate schedules or data augmentation: a deliberately simple setting compared with real field data.</a:t>
            </a:r>
            <a:endParaRPr lang="en-US" sz="1400" dirty="0"/>
          </a:p>
        </p:txBody>
      </p:sp>
      <p:sp>
        <p:nvSpPr>
          <p:cNvPr id="7" name="Shape 4"/>
          <p:cNvSpPr/>
          <p:nvPr/>
        </p:nvSpPr>
        <p:spPr>
          <a:xfrm>
            <a:off x="6217920" y="1874519"/>
            <a:ext cx="5120640" cy="4251960"/>
          </a:xfrm>
          <a:prstGeom prst="roundRect">
            <a:avLst>
              <a:gd name="adj" fmla="val 4167"/>
            </a:avLst>
          </a:prstGeom>
          <a:solidFill>
            <a:srgbClr val="FFFFFF"/>
          </a:solidFill>
          <a:ln w="12700">
            <a:solidFill>
              <a:srgbClr val="B5303B"/>
            </a:solidFill>
            <a:prstDash val="solid"/>
          </a:ln>
        </p:spPr>
      </p:sp>
      <p:sp>
        <p:nvSpPr>
          <p:cNvPr id="8" name="Text 7"/>
          <p:cNvSpPr txBox="1"/>
          <p:nvPr/>
        </p:nvSpPr>
        <p:spPr>
          <a:xfrm>
            <a:off x="6492240" y="2011680"/>
            <a:ext cx="4480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Data and measurement</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데이터·측정</a:t>
            </a:r>
            <a:endParaRPr lang="en-US" sz="1600" dirty="0"/>
          </a:p>
        </p:txBody>
      </p:sp>
      <p:sp>
        <p:nvSpPr>
          <p:cNvPr id="9" name="Text 8"/>
          <p:cNvSpPr txBox="1"/>
          <p:nvPr/>
        </p:nvSpPr>
        <p:spPr>
          <a:xfrm>
            <a:off x="6492240" y="2697480"/>
            <a:ext cx="4572000" cy="3337560"/>
          </a:xfrm>
          <a:prstGeom prst="rect">
            <a:avLst/>
          </a:prstGeom>
          <a:noFill/>
          <a:ln/>
        </p:spPr>
        <p:txBody>
          <a:bodyPr wrap="square" lIns="0" tIns="0" rIns="0" bIns="0" rtlCol="0" anchor="t"/>
          <a:lstStyle/>
          <a:p>
            <a:pPr marL="171450" indent="-171450">
              <a:spcBef>
                <a:spcPts val="500"/>
              </a:spcBef>
              <a:buFont typeface="Arial"/>
              <a:buChar char="•"/>
            </a:pPr>
            <a:r>
              <a:rPr lang="en-US" sz="1400" dirty="0">
                <a:latin typeface="Calibri" pitchFamily="34" charset="0"/>
                <a:ea typeface="Calibri" pitchFamily="34" charset="-122"/>
                <a:cs typeface="Calibri" pitchFamily="34" charset="-120"/>
              </a:rPr>
              <a:t>One dataset and one fixed split; only 58 angular leaf spot test images (1 image ≈ 1.7%).</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The models classify ready-made leaf crops; a real system would first need to find the leaves.</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Training times are only comparable within a model (small CNN on a laptop CPU, ResNet-18 on a GPU).</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ResNet-18 hit a ceiling (≈ 0.99) and reached its 0.80 target in the first epoch, so it can't show optimizer differences.</a:t>
            </a:r>
            <a:endParaRPr lang="en-US" sz="1400" dirty="0"/>
          </a:p>
          <a:p>
            <a:pPr marL="171450" indent="-171450">
              <a:spcBef>
                <a:spcPts val="500"/>
              </a:spcBef>
              <a:buFont typeface="Arial"/>
              <a:buChar char="•"/>
            </a:pPr>
            <a:r>
              <a:rPr lang="en-US" sz="1400" dirty="0">
                <a:latin typeface="Calibri" pitchFamily="34" charset="0"/>
                <a:ea typeface="Calibri" pitchFamily="34" charset="-122"/>
                <a:cs typeface="Calibri" pitchFamily="34" charset="-120"/>
              </a:rPr>
              <a:t>ResNet-18 changes pretraining, depth and input size at once (most crops are ~160 px, enlarged to 224), so the gain belongs to the whole pipeline.</a:t>
            </a:r>
            <a:endParaRPr lang="en-US" sz="1400" dirty="0"/>
          </a:p>
        </p:txBody>
      </p:sp>
      <p:sp>
        <p:nvSpPr>
          <p:cNvPr id="10" name="Text 22"/>
          <p:cNvSpPr txBox="1"/>
          <p:nvPr/>
        </p:nvSpPr>
        <p:spPr>
          <a:xfrm>
            <a:off x="822960" y="626364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The pilot also used dropout and a class-weighted loss, so pilot vs final differences are not due to tuning alone.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CONCLUSION  (결론)</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Conclusion</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결론  ·  소형 딸기 잎 분류기에 가장 적합한 최적화 알고리즘은?</a:t>
            </a:r>
            <a:endParaRPr lang="en-US" sz="3000" dirty="0"/>
          </a:p>
        </p:txBody>
      </p:sp>
      <p:sp>
        <p:nvSpPr>
          <p:cNvPr id="4" name="Shape 4"/>
          <p:cNvSpPr/>
          <p:nvPr/>
        </p:nvSpPr>
        <p:spPr>
          <a:xfrm>
            <a:off x="822960" y="1874519"/>
            <a:ext cx="3291840" cy="2926080"/>
          </a:xfrm>
          <a:prstGeom prst="roundRect">
            <a:avLst>
              <a:gd name="adj" fmla="val 4167"/>
            </a:avLst>
          </a:prstGeom>
          <a:solidFill>
            <a:srgbClr val="FFFFFF"/>
          </a:solidFill>
          <a:ln w="12700">
            <a:solidFill>
              <a:srgbClr val="97BC62"/>
            </a:solidFill>
            <a:prstDash val="solid"/>
          </a:ln>
        </p:spPr>
      </p:sp>
      <p:sp>
        <p:nvSpPr>
          <p:cNvPr id="5" name="Shape 5"/>
          <p:cNvSpPr/>
          <p:nvPr/>
        </p:nvSpPr>
        <p:spPr>
          <a:xfrm>
            <a:off x="1143000" y="2148839"/>
            <a:ext cx="502920" cy="502920"/>
          </a:xfrm>
          <a:prstGeom prst="ellipse">
            <a:avLst/>
          </a:prstGeom>
          <a:solidFill>
            <a:srgbClr val="2C5F2D"/>
          </a:solidFill>
          <a:ln/>
        </p:spPr>
      </p:sp>
      <p:sp>
        <p:nvSpPr>
          <p:cNvPr id="6" name="Text 6"/>
          <p:cNvSpPr txBox="1"/>
          <p:nvPr/>
        </p:nvSpPr>
        <p:spPr>
          <a:xfrm>
            <a:off x="1143000" y="2148839"/>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7"/>
          <p:cNvSpPr txBox="1"/>
          <p:nvPr/>
        </p:nvSpPr>
        <p:spPr>
          <a:xfrm>
            <a:off x="178308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Adaptive beats SGD</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적응형 &gt; SGD</a:t>
            </a:r>
            <a:endParaRPr lang="en-US" sz="1600" dirty="0"/>
          </a:p>
        </p:txBody>
      </p:sp>
      <p:sp>
        <p:nvSpPr>
          <p:cNvPr id="8" name="Text 8"/>
          <p:cNvSpPr txBox="1"/>
          <p:nvPr/>
        </p:nvSpPr>
        <p:spPr>
          <a:xfrm>
            <a:off x="1143000" y="2926079"/>
            <a:ext cx="2697480" cy="1188720"/>
          </a:xfrm>
          <a:prstGeom prst="rect">
            <a:avLst/>
          </a:prstGeom>
          <a:noFill/>
          <a:ln/>
        </p:spPr>
        <p:txBody>
          <a:bodyPr wrap="square" lIns="0" tIns="0" rIns="0" bIns="0" rtlCol="0" anchor="t"/>
          <a:lstStyle/>
          <a:p>
            <a:pPr marL="0" indent="0">
              <a:buNone/>
            </a:pPr>
            <a:r>
              <a:rPr lang="en-US" sz="1200" dirty="0">
                <a:solidFill>
                  <a:srgbClr val="5A6B4D"/>
                </a:solidFill>
                <a:latin typeface="Calibri" pitchFamily="34" charset="0"/>
                <a:ea typeface="Calibri" pitchFamily="34" charset="-122"/>
                <a:cs typeface="Calibri" pitchFamily="34" charset="-120"/>
              </a:rPr>
              <a:t>Macro-F1 0.883–0.907 vs 0.858, and the target in 6–10 vs 17 epochs.</a:t>
            </a:r>
            <a:endParaRPr lang="en-US" sz="1250" dirty="0"/>
          </a:p>
          <a:p>
            <a:pPr marL="0" indent="0">
              <a:buNone/>
            </a:pPr>
            <a:r>
              <a:rPr lang="en-US" sz="1100" dirty="0">
                <a:solidFill>
                  <a:srgbClr val="5A6B4D"/>
                </a:solidFill>
                <a:latin typeface="Calibri" pitchFamily="34" charset="0"/>
                <a:ea typeface="Malgun Gothic"/>
                <a:cs typeface="Calibri" pitchFamily="34" charset="-120"/>
              </a:rPr>
              <a:t>정확도와 수렴 속도 모두 SGD보다 우수</a:t>
            </a:r>
            <a:endParaRPr lang="en-US" sz="1250" dirty="0"/>
          </a:p>
        </p:txBody>
      </p:sp>
      <p:sp>
        <p:nvSpPr>
          <p:cNvPr id="9" name="Text 8"/>
          <p:cNvSpPr txBox="1"/>
          <p:nvPr/>
        </p:nvSpPr>
        <p:spPr>
          <a:xfrm>
            <a:off x="114300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SGD was last with both models</a:t>
            </a:r>
            <a:endParaRPr lang="en-US" sz="1250" dirty="0"/>
          </a:p>
        </p:txBody>
      </p:sp>
      <p:sp>
        <p:nvSpPr>
          <p:cNvPr id="10" name="Shape 4"/>
          <p:cNvSpPr/>
          <p:nvPr/>
        </p:nvSpPr>
        <p:spPr>
          <a:xfrm>
            <a:off x="4434840" y="1874519"/>
            <a:ext cx="3291840" cy="2926080"/>
          </a:xfrm>
          <a:prstGeom prst="roundRect">
            <a:avLst>
              <a:gd name="adj" fmla="val 4167"/>
            </a:avLst>
          </a:prstGeom>
          <a:solidFill>
            <a:srgbClr val="FFFFFF"/>
          </a:solidFill>
          <a:ln w="12700">
            <a:solidFill>
              <a:srgbClr val="97BC62"/>
            </a:solidFill>
            <a:prstDash val="solid"/>
          </a:ln>
        </p:spPr>
      </p:sp>
      <p:sp>
        <p:nvSpPr>
          <p:cNvPr id="11" name="Shape 10"/>
          <p:cNvSpPr/>
          <p:nvPr/>
        </p:nvSpPr>
        <p:spPr>
          <a:xfrm>
            <a:off x="4754880" y="2148839"/>
            <a:ext cx="502920" cy="502920"/>
          </a:xfrm>
          <a:prstGeom prst="ellipse">
            <a:avLst/>
          </a:prstGeom>
          <a:solidFill>
            <a:srgbClr val="6B8E3D"/>
          </a:solidFill>
          <a:ln/>
        </p:spPr>
      </p:sp>
      <p:sp>
        <p:nvSpPr>
          <p:cNvPr id="12" name="Text 6"/>
          <p:cNvSpPr txBox="1"/>
          <p:nvPr/>
        </p:nvSpPr>
        <p:spPr>
          <a:xfrm>
            <a:off x="4754880" y="2148839"/>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7"/>
          <p:cNvSpPr txBox="1"/>
          <p:nvPr/>
        </p:nvSpPr>
        <p:spPr>
          <a:xfrm>
            <a:off x="539496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No single winner</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단일 최적 없음</a:t>
            </a:r>
            <a:endParaRPr lang="en-US" sz="1600" dirty="0"/>
          </a:p>
        </p:txBody>
      </p:sp>
      <p:sp>
        <p:nvSpPr>
          <p:cNvPr id="14" name="Text 8"/>
          <p:cNvSpPr txBox="1"/>
          <p:nvPr/>
        </p:nvSpPr>
        <p:spPr>
          <a:xfrm>
            <a:off x="4754880" y="2926079"/>
            <a:ext cx="2697480" cy="1188720"/>
          </a:xfrm>
          <a:prstGeom prst="rect">
            <a:avLst/>
          </a:prstGeom>
          <a:noFill/>
          <a:ln/>
        </p:spPr>
        <p:txBody>
          <a:bodyPr wrap="square" lIns="0" tIns="0" rIns="0" bIns="0" rtlCol="0" anchor="t"/>
          <a:lstStyle/>
          <a:p>
            <a:pPr marL="0" indent="0">
              <a:buNone/>
            </a:pPr>
            <a:r>
              <a:rPr lang="en-US" sz="1200" dirty="0">
                <a:solidFill>
                  <a:srgbClr val="5A6B4D"/>
                </a:solidFill>
                <a:latin typeface="Calibri" pitchFamily="34" charset="0"/>
                <a:ea typeface="Calibri" pitchFamily="34" charset="-122"/>
                <a:cs typeface="Calibri" pitchFamily="34" charset="-120"/>
              </a:rPr>
              <a:t>Adam had the best mean on all three criteria, but not significantly better than RMSprop or Adagrad.</a:t>
            </a:r>
            <a:endParaRPr lang="en-US" sz="1250" dirty="0"/>
          </a:p>
          <a:p>
            <a:pPr marL="0" indent="0">
              <a:buNone/>
            </a:pPr>
            <a:r>
              <a:rPr lang="en-US" sz="1100" dirty="0">
                <a:solidFill>
                  <a:srgbClr val="5A6B4D"/>
                </a:solidFill>
                <a:latin typeface="Calibri" pitchFamily="34" charset="0"/>
                <a:ea typeface="Malgun Gothic"/>
                <a:cs typeface="Calibri" pitchFamily="34" charset="-120"/>
              </a:rPr>
              <a:t>Adam 평균 1위, 유의차 없음</a:t>
            </a:r>
            <a:endParaRPr lang="en-US" sz="1250" dirty="0"/>
          </a:p>
        </p:txBody>
      </p:sp>
      <p:sp>
        <p:nvSpPr>
          <p:cNvPr id="15" name="Text 8"/>
          <p:cNvSpPr txBox="1"/>
          <p:nvPr/>
        </p:nvSpPr>
        <p:spPr>
          <a:xfrm>
            <a:off x="475488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Practical default: Adam (RMSprop equally good)</a:t>
            </a:r>
            <a:endParaRPr lang="en-US" sz="1250" dirty="0"/>
          </a:p>
        </p:txBody>
      </p:sp>
      <p:sp>
        <p:nvSpPr>
          <p:cNvPr id="16" name="Shape 4"/>
          <p:cNvSpPr/>
          <p:nvPr/>
        </p:nvSpPr>
        <p:spPr>
          <a:xfrm>
            <a:off x="8046720" y="1874519"/>
            <a:ext cx="3291840" cy="2926080"/>
          </a:xfrm>
          <a:prstGeom prst="roundRect">
            <a:avLst>
              <a:gd name="adj" fmla="val 4167"/>
            </a:avLst>
          </a:prstGeom>
          <a:solidFill>
            <a:srgbClr val="FFFFFF"/>
          </a:solidFill>
          <a:ln w="12700">
            <a:solidFill>
              <a:srgbClr val="97BC62"/>
            </a:solidFill>
            <a:prstDash val="solid"/>
          </a:ln>
        </p:spPr>
      </p:sp>
      <p:sp>
        <p:nvSpPr>
          <p:cNvPr id="17" name="Shape 15"/>
          <p:cNvSpPr/>
          <p:nvPr/>
        </p:nvSpPr>
        <p:spPr>
          <a:xfrm>
            <a:off x="8366760" y="2148839"/>
            <a:ext cx="502920" cy="502920"/>
          </a:xfrm>
          <a:prstGeom prst="ellipse">
            <a:avLst/>
          </a:prstGeom>
          <a:solidFill>
            <a:srgbClr val="B5303B"/>
          </a:solidFill>
          <a:ln/>
        </p:spPr>
      </p:sp>
      <p:sp>
        <p:nvSpPr>
          <p:cNvPr id="18" name="Text 6"/>
          <p:cNvSpPr txBox="1"/>
          <p:nvPr/>
        </p:nvSpPr>
        <p:spPr>
          <a:xfrm>
            <a:off x="8366760" y="2148839"/>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7"/>
          <p:cNvSpPr txBox="1"/>
          <p:nvPr/>
        </p:nvSpPr>
        <p:spPr>
          <a:xfrm>
            <a:off x="9006840" y="2057400"/>
            <a:ext cx="2194560" cy="685800"/>
          </a:xfrm>
          <a:prstGeom prst="rect">
            <a:avLst/>
          </a:prstGeom>
          <a:noFill/>
          <a:ln/>
        </p:spPr>
        <p:txBody>
          <a:bodyPr wrap="square" lIns="0" tIns="0" rIns="0" bIns="0" rtlCol="0" anchor="ctr"/>
          <a:lstStyle/>
          <a:p>
            <a:pPr marL="0" indent="0">
              <a:buNone/>
            </a:pPr>
            <a:r>
              <a:rPr lang="en-US" sz="1600" b="1" dirty="0">
                <a:solidFill>
                  <a:srgbClr val="23301C"/>
                </a:solidFill>
                <a:latin typeface="Cambria" pitchFamily="34" charset="0"/>
                <a:ea typeface="Cambria" pitchFamily="34" charset="-122"/>
                <a:cs typeface="Cambria" pitchFamily="34" charset="-120"/>
              </a:rPr>
              <a:t>Model &gt; optimizer</a:t>
            </a:r>
            <a:endParaRPr lang="en-US" sz="1600" dirty="0"/>
          </a:p>
          <a:p>
            <a:pPr marL="0" indent="0">
              <a:buNone/>
            </a:pPr>
            <a:r>
              <a:rPr lang="en-US" altLang="ko-KR" sz="1200" dirty="0">
                <a:solidFill>
                  <a:srgbClr val="B5303B"/>
                </a:solidFill>
                <a:latin typeface="Calibri" pitchFamily="34" charset="0"/>
                <a:ea typeface="Malgun Gothic"/>
                <a:cs typeface="Calibri" pitchFamily="34" charset="-120"/>
              </a:rPr>
              <a:t>모델 &gt; 알고리즘</a:t>
            </a:r>
            <a:endParaRPr lang="en-US" sz="1600" dirty="0"/>
          </a:p>
        </p:txBody>
      </p:sp>
      <p:sp>
        <p:nvSpPr>
          <p:cNvPr id="20" name="Text 8"/>
          <p:cNvSpPr txBox="1"/>
          <p:nvPr/>
        </p:nvSpPr>
        <p:spPr>
          <a:xfrm>
            <a:off x="8366760" y="2926079"/>
            <a:ext cx="2697480" cy="1188720"/>
          </a:xfrm>
          <a:prstGeom prst="rect">
            <a:avLst/>
          </a:prstGeom>
          <a:noFill/>
          <a:ln/>
        </p:spPr>
        <p:txBody>
          <a:bodyPr wrap="square" lIns="0" tIns="0" rIns="0" bIns="0" rtlCol="0" anchor="t"/>
          <a:lstStyle/>
          <a:p>
            <a:pPr marL="0" indent="0">
              <a:buNone/>
            </a:pPr>
            <a:r>
              <a:rPr lang="en-US" sz="1200" dirty="0">
                <a:solidFill>
                  <a:srgbClr val="5A6B4D"/>
                </a:solidFill>
                <a:latin typeface="Calibri" pitchFamily="34" charset="0"/>
                <a:ea typeface="Calibri" pitchFamily="34" charset="-122"/>
                <a:cs typeface="Calibri" pitchFamily="34" charset="-120"/>
              </a:rPr>
              <a:t>ResNet-18 reached ≈ 0.99 with every optimizer and made about 90% fewer errors.</a:t>
            </a:r>
            <a:endParaRPr lang="en-US" sz="1250" dirty="0"/>
          </a:p>
          <a:p>
            <a:pPr marL="0" indent="0">
              <a:buNone/>
            </a:pPr>
            <a:r>
              <a:rPr lang="en-US" sz="1100" dirty="0">
                <a:solidFill>
                  <a:srgbClr val="5A6B4D"/>
                </a:solidFill>
                <a:latin typeface="Calibri" pitchFamily="34" charset="0"/>
                <a:ea typeface="Malgun Gothic"/>
                <a:cs typeface="Calibri" pitchFamily="34" charset="-120"/>
              </a:rPr>
              <a:t>알고리즘 간 차이 0.049 → 0.005</a:t>
            </a:r>
            <a:endParaRPr lang="en-US" sz="1250" dirty="0"/>
          </a:p>
        </p:txBody>
      </p:sp>
      <p:sp>
        <p:nvSpPr>
          <p:cNvPr id="21" name="Text 8"/>
          <p:cNvSpPr txBox="1"/>
          <p:nvPr/>
        </p:nvSpPr>
        <p:spPr>
          <a:xfrm>
            <a:off x="8366760" y="4114800"/>
            <a:ext cx="2697480" cy="594360"/>
          </a:xfrm>
          <a:prstGeom prst="rect">
            <a:avLst/>
          </a:prstGeom>
          <a:noFill/>
          <a:ln/>
        </p:spPr>
        <p:txBody>
          <a:bodyPr wrap="square" lIns="0" tIns="0" rIns="0" bIns="0" rtlCol="0" anchor="t"/>
          <a:lstStyle/>
          <a:p>
            <a:pPr marL="0" indent="0">
              <a:buNone/>
            </a:pPr>
            <a:r>
              <a:rPr lang="en-US" sz="1100" i="1" dirty="0">
                <a:solidFill>
                  <a:srgbClr val="6B8E3D"/>
                </a:solidFill>
                <a:latin typeface="Calibri" pitchFamily="34" charset="0"/>
                <a:ea typeface="Calibri" pitchFamily="34" charset="-122"/>
                <a:cs typeface="Calibri" pitchFamily="34" charset="-120"/>
              </a:rPr>
              <a:t>The model mattered about ten times more</a:t>
            </a:r>
            <a:endParaRPr lang="en-US" sz="1250" dirty="0"/>
          </a:p>
        </p:txBody>
      </p:sp>
      <p:sp>
        <p:nvSpPr>
          <p:cNvPr id="22" name="Shape 2"/>
          <p:cNvSpPr/>
          <p:nvPr/>
        </p:nvSpPr>
        <p:spPr>
          <a:xfrm>
            <a:off x="822960" y="4983480"/>
            <a:ext cx="10515600" cy="1005840"/>
          </a:xfrm>
          <a:prstGeom prst="roundRect">
            <a:avLst>
              <a:gd name="adj" fmla="val 6486"/>
            </a:avLst>
          </a:prstGeom>
          <a:solidFill>
            <a:srgbClr val="2C5F2D"/>
          </a:solidFill>
          <a:ln/>
        </p:spPr>
      </p:sp>
      <p:sp>
        <p:nvSpPr>
          <p:cNvPr id="23" name="Text 3"/>
          <p:cNvSpPr txBox="1"/>
          <p:nvPr/>
        </p:nvSpPr>
        <p:spPr>
          <a:xfrm>
            <a:off x="1143000" y="5047488"/>
            <a:ext cx="9875520" cy="877824"/>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Cambria" pitchFamily="34" charset="0"/>
                <a:ea typeface="Cambria" pitchFamily="34" charset="-122"/>
                <a:cs typeface="Cambria" pitchFamily="34" charset="-120"/>
              </a:rPr>
              <a:t>Use an adaptive optimizer (Adam is a sound default), and a pretrained model: it improves the classifier far more than any optimizer choice.</a:t>
            </a:r>
            <a:endParaRPr lang="en-US" sz="2000" dirty="0"/>
          </a:p>
          <a:p>
            <a:pPr marL="0" indent="0">
              <a:lnSpc>
                <a:spcPct val="105000"/>
              </a:lnSpc>
              <a:buNone/>
            </a:pPr>
            <a:r>
              <a:rPr lang="en-US" altLang="ko-KR" sz="1200" dirty="0">
                <a:solidFill>
                  <a:srgbClr val="D9E4CF"/>
                </a:solidFill>
                <a:latin typeface="Calibri" pitchFamily="34" charset="0"/>
                <a:ea typeface="Malgun Gothic"/>
                <a:cs typeface="Calibri" pitchFamily="34" charset="-120"/>
              </a:rPr>
              <a:t>적응형 알고리즘(Adam) 사용 권장 · 사전학습 모델이 알고리즘 선택보다 훨씬 큰 개선을 가져옴</a:t>
            </a:r>
            <a:endParaRPr lang="en-US" sz="2000" dirty="0"/>
          </a:p>
        </p:txBody>
      </p:sp>
      <p:sp>
        <p:nvSpPr>
          <p:cNvPr id="24" name="Text 22"/>
          <p:cNvSpPr txBox="1"/>
          <p:nvPr/>
        </p:nvSpPr>
        <p:spPr>
          <a:xfrm>
            <a:off x="822960" y="6172200"/>
            <a:ext cx="10515600" cy="365760"/>
          </a:xfrm>
          <a:prstGeom prst="rect">
            <a:avLst/>
          </a:prstGeom>
          <a:noFill/>
          <a:ln/>
        </p:spPr>
        <p:txBody>
          <a:bodyPr wrap="square" lIns="0" tIns="0" rIns="0" bIns="0" rtlCol="0" anchor="ctr"/>
          <a:lstStyle/>
          <a:p>
            <a:pPr marL="0" indent="0" algn="ctr">
              <a:buNone/>
            </a:pPr>
            <a:r>
              <a:rPr lang="en-US" altLang="ko-KR" sz="1100" i="1" dirty="0">
                <a:solidFill>
                  <a:srgbClr val="2C5F2D"/>
                </a:solidFill>
                <a:latin typeface="Calibri" pitchFamily="34" charset="0"/>
                <a:ea typeface="Malgun Gothic"/>
                <a:cs typeface="Calibri" pitchFamily="34" charset="-120"/>
              </a:rPr>
              <a:t>Next steps: more seeds, SGD with momentum, data augmentation, and a second disease task (AI Hub: Phytophthora blight vs wilt).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0"/>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9144000" cy="292608"/>
          </a:xfrm>
          <a:prstGeom prst="rect">
            <a:avLst/>
          </a:prstGeom>
          <a:noFill/>
          <a:ln/>
        </p:spPr>
        <p:txBody>
          <a:bodyPr wrap="square" lIns="0" tIns="0" rIns="0" bIns="0" rtlCol="0" anchor="ctr"/>
          <a:lstStyle/>
          <a:p>
            <a:pPr marL="0" indent="0" algn="l">
              <a:buNone/>
            </a:pPr>
            <a:r>
              <a:rPr lang="en-US" altLang="ko-KR" sz="1200" b="1" kern="0" spc="300" dirty="0">
                <a:solidFill>
                  <a:srgbClr val="B5303B"/>
                </a:solidFill>
                <a:latin typeface="Calibri" pitchFamily="34" charset="0"/>
                <a:ea typeface="Malgun Gothic"/>
                <a:cs typeface="Calibri" pitchFamily="34" charset="-120"/>
              </a:rPr>
              <a:t>APPENDIX  (부록)</a:t>
            </a:r>
            <a:endParaRPr lang="en-US" sz="1200" dirty="0"/>
          </a:p>
        </p:txBody>
      </p:sp>
      <p:sp>
        <p:nvSpPr>
          <p:cNvPr id="3" name="Text 1"/>
          <p:cNvSpPr txBox="1"/>
          <p:nvPr/>
        </p:nvSpPr>
        <p:spPr>
          <a:xfrm>
            <a:off x="822960" y="822960"/>
            <a:ext cx="10515600" cy="1051560"/>
          </a:xfrm>
          <a:prstGeom prst="rect">
            <a:avLst/>
          </a:prstGeom>
          <a:noFill/>
          <a:ln/>
        </p:spPr>
        <p:txBody>
          <a:bodyPr wrap="square" lIns="0" tIns="0" rIns="0" bIns="0" rtlCol="0" anchor="t"/>
          <a:lstStyle/>
          <a:p>
            <a:pPr marL="0" indent="0" algn="l">
              <a:lnSpc>
                <a:spcPct val="100000"/>
              </a:lnSpc>
              <a:buNone/>
            </a:pPr>
            <a:r>
              <a:rPr lang="en-US" sz="3000" b="1" dirty="0">
                <a:solidFill>
                  <a:srgbClr val="23301C"/>
                </a:solidFill>
                <a:latin typeface="Cambria" pitchFamily="34" charset="0"/>
                <a:ea typeface="Cambria" pitchFamily="34" charset="-122"/>
                <a:cs typeface="Cambria" pitchFamily="34" charset="-120"/>
              </a:rPr>
              <a:t>Pilot run: full results</a:t>
            </a:r>
            <a:endParaRPr lang="en-US" sz="3000" dirty="0"/>
          </a:p>
          <a:p>
            <a:pPr marL="0" indent="0" algn="l">
              <a:lnSpc>
                <a:spcPct val="100000"/>
              </a:lnSpc>
              <a:buNone/>
            </a:pPr>
            <a:r>
              <a:rPr lang="en-US" altLang="ko-KR" sz="1500" dirty="0">
                <a:solidFill>
                  <a:srgbClr val="5A6B4D"/>
                </a:solidFill>
                <a:latin typeface="Calibri" pitchFamily="34" charset="0"/>
                <a:ea typeface="Malgun Gothic"/>
                <a:cs typeface="Calibri" pitchFamily="34" charset="-120"/>
              </a:rPr>
              <a:t>예비 실험 전체 결과  (시드 3개 평균)</a:t>
            </a:r>
            <a:endParaRPr lang="en-US" sz="3000" dirty="0"/>
          </a:p>
        </p:txBody>
      </p:sp>
      <p:graphicFrame>
        <p:nvGraphicFramePr>
          <p:cNvPr id="4" name="Table 3"/>
          <p:cNvGraphicFramePr>
            <a:graphicFrameLocks noGrp="1"/>
          </p:cNvGraphicFramePr>
          <p:nvPr>
            <p:extLst>
              <p:ext uri="{D42A27DB-BD31-4B8C-83A1-F6EECF244321}">
                <p14:modId xmlns:p14="http://schemas.microsoft.com/office/powerpoint/2010/main" val="4066251449"/>
              </p:ext>
            </p:extLst>
          </p:nvPr>
        </p:nvGraphicFramePr>
        <p:xfrm>
          <a:off x="822960" y="1965960"/>
          <a:ext cx="10515600" cy="1764000"/>
        </p:xfrm>
        <a:graphic>
          <a:graphicData uri="http://schemas.openxmlformats.org/drawingml/2006/table">
            <a:tbl>
              <a:tblPr/>
              <a:tblGrid>
                <a:gridCol w="12344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51560">
                  <a:extLst>
                    <a:ext uri="{9D8B030D-6E8A-4147-A177-3AD203B41FA5}">
                      <a16:colId xmlns:a16="http://schemas.microsoft.com/office/drawing/2014/main" val="20007"/>
                    </a:ext>
                  </a:extLst>
                </a:gridCol>
                <a:gridCol w="1965960">
                  <a:extLst>
                    <a:ext uri="{9D8B030D-6E8A-4147-A177-3AD203B41FA5}">
                      <a16:colId xmlns:a16="http://schemas.microsoft.com/office/drawing/2014/main" val="20008"/>
                    </a:ext>
                  </a:extLst>
                </a:gridCol>
              </a:tblGrid>
              <a:tr h="352800">
                <a:tc>
                  <a:txBody>
                    <a:bodyPr/>
                    <a:lstStyle/>
                    <a:p>
                      <a:r>
                        <a:rPr sz="1300" b="1" i="0" dirty="0">
                          <a:solidFill>
                            <a:srgbClr val="23301C"/>
                          </a:solidFill>
                          <a:latin typeface="+mn-lt"/>
                        </a:rPr>
                        <a:t>Optimizer</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dirty="0">
                          <a:solidFill>
                            <a:srgbClr val="23301C"/>
                          </a:solidFill>
                          <a:latin typeface="+mn-lt"/>
                        </a:rPr>
                        <a:t>LR</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dirty="0">
                          <a:solidFill>
                            <a:srgbClr val="23301C"/>
                          </a:solidFill>
                          <a:latin typeface="+mn-lt"/>
                        </a:rPr>
                        <a:t>Best epoch</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a:solidFill>
                            <a:srgbClr val="23301C"/>
                          </a:solidFill>
                          <a:latin typeface="+mn-lt"/>
                        </a:rPr>
                        <a:t>s/epoch*</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a:solidFill>
                            <a:srgbClr val="23301C"/>
                          </a:solidFill>
                          <a:latin typeface="+mn-lt"/>
                        </a:rPr>
                        <a:t>Total time (s)*</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a:solidFill>
                            <a:srgbClr val="23301C"/>
                          </a:solidFill>
                          <a:latin typeface="+mn-lt"/>
                        </a:rPr>
                        <a:t>Train acc.</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a:solidFill>
                            <a:srgbClr val="23301C"/>
                          </a:solidFill>
                          <a:latin typeface="+mn-lt"/>
                        </a:rPr>
                        <a:t>Val. acc.</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a:solidFill>
                            <a:srgbClr val="23301C"/>
                          </a:solidFill>
                          <a:latin typeface="+mn-lt"/>
                        </a:rPr>
                        <a:t>Test acc.</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tc>
                  <a:txBody>
                    <a:bodyPr/>
                    <a:lstStyle/>
                    <a:p>
                      <a:r>
                        <a:rPr sz="1300" b="1" i="0">
                          <a:solidFill>
                            <a:srgbClr val="23301C"/>
                          </a:solidFill>
                          <a:latin typeface="+mn-lt"/>
                        </a:rPr>
                        <a:t>Test macro-F1</a:t>
                      </a:r>
                    </a:p>
                  </a:txBody>
                  <a:tcPr marL="73152" marR="73152" marT="36576" marB="36576" anchor="ctr">
                    <a:lnL w="0">
                      <a:noFill/>
                    </a:lnL>
                    <a:lnR w="0">
                      <a:noFill/>
                    </a:lnR>
                    <a:lnT w="19050" cap="flat" cmpd="sng">
                      <a:solidFill>
                        <a:srgbClr val="23301C"/>
                      </a:solidFill>
                    </a:lnT>
                    <a:lnB w="12700" cap="flat" cmpd="sng">
                      <a:solidFill>
                        <a:srgbClr val="23301C"/>
                      </a:solidFill>
                    </a:lnB>
                    <a:noFill/>
                  </a:tcPr>
                </a:tc>
                <a:extLst>
                  <a:ext uri="{0D108BD9-81ED-4DB2-BD59-A6C34878D82A}">
                    <a16:rowId xmlns:a16="http://schemas.microsoft.com/office/drawing/2014/main" val="10000"/>
                  </a:ext>
                </a:extLst>
              </a:tr>
              <a:tr h="352800">
                <a:tc>
                  <a:txBody>
                    <a:bodyPr/>
                    <a:lstStyle/>
                    <a:p>
                      <a:r>
                        <a:rPr sz="1300" b="0" i="0" dirty="0">
                          <a:solidFill>
                            <a:srgbClr val="23301C"/>
                          </a:solidFill>
                          <a:latin typeface="+mn-lt"/>
                        </a:rPr>
                        <a:t>SGD</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0.01</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31.0</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dirty="0">
                          <a:solidFill>
                            <a:srgbClr val="23301C"/>
                          </a:solidFill>
                          <a:latin typeface="+mn-lt"/>
                        </a:rPr>
                        <a:t>15.19</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dirty="0">
                          <a:solidFill>
                            <a:srgbClr val="23301C"/>
                          </a:solidFill>
                          <a:latin typeface="+mn-lt"/>
                        </a:rPr>
                        <a:t>596.6</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0.870</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0.865</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0.853</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0.804 ± 0.033</a:t>
                      </a:r>
                    </a:p>
                  </a:txBody>
                  <a:tcPr marL="73152" marR="73152" marT="36576" marB="36576" anchor="ctr">
                    <a:lnL w="0">
                      <a:noFill/>
                    </a:lnL>
                    <a:lnR w="0">
                      <a:noFill/>
                    </a:lnR>
                    <a:lnT w="12700" cap="flat" cmpd="sng" algn="ctr">
                      <a:solidFill>
                        <a:srgbClr val="23301C"/>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1"/>
                  </a:ext>
                </a:extLst>
              </a:tr>
              <a:tr h="352800">
                <a:tc>
                  <a:txBody>
                    <a:bodyPr/>
                    <a:lstStyle/>
                    <a:p>
                      <a:r>
                        <a:rPr sz="1300" b="0" i="0" dirty="0" err="1">
                          <a:solidFill>
                            <a:srgbClr val="23301C"/>
                          </a:solidFill>
                          <a:latin typeface="+mn-lt"/>
                        </a:rPr>
                        <a:t>Adagrad</a:t>
                      </a:r>
                      <a:endParaRPr sz="1300" b="0" i="0" dirty="0">
                        <a:solidFill>
                          <a:srgbClr val="23301C"/>
                        </a:solidFill>
                        <a:latin typeface="+mn-lt"/>
                      </a:endParaRP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dirty="0">
                          <a:solidFill>
                            <a:srgbClr val="23301C"/>
                          </a:solidFill>
                          <a:latin typeface="+mn-lt"/>
                        </a:rPr>
                        <a:t>0.01</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28.3</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1" i="0">
                          <a:solidFill>
                            <a:srgbClr val="23301C"/>
                          </a:solidFill>
                          <a:latin typeface="+mn-lt"/>
                        </a:rPr>
                        <a:t>15.11</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dirty="0">
                          <a:solidFill>
                            <a:srgbClr val="23301C"/>
                          </a:solidFill>
                          <a:latin typeface="+mn-lt"/>
                        </a:rPr>
                        <a:t>604.5</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1" i="0" dirty="0">
                          <a:solidFill>
                            <a:srgbClr val="23301C"/>
                          </a:solidFill>
                          <a:latin typeface="+mn-lt"/>
                        </a:rPr>
                        <a:t>0.963</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1" i="0">
                          <a:solidFill>
                            <a:srgbClr val="23301C"/>
                          </a:solidFill>
                          <a:latin typeface="+mn-lt"/>
                        </a:rPr>
                        <a:t>0.949</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1" i="0">
                          <a:solidFill>
                            <a:srgbClr val="23301C"/>
                          </a:solidFill>
                          <a:latin typeface="+mn-lt"/>
                        </a:rPr>
                        <a:t>0.931</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1" i="0">
                          <a:solidFill>
                            <a:srgbClr val="23301C"/>
                          </a:solidFill>
                          <a:latin typeface="+mn-lt"/>
                        </a:rPr>
                        <a:t>0.893 ± 0.026</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2"/>
                  </a:ext>
                </a:extLst>
              </a:tr>
              <a:tr h="352800">
                <a:tc>
                  <a:txBody>
                    <a:bodyPr/>
                    <a:lstStyle/>
                    <a:p>
                      <a:r>
                        <a:rPr sz="1300" b="0" i="0">
                          <a:solidFill>
                            <a:srgbClr val="23301C"/>
                          </a:solidFill>
                          <a:latin typeface="+mn-lt"/>
                        </a:rPr>
                        <a:t>RMSprop</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0.001</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dirty="0">
                          <a:solidFill>
                            <a:srgbClr val="23301C"/>
                          </a:solidFill>
                          <a:latin typeface="+mn-lt"/>
                        </a:rPr>
                        <a:t>23.7</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15.60</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1" i="0">
                          <a:solidFill>
                            <a:srgbClr val="23301C"/>
                          </a:solidFill>
                          <a:latin typeface="+mn-lt"/>
                        </a:rPr>
                        <a:t>483.7</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0.953</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dirty="0">
                          <a:solidFill>
                            <a:srgbClr val="23301C"/>
                          </a:solidFill>
                          <a:latin typeface="+mn-lt"/>
                        </a:rPr>
                        <a:t>0.940</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0.926</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tc>
                  <a:txBody>
                    <a:bodyPr/>
                    <a:lstStyle/>
                    <a:p>
                      <a:r>
                        <a:rPr sz="1300" b="0" i="0">
                          <a:solidFill>
                            <a:srgbClr val="23301C"/>
                          </a:solidFill>
                          <a:latin typeface="+mn-lt"/>
                        </a:rPr>
                        <a:t>0.888 ± 0.041</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6350" cap="flat" cmpd="sng">
                      <a:solidFill>
                        <a:srgbClr val="E1E4D9"/>
                      </a:solidFill>
                    </a:lnB>
                    <a:noFill/>
                  </a:tcPr>
                </a:tc>
                <a:extLst>
                  <a:ext uri="{0D108BD9-81ED-4DB2-BD59-A6C34878D82A}">
                    <a16:rowId xmlns:a16="http://schemas.microsoft.com/office/drawing/2014/main" val="10003"/>
                  </a:ext>
                </a:extLst>
              </a:tr>
              <a:tr h="352800">
                <a:tc>
                  <a:txBody>
                    <a:bodyPr/>
                    <a:lstStyle/>
                    <a:p>
                      <a:r>
                        <a:rPr sz="1300" b="0" i="0">
                          <a:solidFill>
                            <a:srgbClr val="23301C"/>
                          </a:solidFill>
                          <a:latin typeface="+mn-lt"/>
                        </a:rPr>
                        <a:t>Adam</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0" i="0">
                          <a:solidFill>
                            <a:srgbClr val="23301C"/>
                          </a:solidFill>
                          <a:latin typeface="+mn-lt"/>
                        </a:rPr>
                        <a:t>0.001</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1" i="0" dirty="0">
                          <a:solidFill>
                            <a:srgbClr val="23301C"/>
                          </a:solidFill>
                          <a:latin typeface="+mn-lt"/>
                        </a:rPr>
                        <a:t>22.0</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0" i="0" dirty="0">
                          <a:solidFill>
                            <a:srgbClr val="23301C"/>
                          </a:solidFill>
                          <a:latin typeface="+mn-lt"/>
                        </a:rPr>
                        <a:t>15.86</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0" i="0" dirty="0">
                          <a:solidFill>
                            <a:srgbClr val="23301C"/>
                          </a:solidFill>
                          <a:latin typeface="+mn-lt"/>
                        </a:rPr>
                        <a:t>502.3</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0" i="0" dirty="0">
                          <a:solidFill>
                            <a:srgbClr val="23301C"/>
                          </a:solidFill>
                          <a:latin typeface="+mn-lt"/>
                        </a:rPr>
                        <a:t>0.943</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0" i="0" dirty="0">
                          <a:solidFill>
                            <a:srgbClr val="23301C"/>
                          </a:solidFill>
                          <a:latin typeface="+mn-lt"/>
                        </a:rPr>
                        <a:t>0.936</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0" i="0" dirty="0">
                          <a:solidFill>
                            <a:srgbClr val="23301C"/>
                          </a:solidFill>
                          <a:latin typeface="+mn-lt"/>
                        </a:rPr>
                        <a:t>0.918</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tc>
                  <a:txBody>
                    <a:bodyPr/>
                    <a:lstStyle/>
                    <a:p>
                      <a:r>
                        <a:rPr sz="1300" b="0" i="0" dirty="0">
                          <a:solidFill>
                            <a:srgbClr val="23301C"/>
                          </a:solidFill>
                          <a:latin typeface="+mn-lt"/>
                        </a:rPr>
                        <a:t>0.884 ± 0.026</a:t>
                      </a:r>
                    </a:p>
                  </a:txBody>
                  <a:tcPr marL="73152" marR="73152" marT="36576" marB="36576" anchor="ctr">
                    <a:lnL w="0">
                      <a:noFill/>
                    </a:lnL>
                    <a:lnR w="0">
                      <a:noFill/>
                    </a:lnR>
                    <a:lnT w="6350" cap="flat" cmpd="sng" algn="ctr">
                      <a:solidFill>
                        <a:srgbClr val="E1E4D9"/>
                      </a:solidFill>
                      <a:prstDash val="solid"/>
                      <a:round/>
                      <a:headEnd type="none" w="med" len="med"/>
                      <a:tailEnd type="none" w="med" len="med"/>
                    </a:lnT>
                    <a:lnB w="19050" cap="flat" cmpd="sng">
                      <a:solidFill>
                        <a:srgbClr val="23301C"/>
                      </a:solidFill>
                    </a:lnB>
                    <a:noFill/>
                  </a:tcPr>
                </a:tc>
                <a:extLst>
                  <a:ext uri="{0D108BD9-81ED-4DB2-BD59-A6C34878D82A}">
                    <a16:rowId xmlns:a16="http://schemas.microsoft.com/office/drawing/2014/main" val="10004"/>
                  </a:ext>
                </a:extLst>
              </a:tr>
            </a:tbl>
          </a:graphicData>
        </a:graphic>
      </p:graphicFrame>
      <p:sp>
        <p:nvSpPr>
          <p:cNvPr id="5" name="Text 8"/>
          <p:cNvSpPr txBox="1"/>
          <p:nvPr/>
        </p:nvSpPr>
        <p:spPr>
          <a:xfrm>
            <a:off x="822960" y="3815366"/>
            <a:ext cx="10515600" cy="822960"/>
          </a:xfrm>
          <a:prstGeom prst="rect">
            <a:avLst/>
          </a:prstGeom>
          <a:noFill/>
          <a:ln/>
        </p:spPr>
        <p:txBody>
          <a:bodyPr wrap="square" lIns="0" tIns="0" rIns="0" bIns="0" rtlCol="0" anchor="t"/>
          <a:lstStyle/>
          <a:p>
            <a:pPr marL="0" indent="0">
              <a:buNone/>
            </a:pPr>
            <a:r>
              <a:rPr lang="en-US" sz="1150" i="1" dirty="0">
                <a:solidFill>
                  <a:srgbClr val="5A6B4D"/>
                </a:solidFill>
                <a:latin typeface="Calibri" pitchFamily="34" charset="0"/>
                <a:ea typeface="Calibri" pitchFamily="34" charset="-122"/>
                <a:cs typeface="Calibri" pitchFamily="34" charset="-120"/>
              </a:rPr>
              <a:t>Table. Mean of 3 seeds; bold = best value in each column. *Median, because two runs had abnormally slow epochs caused by hardware load (Adam seed 1: 48.8 s/epoch; Adagrad seed 2: 62.5 s/epoch).</a:t>
            </a:r>
            <a:endParaRPr lang="en-US" sz="1250" dirty="0"/>
          </a:p>
          <a:p>
            <a:pPr marL="0" indent="0">
              <a:buNone/>
            </a:pPr>
            <a:r>
              <a:rPr lang="en-US" altLang="ko-KR" sz="1150" i="1" dirty="0">
                <a:solidFill>
                  <a:srgbClr val="6B8E3D"/>
                </a:solidFill>
                <a:latin typeface="Calibri" pitchFamily="34" charset="0"/>
                <a:ea typeface="Malgun Gothic"/>
                <a:cs typeface="Calibri" pitchFamily="34" charset="-120"/>
              </a:rPr>
              <a:t>시드 3개 평균, 굵은 글씨 = 열별 최고값. *중앙값 사용: 하드웨어 부하로 비정상적으로 느려진 실행 2회 때문.</a:t>
            </a:r>
            <a:endParaRPr lang="en-US" sz="1250" dirty="0"/>
          </a:p>
        </p:txBody>
      </p:sp>
    </p:spTree>
    <p:extLst>
      <p:ext uri="{BB962C8B-B14F-4D97-AF65-F5344CB8AC3E}">
        <p14:creationId xmlns:p14="http://schemas.microsoft.com/office/powerpoint/2010/main" val="911399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TotalTime>
  <Words>7106</Words>
  <Application>Microsoft Office PowerPoint</Application>
  <PresentationFormat>와이드스크린</PresentationFormat>
  <Paragraphs>943</Paragraphs>
  <Slides>29</Slides>
  <Notes>29</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29</vt:i4>
      </vt:variant>
    </vt:vector>
  </HeadingPairs>
  <TitlesOfParts>
    <vt:vector size="35" baseType="lpstr">
      <vt:lpstr>Google Sans</vt:lpstr>
      <vt:lpstr>맑은 고딕</vt:lpstr>
      <vt:lpstr>Arial</vt:lpstr>
      <vt:lpstr>Calibri</vt:lpstr>
      <vt:lpstr>Cambria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korea</cp:lastModifiedBy>
  <cp:revision>38</cp:revision>
  <dcterms:created xsi:type="dcterms:W3CDTF">2026-09-29T02:27:55Z</dcterms:created>
  <dcterms:modified xsi:type="dcterms:W3CDTF">2026-10-26T09:23:29Z</dcterms:modified>
</cp:coreProperties>
</file>